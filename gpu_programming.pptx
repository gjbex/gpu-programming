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7" r:id="rId2"/>
    <p:sldId id="355" r:id="rId3"/>
    <p:sldId id="357" r:id="rId4"/>
    <p:sldId id="353" r:id="rId5"/>
    <p:sldId id="348" r:id="rId6"/>
    <p:sldId id="359" r:id="rId7"/>
    <p:sldId id="363" r:id="rId8"/>
    <p:sldId id="380" r:id="rId9"/>
    <p:sldId id="364" r:id="rId10"/>
    <p:sldId id="374" r:id="rId11"/>
    <p:sldId id="360" r:id="rId12"/>
    <p:sldId id="361" r:id="rId13"/>
    <p:sldId id="362" r:id="rId14"/>
    <p:sldId id="372" r:id="rId15"/>
    <p:sldId id="368" r:id="rId16"/>
    <p:sldId id="366" r:id="rId17"/>
    <p:sldId id="376" r:id="rId18"/>
    <p:sldId id="375" r:id="rId19"/>
    <p:sldId id="379" r:id="rId20"/>
    <p:sldId id="381" r:id="rId21"/>
    <p:sldId id="382" r:id="rId22"/>
    <p:sldId id="383" r:id="rId23"/>
    <p:sldId id="384" r:id="rId24"/>
    <p:sldId id="385" r:id="rId25"/>
    <p:sldId id="386" r:id="rId26"/>
    <p:sldId id="387" r:id="rId27"/>
    <p:sldId id="388" r:id="rId28"/>
    <p:sldId id="373" r:id="rId29"/>
    <p:sldId id="378" r:id="rId30"/>
    <p:sldId id="367" r:id="rId31"/>
    <p:sldId id="370" r:id="rId32"/>
    <p:sldId id="377" r:id="rId33"/>
    <p:sldId id="371" r:id="rId3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7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05/06/2026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05/06/2026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05/06/2026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05/06/2026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05/06/2026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05/06/2026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05/06/2026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05/06/2026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jbex.github.io/Python-on-GPUs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GPU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509523" y="5445224"/>
            <a:ext cx="92046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https://gjbex.github.io/Python-on-GPUs/</a:t>
            </a:r>
            <a:r>
              <a:rPr lang="en-US" sz="4000" dirty="0"/>
              <a:t> </a:t>
            </a:r>
          </a:p>
        </p:txBody>
      </p:sp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FBC866DE-5B09-981F-D91D-CC7E68853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Performance boost: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792" y="4166971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9421" y="4559009"/>
            <a:ext cx="724200" cy="7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31605" y="5528891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02806" y="3268361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02805" y="3834809"/>
            <a:ext cx="724201" cy="724201"/>
          </a:xfrm>
          <a:prstGeom prst="rect">
            <a:avLst/>
          </a:prstGeom>
        </p:spPr>
      </p:pic>
      <p:pic>
        <p:nvPicPr>
          <p:cNvPr id="10" name="Graphic 9" descr="Rocket with solid fill">
            <a:extLst>
              <a:ext uri="{FF2B5EF4-FFF2-40B4-BE49-F238E27FC236}">
                <a16:creationId xmlns:a16="http://schemas.microsoft.com/office/drawing/2014/main" id="{63E5ED3A-26B6-FB90-588A-730D06437C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58446" y="5136797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9BAA3-2584-996F-71D0-9B1D50644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Offload model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6562D-2474-E073-3912-3230E3946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3A536-CEFF-6E94-A45A-42F94351F670}"/>
              </a:ext>
            </a:extLst>
          </p:cNvPr>
          <p:cNvCxnSpPr>
            <a:cxnSpLocks/>
          </p:cNvCxnSpPr>
          <p:nvPr/>
        </p:nvCxnSpPr>
        <p:spPr>
          <a:xfrm>
            <a:off x="2693023" y="462218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342EBF-F609-0E3E-93A4-E7C1AFC20DA7}"/>
              </a:ext>
            </a:extLst>
          </p:cNvPr>
          <p:cNvCxnSpPr>
            <a:cxnSpLocks/>
          </p:cNvCxnSpPr>
          <p:nvPr/>
        </p:nvCxnSpPr>
        <p:spPr>
          <a:xfrm>
            <a:off x="2693023" y="3980019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56F5031-350B-2D65-6CDA-40214C715887}"/>
              </a:ext>
            </a:extLst>
          </p:cNvPr>
          <p:cNvCxnSpPr>
            <a:cxnSpLocks/>
          </p:cNvCxnSpPr>
          <p:nvPr/>
        </p:nvCxnSpPr>
        <p:spPr>
          <a:xfrm>
            <a:off x="2693023" y="3337856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FCF2C0-9B6A-C37A-2D82-CB28D9A20AD1}"/>
              </a:ext>
            </a:extLst>
          </p:cNvPr>
          <p:cNvCxnSpPr>
            <a:cxnSpLocks/>
          </p:cNvCxnSpPr>
          <p:nvPr/>
        </p:nvCxnSpPr>
        <p:spPr>
          <a:xfrm>
            <a:off x="2693022" y="2695693"/>
            <a:ext cx="6294865" cy="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2FD1D72-BC72-A5A1-DEB5-7D2F21D9EE69}"/>
              </a:ext>
            </a:extLst>
          </p:cNvPr>
          <p:cNvSpPr/>
          <p:nvPr/>
        </p:nvSpPr>
        <p:spPr>
          <a:xfrm>
            <a:off x="4036743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DC976F4-84A9-6B98-8818-ADDCC6CE2B37}"/>
              </a:ext>
            </a:extLst>
          </p:cNvPr>
          <p:cNvSpPr/>
          <p:nvPr/>
        </p:nvSpPr>
        <p:spPr>
          <a:xfrm>
            <a:off x="4902821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1EBD221-F4F8-02C6-BFA2-350FC7F41788}"/>
              </a:ext>
            </a:extLst>
          </p:cNvPr>
          <p:cNvSpPr/>
          <p:nvPr/>
        </p:nvSpPr>
        <p:spPr>
          <a:xfrm>
            <a:off x="4944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647E394-EC37-20C2-3071-92B2B71A7D50}"/>
              </a:ext>
            </a:extLst>
          </p:cNvPr>
          <p:cNvSpPr/>
          <p:nvPr/>
        </p:nvSpPr>
        <p:spPr>
          <a:xfrm>
            <a:off x="6463998" y="3443104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EDD89-F21A-A894-11C6-C1D3A1DE0A35}"/>
              </a:ext>
            </a:extLst>
          </p:cNvPr>
          <p:cNvSpPr/>
          <p:nvPr/>
        </p:nvSpPr>
        <p:spPr>
          <a:xfrm>
            <a:off x="7357023" y="4097196"/>
            <a:ext cx="149426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B05D9C00-D5B1-B150-DA2D-E0E0C132E972}"/>
              </a:ext>
            </a:extLst>
          </p:cNvPr>
          <p:cNvSpPr/>
          <p:nvPr/>
        </p:nvSpPr>
        <p:spPr>
          <a:xfrm>
            <a:off x="7399497" y="2806738"/>
            <a:ext cx="572433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43FFD93-25D3-ECCE-5C65-7B0DC1F8F808}"/>
              </a:ext>
            </a:extLst>
          </p:cNvPr>
          <p:cNvSpPr/>
          <p:nvPr/>
        </p:nvSpPr>
        <p:spPr>
          <a:xfrm>
            <a:off x="2797356" y="2806738"/>
            <a:ext cx="264574" cy="412589"/>
          </a:xfrm>
          <a:prstGeom prst="round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F064B8-574A-935C-552B-061F1630ED60}"/>
              </a:ext>
            </a:extLst>
          </p:cNvPr>
          <p:cNvSpPr txBox="1"/>
          <p:nvPr/>
        </p:nvSpPr>
        <p:spPr>
          <a:xfrm>
            <a:off x="1784195" y="2832415"/>
            <a:ext cx="661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</a:t>
            </a:r>
            <a:endParaRPr lang="LID4096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62D446-2AF3-4531-2310-7E2EC181B490}"/>
              </a:ext>
            </a:extLst>
          </p:cNvPr>
          <p:cNvSpPr txBox="1"/>
          <p:nvPr/>
        </p:nvSpPr>
        <p:spPr>
          <a:xfrm>
            <a:off x="1784195" y="3453162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0</a:t>
            </a:r>
            <a:endParaRPr lang="LID4096" baseline="-25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6217A7-F18C-952A-53B9-D85BAA03C5A8}"/>
              </a:ext>
            </a:extLst>
          </p:cNvPr>
          <p:cNvSpPr txBox="1"/>
          <p:nvPr/>
        </p:nvSpPr>
        <p:spPr>
          <a:xfrm>
            <a:off x="1784195" y="4180634"/>
            <a:ext cx="949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</a:t>
            </a:r>
            <a:r>
              <a:rPr lang="en-US" baseline="-25000" dirty="0"/>
              <a:t>1</a:t>
            </a:r>
            <a:endParaRPr lang="LID4096" baseline="-250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FD86EBB-6412-EAC4-0293-F2351575AFC6}"/>
              </a:ext>
            </a:extLst>
          </p:cNvPr>
          <p:cNvGrpSpPr/>
          <p:nvPr/>
        </p:nvGrpSpPr>
        <p:grpSpPr>
          <a:xfrm>
            <a:off x="3169063" y="2806738"/>
            <a:ext cx="713678" cy="1048955"/>
            <a:chOff x="3169063" y="2806738"/>
            <a:chExt cx="713678" cy="1048955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E30BE0F1-E9E6-4040-C88F-DC95DEE7512B}"/>
                </a:ext>
              </a:extLst>
            </p:cNvPr>
            <p:cNvSpPr/>
            <p:nvPr/>
          </p:nvSpPr>
          <p:spPr>
            <a:xfrm>
              <a:off x="31690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BE331AA-43EE-7F1E-0EB7-0ACBCBB4122A}"/>
                </a:ext>
              </a:extLst>
            </p:cNvPr>
            <p:cNvSpPr/>
            <p:nvPr/>
          </p:nvSpPr>
          <p:spPr>
            <a:xfrm>
              <a:off x="31690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7BA6531-7665-63D6-A1FB-29131EB06777}"/>
                </a:ext>
              </a:extLst>
            </p:cNvPr>
            <p:cNvCxnSpPr>
              <a:cxnSpLocks/>
            </p:cNvCxnSpPr>
            <p:nvPr/>
          </p:nvCxnSpPr>
          <p:spPr>
            <a:xfrm>
              <a:off x="35259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D049E47-B468-84CC-92A6-7AA268B759A7}"/>
              </a:ext>
            </a:extLst>
          </p:cNvPr>
          <p:cNvGrpSpPr/>
          <p:nvPr/>
        </p:nvGrpSpPr>
        <p:grpSpPr>
          <a:xfrm>
            <a:off x="5640663" y="2806738"/>
            <a:ext cx="713678" cy="1048955"/>
            <a:chOff x="5640663" y="2806738"/>
            <a:chExt cx="713678" cy="1048955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4800363-249A-82A8-80AD-138AF28708B9}"/>
                </a:ext>
              </a:extLst>
            </p:cNvPr>
            <p:cNvSpPr/>
            <p:nvPr/>
          </p:nvSpPr>
          <p:spPr>
            <a:xfrm>
              <a:off x="5640663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63F823BB-1C94-9394-B532-273271B6F2AA}"/>
                </a:ext>
              </a:extLst>
            </p:cNvPr>
            <p:cNvSpPr/>
            <p:nvPr/>
          </p:nvSpPr>
          <p:spPr>
            <a:xfrm>
              <a:off x="5640663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E6EADDE-B9E8-FCBC-0CC5-44D87C8457D2}"/>
                </a:ext>
              </a:extLst>
            </p:cNvPr>
            <p:cNvCxnSpPr>
              <a:cxnSpLocks/>
            </p:cNvCxnSpPr>
            <p:nvPr/>
          </p:nvCxnSpPr>
          <p:spPr>
            <a:xfrm>
              <a:off x="5997502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22ADFF4-A7D5-E5F7-0B18-A1523BC85E4C}"/>
              </a:ext>
            </a:extLst>
          </p:cNvPr>
          <p:cNvGrpSpPr/>
          <p:nvPr/>
        </p:nvGrpSpPr>
        <p:grpSpPr>
          <a:xfrm>
            <a:off x="8212874" y="2806738"/>
            <a:ext cx="713678" cy="1048955"/>
            <a:chOff x="8212874" y="2806738"/>
            <a:chExt cx="713678" cy="1048955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3059E29E-1E54-17DC-86DE-EEA94E974345}"/>
                </a:ext>
              </a:extLst>
            </p:cNvPr>
            <p:cNvSpPr/>
            <p:nvPr/>
          </p:nvSpPr>
          <p:spPr>
            <a:xfrm>
              <a:off x="8212874" y="3443104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472FB46E-FE5D-F7E7-A788-6952A709E017}"/>
                </a:ext>
              </a:extLst>
            </p:cNvPr>
            <p:cNvSpPr/>
            <p:nvPr/>
          </p:nvSpPr>
          <p:spPr>
            <a:xfrm>
              <a:off x="8212874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6079AF66-68EE-F813-3C9C-8A75AAC9DB78}"/>
                </a:ext>
              </a:extLst>
            </p:cNvPr>
            <p:cNvCxnSpPr>
              <a:cxnSpLocks/>
            </p:cNvCxnSpPr>
            <p:nvPr/>
          </p:nvCxnSpPr>
          <p:spPr>
            <a:xfrm>
              <a:off x="8569713" y="2983114"/>
              <a:ext cx="0" cy="709484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8114AE-D043-D64F-9F05-5F6E4DDA2948}"/>
              </a:ext>
            </a:extLst>
          </p:cNvPr>
          <p:cNvGrpSpPr/>
          <p:nvPr/>
        </p:nvGrpSpPr>
        <p:grpSpPr>
          <a:xfrm>
            <a:off x="4036744" y="2806738"/>
            <a:ext cx="733714" cy="1703047"/>
            <a:chOff x="4036744" y="2806738"/>
            <a:chExt cx="733714" cy="170304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7D0DEBD-8C75-9E72-C69A-1D41C34594C4}"/>
                </a:ext>
              </a:extLst>
            </p:cNvPr>
            <p:cNvSpPr/>
            <p:nvPr/>
          </p:nvSpPr>
          <p:spPr>
            <a:xfrm>
              <a:off x="4036744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17FA62BE-D6A5-9EC9-32AE-44546D678E8D}"/>
                </a:ext>
              </a:extLst>
            </p:cNvPr>
            <p:cNvSpPr/>
            <p:nvPr/>
          </p:nvSpPr>
          <p:spPr>
            <a:xfrm>
              <a:off x="4056780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D0F9B607-823A-859B-36E6-C7109BBCCA8D}"/>
                </a:ext>
              </a:extLst>
            </p:cNvPr>
            <p:cNvCxnSpPr>
              <a:cxnSpLocks/>
            </p:cNvCxnSpPr>
            <p:nvPr/>
          </p:nvCxnSpPr>
          <p:spPr>
            <a:xfrm>
              <a:off x="4413619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74FF04-B2C9-6B45-536B-503F941E3C2C}"/>
              </a:ext>
            </a:extLst>
          </p:cNvPr>
          <p:cNvGrpSpPr/>
          <p:nvPr/>
        </p:nvGrpSpPr>
        <p:grpSpPr>
          <a:xfrm>
            <a:off x="6514186" y="2806738"/>
            <a:ext cx="713678" cy="1703047"/>
            <a:chOff x="6514186" y="2806738"/>
            <a:chExt cx="713678" cy="1703047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FD859FA-5880-6774-8D27-8B6540301580}"/>
                </a:ext>
              </a:extLst>
            </p:cNvPr>
            <p:cNvSpPr/>
            <p:nvPr/>
          </p:nvSpPr>
          <p:spPr>
            <a:xfrm>
              <a:off x="6514186" y="4097196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6D8691F2-8079-1FC1-DC9C-266016F0C754}"/>
                </a:ext>
              </a:extLst>
            </p:cNvPr>
            <p:cNvSpPr/>
            <p:nvPr/>
          </p:nvSpPr>
          <p:spPr>
            <a:xfrm>
              <a:off x="6514186" y="2806738"/>
              <a:ext cx="713678" cy="412589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C03277CD-7E1E-01BC-532F-903F9DF5D5F8}"/>
                </a:ext>
              </a:extLst>
            </p:cNvPr>
            <p:cNvCxnSpPr>
              <a:cxnSpLocks/>
            </p:cNvCxnSpPr>
            <p:nvPr/>
          </p:nvCxnSpPr>
          <p:spPr>
            <a:xfrm>
              <a:off x="6871025" y="2983114"/>
              <a:ext cx="0" cy="1320376"/>
            </a:xfrm>
            <a:prstGeom prst="straightConnector1">
              <a:avLst/>
            </a:prstGeom>
            <a:ln>
              <a:solidFill>
                <a:schemeClr val="tx2"/>
              </a:solidFill>
              <a:headEnd type="stealth" w="lg" len="lg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A2444B1B-857A-F932-E07C-88D7BA0159EE}"/>
              </a:ext>
            </a:extLst>
          </p:cNvPr>
          <p:cNvSpPr txBox="1"/>
          <p:nvPr/>
        </p:nvSpPr>
        <p:spPr>
          <a:xfrm>
            <a:off x="9324038" y="3270918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ym typeface="Symbol" panose="05050102010706020507" pitchFamily="18" charset="2"/>
              </a:rPr>
              <a:t></a:t>
            </a:r>
            <a:endParaRPr lang="LID4096" sz="3200" b="1" dirty="0"/>
          </a:p>
        </p:txBody>
      </p:sp>
    </p:spTree>
    <p:extLst>
      <p:ext uri="{BB962C8B-B14F-4D97-AF65-F5344CB8AC3E}">
        <p14:creationId xmlns:p14="http://schemas.microsoft.com/office/powerpoint/2010/main" val="1713044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4" grpId="0" animBg="1"/>
      <p:bldP spid="25" grpId="0" animBg="1"/>
      <p:bldP spid="26" grpId="0" animBg="1"/>
      <p:bldP spid="29" grpId="0" animBg="1"/>
      <p:bldP spid="4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D213C-BB3D-F3CA-351A-D76E1F24DF1F}"/>
              </a:ext>
            </a:extLst>
          </p:cNvPr>
          <p:cNvSpPr txBox="1"/>
          <p:nvPr/>
        </p:nvSpPr>
        <p:spPr>
          <a:xfrm>
            <a:off x="2932771" y="4705815"/>
            <a:ext cx="5849037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/>
              <a:t>Hardware details matter</a:t>
            </a:r>
            <a:r>
              <a:rPr lang="en-US" sz="3200" dirty="0">
                <a:sym typeface="Symbol" panose="05050102010706020507" pitchFamily="18" charset="2"/>
              </a:rPr>
              <a:t> a lot!</a:t>
            </a:r>
            <a:endParaRPr lang="LID4096" sz="3200" dirty="0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Electronic circuit board">
            <a:extLst>
              <a:ext uri="{FF2B5EF4-FFF2-40B4-BE49-F238E27FC236}">
                <a16:creationId xmlns:a16="http://schemas.microsoft.com/office/drawing/2014/main" id="{C29C3DE4-E022-9448-D014-F63D95702C3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714CFB5C-EB10-4A02-3BD2-60706DC9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GPU hardware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04F1AE-CC81-FDCF-E4A4-CFBFEEEDA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7F1CB-18FA-659E-6530-B17C8C405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10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56144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 (SM)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US" dirty="0"/>
              <a:t>Memory lanes for pipelines</a:t>
            </a:r>
          </a:p>
          <a:p>
            <a:r>
              <a:rPr lang="en-US" dirty="0"/>
              <a:t>4-byte registers (thread-private) </a:t>
            </a:r>
          </a:p>
          <a:p>
            <a:r>
              <a:rPr lang="en-US" dirty="0"/>
              <a:t>Block shared memory/L1 cache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6096000" y="3263978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32 threads grouped in warps (NVIDIA)/wavefronts (AMD)</a:t>
            </a:r>
          </a:p>
          <a:p>
            <a:r>
              <a:rPr lang="en-US" dirty="0"/>
              <a:t>Threads in warp execute same instruction on different data</a:t>
            </a:r>
          </a:p>
          <a:p>
            <a:endParaRPr lang="en-US" dirty="0"/>
          </a:p>
          <a:p>
            <a:r>
              <a:rPr lang="en-US" dirty="0"/>
              <a:t>Warp-group instructions (H100+)</a:t>
            </a:r>
          </a:p>
          <a:p>
            <a:pPr lvl="1"/>
            <a:r>
              <a:rPr lang="en-US" dirty="0"/>
              <a:t>4 warps participate in tensor instruction</a:t>
            </a:r>
          </a:p>
          <a:p>
            <a:pPr lvl="1"/>
            <a:r>
              <a:rPr lang="en-US" dirty="0"/>
              <a:t>Accommodate larger tensor cores &amp; matrix tiles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7D3F10-6961-0438-15B9-FC9B9F611403}"/>
              </a:ext>
            </a:extLst>
          </p:cNvPr>
          <p:cNvGrpSpPr/>
          <p:nvPr/>
        </p:nvGrpSpPr>
        <p:grpSpPr>
          <a:xfrm>
            <a:off x="6096000" y="2420043"/>
            <a:ext cx="3886200" cy="1008957"/>
            <a:chOff x="6096000" y="2420043"/>
            <a:chExt cx="3886200" cy="100895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C49E860-E75C-82D4-EEE7-8087C14F720A}"/>
                </a:ext>
              </a:extLst>
            </p:cNvPr>
            <p:cNvSpPr txBox="1"/>
            <p:nvPr/>
          </p:nvSpPr>
          <p:spPr>
            <a:xfrm>
              <a:off x="6096000" y="2905780"/>
              <a:ext cx="33335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</a:t>
              </a:r>
              <a:r>
                <a:rPr lang="en-US" sz="2800" dirty="0"/>
                <a:t> performance loss</a:t>
              </a:r>
              <a:endParaRPr lang="LID4096" sz="2800" dirty="0"/>
            </a:p>
          </p:txBody>
        </p:sp>
        <p:pic>
          <p:nvPicPr>
            <p:cNvPr id="6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D55DAA7A-EC03-CDCF-954A-387B1507CD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0112" y="2420043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5B462C1C-0D96-5D62-86AE-3355C2A3B9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" y="54725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C0CC3B5-1A61-A2FB-6B8A-A197C45F6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53943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EB3B722-88B6-1476-EDB0-07C4DBB19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52400" y="62872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7E69FCA2-3B1C-973C-483F-B260B05A7C3E}"/>
              </a:ext>
            </a:extLst>
          </p:cNvPr>
          <p:cNvSpPr txBox="1">
            <a:spLocks/>
          </p:cNvSpPr>
          <p:nvPr/>
        </p:nvSpPr>
        <p:spPr>
          <a:xfrm>
            <a:off x="8763000" y="65087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LID4096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fld id="{9C7CE217-4467-4B8D-A735-B008FA7C4816}" type="slidenum">
              <a:rPr lang="LID4096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13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747C1-0E9D-1305-65C7-523715CD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Tensor cores</a:t>
            </a:r>
            <a:endParaRPr lang="LID4096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Computed as many small tiles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LID4096" dirty="0"/>
              </a:p>
              <a:p>
                <a:pPr lvl="1"/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Tile size depends on</a:t>
                </a:r>
              </a:p>
              <a:p>
                <a:pPr lvl="1"/>
                <a:r>
                  <a:rPr lang="en-US" dirty="0"/>
                  <a:t>Type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US" i="1" dirty="0"/>
              </a:p>
              <a:p>
                <a:pPr lvl="1"/>
                <a:r>
                  <a:rPr lang="en-US" dirty="0"/>
                  <a:t>Compute capability</a:t>
                </a:r>
              </a:p>
              <a:p>
                <a:r>
                  <a:rPr lang="en-US" dirty="0"/>
                  <a:t>Performance: tensor core TFLOP/s &gt;&gt; CUDA core TFLOP/s</a:t>
                </a:r>
                <a:endParaRPr lang="LID4096" dirty="0"/>
              </a:p>
              <a:p>
                <a:pPr lvl="1"/>
                <a:endParaRPr lang="LID4096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922ED49-DA71-3DF4-0757-97FB6FBD67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843561"/>
                <a:ext cx="10515600" cy="3333402"/>
              </a:xfrm>
              <a:blipFill>
                <a:blip r:embed="rId2"/>
                <a:stretch>
                  <a:fillRect l="-1043" t="-4022" b="-255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C0179-8216-00A2-1A08-909EDD851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/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+=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800" dirty="0"/>
                  <a:t> where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sz="2800" dirty="0"/>
                  <a:t>, B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endParaRPr lang="LID4096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31C814-837B-35E0-84C2-AE6076733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5674" y="1870075"/>
                <a:ext cx="7916526" cy="530915"/>
              </a:xfrm>
              <a:prstGeom prst="rect">
                <a:avLst/>
              </a:prstGeom>
              <a:blipFill>
                <a:blip r:embed="rId3"/>
                <a:stretch>
                  <a:fillRect t="-10112" b="-2921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𝒎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×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𝒌</m:t>
                                </m:r>
                              </m:oMath>
                            </m:oMathPara>
                          </a14:m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2F1AA736-1C7E-033F-9C8D-BDF62B809CD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50765057"/>
                  </p:ext>
                </p:extLst>
              </p:nvPr>
            </p:nvGraphicFramePr>
            <p:xfrm>
              <a:off x="6416287" y="3252780"/>
              <a:ext cx="3097562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48781">
                      <a:extLst>
                        <a:ext uri="{9D8B030D-6E8A-4147-A177-3AD203B41FA5}">
                          <a16:colId xmlns:a16="http://schemas.microsoft.com/office/drawing/2014/main" val="4133480754"/>
                        </a:ext>
                      </a:extLst>
                    </a:gridCol>
                    <a:gridCol w="1548781">
                      <a:extLst>
                        <a:ext uri="{9D8B030D-6E8A-4147-A177-3AD203B41FA5}">
                          <a16:colId xmlns:a16="http://schemas.microsoft.com/office/drawing/2014/main" val="357379626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Input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blipFill>
                          <a:blip r:embed="rId4"/>
                          <a:stretch>
                            <a:fillRect l="-100787" t="-6557" r="-1575" b="-52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58336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95196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BF16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876102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TF32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88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852993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INT8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/>
                            <a:t>16</a:t>
                          </a: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832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47665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FP64</a:t>
                          </a:r>
                          <a:endParaRPr lang="LID4096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dirty="0">
                              <a:sym typeface="Symbol" panose="05050102010706020507" pitchFamily="18" charset="2"/>
                            </a:rPr>
                            <a:t>884</a:t>
                          </a:r>
                          <a:endParaRPr lang="LID4096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9930178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B4C82F3-A7A1-4D39-6E39-F7E3F80A5CB3}"/>
              </a:ext>
            </a:extLst>
          </p:cNvPr>
          <p:cNvSpPr txBox="1"/>
          <p:nvPr/>
        </p:nvSpPr>
        <p:spPr>
          <a:xfrm>
            <a:off x="6411951" y="2843561"/>
            <a:ext cx="1491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E.g., for A100</a:t>
            </a:r>
            <a:endParaRPr lang="LID4096" dirty="0"/>
          </a:p>
        </p:txBody>
      </p:sp>
      <p:pic>
        <p:nvPicPr>
          <p:cNvPr id="8" name="Graphic 7" descr="Rocket with solid fill">
            <a:extLst>
              <a:ext uri="{FF2B5EF4-FFF2-40B4-BE49-F238E27FC236}">
                <a16:creationId xmlns:a16="http://schemas.microsoft.com/office/drawing/2014/main" id="{300B133E-172B-593E-E3F3-9D2EE607B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982200" y="5417430"/>
            <a:ext cx="566151" cy="56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39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F17E9-5C15-395B-1A43-78BF45879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SMs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0A4EA-D1B0-B9F7-062D-2CFC54882F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GPU has many Streaming Multiprocessors</a:t>
            </a:r>
          </a:p>
          <a:p>
            <a:pPr lvl="1"/>
            <a:r>
              <a:rPr lang="en-US" dirty="0"/>
              <a:t>E.g., A100: 108</a:t>
            </a:r>
          </a:p>
          <a:p>
            <a:r>
              <a:rPr lang="en-US" dirty="0"/>
              <a:t>Share</a:t>
            </a:r>
          </a:p>
          <a:p>
            <a:pPr lvl="1"/>
            <a:r>
              <a:rPr lang="en-US" dirty="0"/>
              <a:t>L2 cache</a:t>
            </a:r>
          </a:p>
          <a:p>
            <a:pPr lvl="1"/>
            <a:r>
              <a:rPr lang="en-US" dirty="0"/>
              <a:t>Global (GPU) memory</a:t>
            </a:r>
          </a:p>
          <a:p>
            <a:endParaRPr lang="en-US" dirty="0"/>
          </a:p>
          <a:p>
            <a:r>
              <a:rPr lang="en-US" dirty="0"/>
              <a:t>32 threads/warp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4 warp instructions/SM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number SMs</a:t>
            </a:r>
            <a:br>
              <a:rPr lang="en-US" dirty="0"/>
            </a:br>
            <a:r>
              <a:rPr lang="en-US" dirty="0"/>
              <a:t>for, e.g., A100 = 13,824 instructions/cycle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08B94-8A77-9227-ECA1-7E71062A3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BA53254-B65D-D76C-D56B-AF7B0CA5AC61}"/>
              </a:ext>
            </a:extLst>
          </p:cNvPr>
          <p:cNvGrpSpPr/>
          <p:nvPr/>
        </p:nvGrpSpPr>
        <p:grpSpPr>
          <a:xfrm>
            <a:off x="6096000" y="5331337"/>
            <a:ext cx="4083859" cy="935319"/>
            <a:chOff x="4092498" y="4734412"/>
            <a:chExt cx="4083859" cy="935319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1A396AD-374B-302B-913D-1701B47E26CB}"/>
                </a:ext>
              </a:extLst>
            </p:cNvPr>
            <p:cNvSpPr txBox="1"/>
            <p:nvPr/>
          </p:nvSpPr>
          <p:spPr>
            <a:xfrm>
              <a:off x="4092498" y="5084956"/>
              <a:ext cx="380078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Massive parallelism!</a:t>
              </a:r>
              <a:endParaRPr lang="LID4096" sz="32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DD2AA5ED-9C9A-E540-1EAE-BE62F5F2F9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610206" y="4734412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6952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7CA5262-3FD9-20CC-59CE-33C595B747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7015608"/>
              </p:ext>
            </p:extLst>
          </p:nvPr>
        </p:nvGraphicFramePr>
        <p:xfrm>
          <a:off x="838200" y="1825625"/>
          <a:ext cx="1030732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376">
                  <a:extLst>
                    <a:ext uri="{9D8B030D-6E8A-4147-A177-3AD203B41FA5}">
                      <a16:colId xmlns:a16="http://schemas.microsoft.com/office/drawing/2014/main" val="2517813158"/>
                    </a:ext>
                  </a:extLst>
                </a:gridCol>
                <a:gridCol w="908824">
                  <a:extLst>
                    <a:ext uri="{9D8B030D-6E8A-4147-A177-3AD203B41FA5}">
                      <a16:colId xmlns:a16="http://schemas.microsoft.com/office/drawing/2014/main" val="396183817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136225247"/>
                    </a:ext>
                  </a:extLst>
                </a:gridCol>
                <a:gridCol w="2858429">
                  <a:extLst>
                    <a:ext uri="{9D8B030D-6E8A-4147-A177-3AD203B41FA5}">
                      <a16:colId xmlns:a16="http://schemas.microsoft.com/office/drawing/2014/main" val="3238779323"/>
                    </a:ext>
                  </a:extLst>
                </a:gridCol>
                <a:gridCol w="2191091">
                  <a:extLst>
                    <a:ext uri="{9D8B030D-6E8A-4147-A177-3AD203B41FA5}">
                      <a16:colId xmlns:a16="http://schemas.microsoft.com/office/drawing/2014/main" val="22139970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Scope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Managed by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Typical latency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Size (NVIDIA A100)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852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Thread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Compiler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1 cycle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 per SM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6593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Block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10-20 cycles</a:t>
                      </a:r>
                      <a:endParaRPr lang="LID4096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r>
                        <a:rPr lang="en-US" dirty="0"/>
                        <a:t>Up to 164 </a:t>
                      </a:r>
                      <a:r>
                        <a:rPr lang="en-US" dirty="0" err="1"/>
                        <a:t>Kb</a:t>
                      </a:r>
                      <a:r>
                        <a:rPr lang="en-US" dirty="0"/>
                        <a:t>,</a:t>
                      </a:r>
                    </a:p>
                    <a:p>
                      <a:r>
                        <a:rPr lang="en-US" dirty="0"/>
                        <a:t>part of 192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182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Symbol" panose="05050102010706020507" pitchFamily="18" charset="2"/>
                        <a:buChar char="»"/>
                      </a:pPr>
                      <a:r>
                        <a:rPr lang="en-US" dirty="0">
                          <a:sym typeface="Symbol" panose="05050102010706020507" pitchFamily="18" charset="2"/>
                        </a:rPr>
                        <a:t>30-40 cycles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207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Const/texture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constant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</a:t>
                      </a:r>
                      <a:r>
                        <a:rPr lang="en-US" dirty="0" err="1"/>
                        <a:t>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7287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Hardware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200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2910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 (HBM)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Programmer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ym typeface="Symbol" panose="05050102010706020507" pitchFamily="18" charset="2"/>
                        </a:rPr>
                        <a:t>  400-800 cycles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or 80 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621370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FD653D6-4392-5B93-6C69-49103106438A}"/>
              </a:ext>
            </a:extLst>
          </p:cNvPr>
          <p:cNvGrpSpPr/>
          <p:nvPr/>
        </p:nvGrpSpPr>
        <p:grpSpPr>
          <a:xfrm>
            <a:off x="2475571" y="4846988"/>
            <a:ext cx="7240858" cy="866902"/>
            <a:chOff x="2475571" y="4846988"/>
            <a:chExt cx="7240858" cy="86690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4CB5854-A0F4-8563-A99F-3BF92987C839}"/>
                </a:ext>
              </a:extLst>
            </p:cNvPr>
            <p:cNvSpPr txBox="1"/>
            <p:nvPr/>
          </p:nvSpPr>
          <p:spPr>
            <a:xfrm>
              <a:off x="2475571" y="5252225"/>
              <a:ext cx="662187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Registers + shared memory </a:t>
              </a:r>
              <a:r>
                <a:rPr lang="en-US" sz="2400" dirty="0">
                  <a:sym typeface="Symbol" panose="05050102010706020507" pitchFamily="18" charset="2"/>
                </a:rPr>
                <a:t></a:t>
              </a:r>
              <a:r>
                <a:rPr lang="en-US" sz="2400" dirty="0"/>
                <a:t> threads per block</a:t>
              </a:r>
              <a:endParaRPr lang="LID4096" sz="24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F7D1BADB-03A9-B40C-E095-FE32BEA14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24341" y="4846988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86978B2-BF35-EB32-9887-B83E3C32FC9B}"/>
              </a:ext>
            </a:extLst>
          </p:cNvPr>
          <p:cNvGrpSpPr/>
          <p:nvPr/>
        </p:nvGrpSpPr>
        <p:grpSpPr>
          <a:xfrm>
            <a:off x="1628078" y="5790199"/>
            <a:ext cx="5773681" cy="760032"/>
            <a:chOff x="1628078" y="5790199"/>
            <a:chExt cx="5773681" cy="7600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5746FC-5403-91EF-E683-170A4DB0A047}"/>
                </a:ext>
              </a:extLst>
            </p:cNvPr>
            <p:cNvSpPr txBox="1"/>
            <p:nvPr/>
          </p:nvSpPr>
          <p:spPr>
            <a:xfrm>
              <a:off x="1628078" y="6088566"/>
              <a:ext cx="549060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Latency hiding through oversubscription</a:t>
              </a:r>
              <a:endParaRPr lang="LID4096" sz="2400" dirty="0"/>
            </a:p>
          </p:txBody>
        </p:sp>
        <p:pic>
          <p:nvPicPr>
            <p:cNvPr id="10" name="Graphic 9" descr="Rocket with solid fill">
              <a:extLst>
                <a:ext uri="{FF2B5EF4-FFF2-40B4-BE49-F238E27FC236}">
                  <a16:creationId xmlns:a16="http://schemas.microsoft.com/office/drawing/2014/main" id="{8CD65584-63CE-4D12-E64E-23076AF24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35608" y="5790199"/>
              <a:ext cx="566151" cy="5661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96C5-A876-3DD4-D2FD-58EEB334D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GPUs/node, multiple nodes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35BD87-529A-324B-14D5-F1C2C09EF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Typically, 4 GPUs/node (A100)</a:t>
            </a:r>
          </a:p>
          <a:p>
            <a:pPr lvl="1"/>
            <a:r>
              <a:rPr lang="en-US" dirty="0" err="1"/>
              <a:t>NVLink</a:t>
            </a:r>
            <a:endParaRPr lang="en-US" dirty="0"/>
          </a:p>
          <a:p>
            <a:pPr lvl="2"/>
            <a:r>
              <a:rPr lang="en-US" dirty="0"/>
              <a:t>Direct connection between all GPUs</a:t>
            </a:r>
          </a:p>
          <a:p>
            <a:pPr lvl="2"/>
            <a:r>
              <a:rPr lang="en-US" dirty="0"/>
              <a:t>12 </a:t>
            </a:r>
            <a:r>
              <a:rPr lang="en-US" dirty="0" err="1"/>
              <a:t>NVLink</a:t>
            </a:r>
            <a:r>
              <a:rPr lang="en-US" dirty="0"/>
              <a:t> lanes/GPU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lanes to each GPU</a:t>
            </a:r>
          </a:p>
          <a:p>
            <a:pPr lvl="2"/>
            <a:r>
              <a:rPr lang="en-US" dirty="0"/>
              <a:t>50 Gb/s/lane (bi-directional)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200 Gb/s between GPUs</a:t>
            </a:r>
          </a:p>
          <a:p>
            <a:pPr lvl="1"/>
            <a:r>
              <a:rPr lang="en-US" dirty="0"/>
              <a:t>PCIe connection to host</a:t>
            </a:r>
          </a:p>
          <a:p>
            <a:r>
              <a:rPr lang="en-US" dirty="0" err="1"/>
              <a:t>Infiniband</a:t>
            </a:r>
            <a:r>
              <a:rPr lang="en-US" dirty="0"/>
              <a:t> connects nodes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27FE8-1745-C7D3-EB0F-5AD301721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80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2ABB-E01B-6BBC-49E6-054DCE171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Bandwidth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60699-F675-F99B-F6C1-43949362A2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Global GPU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2 Tb/s</a:t>
            </a:r>
          </a:p>
          <a:p>
            <a:r>
              <a:rPr lang="en-US" dirty="0" err="1">
                <a:sym typeface="Symbol" panose="05050102010706020507" pitchFamily="18" charset="2"/>
              </a:rPr>
              <a:t>NVLink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200 Gb/s</a:t>
            </a:r>
          </a:p>
          <a:p>
            <a:r>
              <a:rPr lang="en-US" dirty="0"/>
              <a:t>PCIe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32 Gb/s</a:t>
            </a:r>
          </a:p>
          <a:p>
            <a:r>
              <a:rPr lang="en-US" dirty="0"/>
              <a:t>Host memory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 300 Gb/s</a:t>
            </a:r>
          </a:p>
          <a:p>
            <a:r>
              <a:rPr lang="en-US" dirty="0" err="1">
                <a:sym typeface="Symbol" panose="05050102010706020507" pitchFamily="18" charset="2"/>
              </a:rPr>
              <a:t>Infiniband</a:t>
            </a:r>
            <a:r>
              <a:rPr lang="en-US" dirty="0">
                <a:sym typeface="Symbol" panose="05050102010706020507" pitchFamily="18" charset="2"/>
              </a:rPr>
              <a:t> (HDR)</a:t>
            </a:r>
            <a:br>
              <a:rPr lang="en-US" dirty="0">
                <a:sym typeface="Symbol" panose="05050102010706020507" pitchFamily="18" charset="2"/>
              </a:rPr>
            </a:br>
            <a:r>
              <a:rPr lang="en-US" dirty="0">
                <a:sym typeface="Symbol" panose="05050102010706020507" pitchFamily="18" charset="2"/>
              </a:rPr>
              <a:t>     25 Gb/s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64213-7117-2E4C-EE74-E3B19614C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3199AB5-D408-A176-2B74-D1E9886E2CCE}"/>
              </a:ext>
            </a:extLst>
          </p:cNvPr>
          <p:cNvCxnSpPr>
            <a:cxnSpLocks/>
          </p:cNvCxnSpPr>
          <p:nvPr/>
        </p:nvCxnSpPr>
        <p:spPr>
          <a:xfrm flipH="1">
            <a:off x="6299039" y="2845855"/>
            <a:ext cx="3645883" cy="9369"/>
          </a:xfrm>
          <a:prstGeom prst="line">
            <a:avLst/>
          </a:prstGeom>
          <a:ln w="12700">
            <a:solidFill>
              <a:srgbClr val="007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CB181BC-3F7E-EE9D-9C9A-0F945DBCF1C5}"/>
              </a:ext>
            </a:extLst>
          </p:cNvPr>
          <p:cNvGrpSpPr/>
          <p:nvPr/>
        </p:nvGrpSpPr>
        <p:grpSpPr>
          <a:xfrm>
            <a:off x="4782813" y="1624545"/>
            <a:ext cx="3078210" cy="4136243"/>
            <a:chOff x="4782813" y="1624545"/>
            <a:chExt cx="3078210" cy="4136243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7F940ADF-6D83-137A-7FDF-70B823BE7123}"/>
                </a:ext>
              </a:extLst>
            </p:cNvPr>
            <p:cNvGrpSpPr/>
            <p:nvPr/>
          </p:nvGrpSpPr>
          <p:grpSpPr>
            <a:xfrm>
              <a:off x="4782813" y="1624545"/>
              <a:ext cx="3078210" cy="4136243"/>
              <a:chOff x="7132474" y="1173131"/>
              <a:chExt cx="3078210" cy="413624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0487CFDA-D563-F7F9-0568-71CBC684CD2A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13894EE8-2676-E994-D6EF-921381DB2AC1}"/>
                  </a:ext>
                </a:extLst>
              </p:cNvPr>
              <p:cNvCxnSpPr>
                <a:stCxn id="5" idx="3"/>
                <a:endCxn id="6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96E1EA95-28BB-873B-0290-D359DD58D4B3}"/>
                  </a:ext>
                </a:extLst>
              </p:cNvPr>
              <p:cNvCxnSpPr>
                <a:cxnSpLocks/>
                <a:stCxn id="5" idx="3"/>
                <a:endCxn id="7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976F6F89-5C46-BAC7-48A7-2283C0C27AC3}"/>
                  </a:ext>
                </a:extLst>
              </p:cNvPr>
              <p:cNvCxnSpPr>
                <a:cxnSpLocks/>
                <a:stCxn id="5" idx="3"/>
                <a:endCxn id="8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8FC63DF-E19A-824F-FC2C-CAEAA7EE5E54}"/>
                  </a:ext>
                </a:extLst>
              </p:cNvPr>
              <p:cNvCxnSpPr>
                <a:cxnSpLocks/>
                <a:stCxn id="6" idx="1"/>
                <a:endCxn id="8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E64989C-A3A7-338C-F695-2A7C96222721}"/>
                  </a:ext>
                </a:extLst>
              </p:cNvPr>
              <p:cNvCxnSpPr>
                <a:cxnSpLocks/>
                <a:stCxn id="7" idx="3"/>
                <a:endCxn id="6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FBE4B1A6-2F54-C5DE-E4C6-21702A24942A}"/>
                  </a:ext>
                </a:extLst>
              </p:cNvPr>
              <p:cNvCxnSpPr>
                <a:cxnSpLocks/>
                <a:stCxn id="7" idx="3"/>
                <a:endCxn id="8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D080A6-F087-DC45-BE6E-F5CA8A86AB4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44FC1C6E-D1AE-3B73-5875-36AACAD137AE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68EF782E-62A2-E513-750B-C05D84861619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748E1A7F-1AA9-D13E-C6F6-2481BD793572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5CE565C-5D50-CDEB-14EB-7B903F925039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6934E003-80EF-938C-E880-BD1E9C6AC043}"/>
                    </a:ext>
                  </a:extLst>
                </p:cNvPr>
                <p:cNvCxnSpPr>
                  <a:stCxn id="12" idx="2"/>
                  <a:endCxn id="5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B83A5641-9A46-2F27-703B-E12977E5C283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4B116CA8-B3FA-BC09-4477-1678E5881540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C7A6326-46DF-0050-2CE5-6A5264449A04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FDA4247D-4107-C28C-B2D8-D753A8B4C453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7529A86E-0038-E665-F9CC-5A52537FE1D5}"/>
                    </a:ext>
                  </a:extLst>
                </p:cNvPr>
                <p:cNvCxnSpPr>
                  <a:cxnSpLocks/>
                  <a:stCxn id="11" idx="2"/>
                  <a:endCxn id="6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04D655B6-50B7-5A95-6FFF-3AE21E24F1D7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1288CE00-6992-5C31-E04E-D7936A0353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17184EA9-D05A-A9CB-2CA9-91F5FF8F5B73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B45FC87-0FBB-8DE8-B419-A30CFB6613E3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2C42C23F-6CB8-451A-1EAA-CDE505825CA9}"/>
                    </a:ext>
                  </a:extLst>
                </p:cNvPr>
                <p:cNvCxnSpPr>
                  <a:cxnSpLocks/>
                  <a:stCxn id="7" idx="2"/>
                  <a:endCxn id="9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B8EC0F24-9F03-FCF8-02CF-0B364ABAFAE4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0F67A46-7F49-C654-A2C5-7A161F847D0D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BC33D96-E1D4-28D7-7FA8-11E98528D25A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2A79843-494A-F40B-2802-F305CCE2E35B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EAD8D83-9704-EC1E-E548-D09D257038E7}"/>
                    </a:ext>
                  </a:extLst>
                </p:cNvPr>
                <p:cNvCxnSpPr>
                  <a:cxnSpLocks/>
                  <a:stCxn id="8" idx="2"/>
                  <a:endCxn id="10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764BD8-871A-D43E-AEB7-BB2B291DD9DF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3E037CE2-42CE-E5B1-80A7-562867093F1C}"/>
                  </a:ext>
                </a:extLst>
              </p:cNvPr>
              <p:cNvCxnSpPr>
                <a:cxnSpLocks/>
                <a:stCxn id="51" idx="2"/>
                <a:endCxn id="42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7E5F362A-D426-746C-D589-B05D831A9F13}"/>
                  </a:ext>
                </a:extLst>
              </p:cNvPr>
              <p:cNvCxnSpPr>
                <a:cxnSpLocks/>
                <a:endCxn id="42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A43CA3D-F373-2846-2F0C-0B17761F455F}"/>
                </a:ext>
              </a:extLst>
            </p:cNvPr>
            <p:cNvSpPr txBox="1"/>
            <p:nvPr/>
          </p:nvSpPr>
          <p:spPr>
            <a:xfrm>
              <a:off x="5969460" y="266333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A08CED08-2DED-1D31-EC58-5443B8F78965}"/>
                </a:ext>
              </a:extLst>
            </p:cNvPr>
            <p:cNvSpPr txBox="1"/>
            <p:nvPr/>
          </p:nvSpPr>
          <p:spPr>
            <a:xfrm>
              <a:off x="5923968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CCE4BD9-A7C7-95EB-B828-CFCFF1CDF547}"/>
              </a:ext>
            </a:extLst>
          </p:cNvPr>
          <p:cNvGrpSpPr/>
          <p:nvPr/>
        </p:nvGrpSpPr>
        <p:grpSpPr>
          <a:xfrm>
            <a:off x="8741213" y="1624544"/>
            <a:ext cx="3078210" cy="4136243"/>
            <a:chOff x="8428696" y="1624544"/>
            <a:chExt cx="3078210" cy="413624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3C0FE1-F508-55F8-CA30-466C224287BC}"/>
                </a:ext>
              </a:extLst>
            </p:cNvPr>
            <p:cNvGrpSpPr/>
            <p:nvPr/>
          </p:nvGrpSpPr>
          <p:grpSpPr>
            <a:xfrm>
              <a:off x="8428696" y="1624544"/>
              <a:ext cx="3078210" cy="4136243"/>
              <a:chOff x="7132474" y="1173131"/>
              <a:chExt cx="3078210" cy="413624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C5A59B48-500F-A233-2BCF-4A1554F5871C}"/>
                  </a:ext>
                </a:extLst>
              </p:cNvPr>
              <p:cNvSpPr/>
              <p:nvPr/>
            </p:nvSpPr>
            <p:spPr>
              <a:xfrm>
                <a:off x="7132474" y="1173131"/>
                <a:ext cx="3078210" cy="4136243"/>
              </a:xfrm>
              <a:prstGeom prst="rect">
                <a:avLst/>
              </a:prstGeom>
              <a:solidFill>
                <a:schemeClr val="bg1">
                  <a:lumMod val="85000"/>
                  <a:alpha val="34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D45E9E67-CBE3-E394-61BA-5EEA74D93E7D}"/>
                  </a:ext>
                </a:extLst>
              </p:cNvPr>
              <p:cNvCxnSpPr>
                <a:stCxn id="94" idx="3"/>
                <a:endCxn id="90" idx="1"/>
              </p:cNvCxnSpPr>
              <p:nvPr/>
            </p:nvCxnSpPr>
            <p:spPr>
              <a:xfrm>
                <a:off x="8035269" y="3373915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A9BFB3E2-CB1E-AF11-80DB-D887A8993C61}"/>
                  </a:ext>
                </a:extLst>
              </p:cNvPr>
              <p:cNvCxnSpPr>
                <a:cxnSpLocks/>
                <a:stCxn id="94" idx="3"/>
                <a:endCxn id="86" idx="3"/>
              </p:cNvCxnSpPr>
              <p:nvPr/>
            </p:nvCxnSpPr>
            <p:spPr>
              <a:xfrm>
                <a:off x="8035269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A1A4354E-1DF9-6473-DB3C-30BCC687D7BC}"/>
                  </a:ext>
                </a:extLst>
              </p:cNvPr>
              <p:cNvCxnSpPr>
                <a:cxnSpLocks/>
                <a:stCxn id="94" idx="3"/>
                <a:endCxn id="82" idx="1"/>
              </p:cNvCxnSpPr>
              <p:nvPr/>
            </p:nvCxnSpPr>
            <p:spPr>
              <a:xfrm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09EBA3A2-A3D6-040C-AF89-4C4F301EE4C8}"/>
                  </a:ext>
                </a:extLst>
              </p:cNvPr>
              <p:cNvCxnSpPr>
                <a:cxnSpLocks/>
                <a:stCxn id="90" idx="1"/>
                <a:endCxn id="82" idx="1"/>
              </p:cNvCxnSpPr>
              <p:nvPr/>
            </p:nvCxnSpPr>
            <p:spPr>
              <a:xfrm>
                <a:off x="9262131" y="3373915"/>
                <a:ext cx="0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067E2F4E-4A99-60FA-9FFC-BD0B213AEED0}"/>
                  </a:ext>
                </a:extLst>
              </p:cNvPr>
              <p:cNvCxnSpPr>
                <a:cxnSpLocks/>
                <a:stCxn id="86" idx="3"/>
                <a:endCxn id="90" idx="1"/>
              </p:cNvCxnSpPr>
              <p:nvPr/>
            </p:nvCxnSpPr>
            <p:spPr>
              <a:xfrm flipV="1">
                <a:off x="8035269" y="3373915"/>
                <a:ext cx="1226862" cy="944136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C7395492-E76A-E076-E0F0-CC30B33607AB}"/>
                  </a:ext>
                </a:extLst>
              </p:cNvPr>
              <p:cNvCxnSpPr>
                <a:cxnSpLocks/>
                <a:stCxn id="86" idx="3"/>
                <a:endCxn id="82" idx="1"/>
              </p:cNvCxnSpPr>
              <p:nvPr/>
            </p:nvCxnSpPr>
            <p:spPr>
              <a:xfrm>
                <a:off x="8035269" y="4318051"/>
                <a:ext cx="1226862" cy="0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82A7B87-2878-880B-83D4-0F786C9FE8A4}"/>
                  </a:ext>
                </a:extLst>
              </p:cNvPr>
              <p:cNvSpPr txBox="1"/>
              <p:nvPr/>
            </p:nvSpPr>
            <p:spPr>
              <a:xfrm>
                <a:off x="8331145" y="1825625"/>
                <a:ext cx="635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CPU</a:t>
                </a:r>
                <a:endParaRPr lang="LID4096" dirty="0"/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C3F9CFA9-B7C4-9A4E-F9FC-E9E8819E2670}"/>
                  </a:ext>
                </a:extLst>
              </p:cNvPr>
              <p:cNvGrpSpPr/>
              <p:nvPr/>
            </p:nvGrpSpPr>
            <p:grpSpPr>
              <a:xfrm>
                <a:off x="7315200" y="2672576"/>
                <a:ext cx="720069" cy="886005"/>
                <a:chOff x="7315200" y="2672576"/>
                <a:chExt cx="720069" cy="886005"/>
              </a:xfrm>
            </p:grpSpPr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0FF4C75B-C62A-BA71-B7BD-31B1EB9FD165}"/>
                    </a:ext>
                  </a:extLst>
                </p:cNvPr>
                <p:cNvSpPr/>
                <p:nvPr/>
              </p:nvSpPr>
              <p:spPr>
                <a:xfrm>
                  <a:off x="7315200" y="2672576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5CCFE920-89AB-D1A4-9065-6F450915FA64}"/>
                    </a:ext>
                  </a:extLst>
                </p:cNvPr>
                <p:cNvSpPr txBox="1"/>
                <p:nvPr/>
              </p:nvSpPr>
              <p:spPr>
                <a:xfrm>
                  <a:off x="7315200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0</a:t>
                  </a:r>
                  <a:endParaRPr lang="LID4096" baseline="-25000" dirty="0"/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EC18AA70-DE52-6B02-8A42-8CA91A5511BA}"/>
                    </a:ext>
                  </a:extLst>
                </p:cNvPr>
                <p:cNvSpPr txBox="1"/>
                <p:nvPr/>
              </p:nvSpPr>
              <p:spPr>
                <a:xfrm>
                  <a:off x="7337502" y="2672576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1CF15B8-4C9F-A78F-B25B-D569215ACB14}"/>
                    </a:ext>
                  </a:extLst>
                </p:cNvPr>
                <p:cNvCxnSpPr>
                  <a:stCxn id="95" idx="2"/>
                  <a:endCxn id="94" idx="0"/>
                </p:cNvCxnSpPr>
                <p:nvPr/>
              </p:nvCxnSpPr>
              <p:spPr>
                <a:xfrm>
                  <a:off x="7672690" y="3041908"/>
                  <a:ext cx="2545" cy="147341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17793684-7379-5A45-99F7-54A70962FB3B}"/>
                  </a:ext>
                </a:extLst>
              </p:cNvPr>
              <p:cNvGrpSpPr/>
              <p:nvPr/>
            </p:nvGrpSpPr>
            <p:grpSpPr>
              <a:xfrm>
                <a:off x="9262131" y="2671440"/>
                <a:ext cx="730762" cy="887141"/>
                <a:chOff x="9262131" y="2671440"/>
                <a:chExt cx="730762" cy="887141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0CE9FDB2-621B-2E9A-1544-C0B28693DD3A}"/>
                    </a:ext>
                  </a:extLst>
                </p:cNvPr>
                <p:cNvSpPr/>
                <p:nvPr/>
              </p:nvSpPr>
              <p:spPr>
                <a:xfrm>
                  <a:off x="9292910" y="2671440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64652690-18DD-82AF-4319-D21E5ED9AB6B}"/>
                    </a:ext>
                  </a:extLst>
                </p:cNvPr>
                <p:cNvSpPr txBox="1"/>
                <p:nvPr/>
              </p:nvSpPr>
              <p:spPr>
                <a:xfrm>
                  <a:off x="9262131" y="3189249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1</a:t>
                  </a:r>
                  <a:endParaRPr lang="LID4096" baseline="-25000" dirty="0"/>
                </a:p>
              </p:txBody>
            </p:sp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578103B6-7B12-1DD9-83BF-69C7F811A2C8}"/>
                    </a:ext>
                  </a:extLst>
                </p:cNvPr>
                <p:cNvSpPr txBox="1"/>
                <p:nvPr/>
              </p:nvSpPr>
              <p:spPr>
                <a:xfrm>
                  <a:off x="9290824" y="2677642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F3ABA18D-AADB-CEF1-7464-6347F9718E78}"/>
                    </a:ext>
                  </a:extLst>
                </p:cNvPr>
                <p:cNvCxnSpPr>
                  <a:cxnSpLocks/>
                  <a:stCxn id="91" idx="2"/>
                  <a:endCxn id="90" idx="0"/>
                </p:cNvCxnSpPr>
                <p:nvPr/>
              </p:nvCxnSpPr>
              <p:spPr>
                <a:xfrm flipH="1">
                  <a:off x="9622166" y="3046974"/>
                  <a:ext cx="3846" cy="142275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BEC1BD7C-3E41-3A22-7518-F46860A67D3E}"/>
                  </a:ext>
                </a:extLst>
              </p:cNvPr>
              <p:cNvGrpSpPr/>
              <p:nvPr/>
            </p:nvGrpSpPr>
            <p:grpSpPr>
              <a:xfrm>
                <a:off x="7315200" y="4133385"/>
                <a:ext cx="722285" cy="886005"/>
                <a:chOff x="7315200" y="4133385"/>
                <a:chExt cx="722285" cy="886005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3DF3ABA2-A750-0945-79E7-39C4CE120488}"/>
                    </a:ext>
                  </a:extLst>
                </p:cNvPr>
                <p:cNvSpPr/>
                <p:nvPr/>
              </p:nvSpPr>
              <p:spPr>
                <a:xfrm>
                  <a:off x="7337502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BB542027-C053-86A8-F67E-7022D3E5D94C}"/>
                    </a:ext>
                  </a:extLst>
                </p:cNvPr>
                <p:cNvSpPr txBox="1"/>
                <p:nvPr/>
              </p:nvSpPr>
              <p:spPr>
                <a:xfrm>
                  <a:off x="7315200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2</a:t>
                  </a:r>
                  <a:endParaRPr lang="LID4096" baseline="-25000" dirty="0"/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1AB27343-E756-C4B0-4C5E-A9F982497ED5}"/>
                    </a:ext>
                  </a:extLst>
                </p:cNvPr>
                <p:cNvSpPr txBox="1"/>
                <p:nvPr/>
              </p:nvSpPr>
              <p:spPr>
                <a:xfrm>
                  <a:off x="7348653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02CAC5F9-C00B-31A3-3F79-3B48AFBEABC0}"/>
                    </a:ext>
                  </a:extLst>
                </p:cNvPr>
                <p:cNvCxnSpPr>
                  <a:cxnSpLocks/>
                  <a:stCxn id="86" idx="2"/>
                  <a:endCxn id="87" idx="0"/>
                </p:cNvCxnSpPr>
                <p:nvPr/>
              </p:nvCxnSpPr>
              <p:spPr>
                <a:xfrm>
                  <a:off x="7675235" y="4502717"/>
                  <a:ext cx="860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F5791D21-5343-40CB-2862-37F414CABC77}"/>
                  </a:ext>
                </a:extLst>
              </p:cNvPr>
              <p:cNvGrpSpPr/>
              <p:nvPr/>
            </p:nvGrpSpPr>
            <p:grpSpPr>
              <a:xfrm>
                <a:off x="9262131" y="4133385"/>
                <a:ext cx="746562" cy="886005"/>
                <a:chOff x="9262131" y="4133385"/>
                <a:chExt cx="746562" cy="886005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13C5F1E0-CA02-9A78-8AA5-C98E7184E153}"/>
                    </a:ext>
                  </a:extLst>
                </p:cNvPr>
                <p:cNvSpPr/>
                <p:nvPr/>
              </p:nvSpPr>
              <p:spPr>
                <a:xfrm>
                  <a:off x="9308710" y="4133385"/>
                  <a:ext cx="699983" cy="886005"/>
                </a:xfrm>
                <a:prstGeom prst="rect">
                  <a:avLst/>
                </a:prstGeom>
                <a:solidFill>
                  <a:schemeClr val="bg1">
                    <a:lumMod val="85000"/>
                    <a:alpha val="4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FAA03DE0-BA7F-4CFC-87AA-AC0EFF3D93F6}"/>
                    </a:ext>
                  </a:extLst>
                </p:cNvPr>
                <p:cNvSpPr txBox="1"/>
                <p:nvPr/>
              </p:nvSpPr>
              <p:spPr>
                <a:xfrm>
                  <a:off x="9262131" y="4133385"/>
                  <a:ext cx="72006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GPU</a:t>
                  </a:r>
                  <a:r>
                    <a:rPr lang="en-US" baseline="-25000" dirty="0"/>
                    <a:t>3</a:t>
                  </a:r>
                  <a:endParaRPr lang="LID4096" baseline="-25000" dirty="0"/>
                </a:p>
              </p:txBody>
            </p:sp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DF845E91-04AF-1AEC-EA02-146C6C59B4A1}"/>
                    </a:ext>
                  </a:extLst>
                </p:cNvPr>
                <p:cNvSpPr txBox="1"/>
                <p:nvPr/>
              </p:nvSpPr>
              <p:spPr>
                <a:xfrm>
                  <a:off x="9290824" y="4637654"/>
                  <a:ext cx="6703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HBM</a:t>
                  </a:r>
                  <a:endParaRPr lang="LID4096" dirty="0"/>
                </a:p>
              </p:txBody>
            </p: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3018315-183E-D22A-BD76-ED0895005612}"/>
                    </a:ext>
                  </a:extLst>
                </p:cNvPr>
                <p:cNvCxnSpPr>
                  <a:cxnSpLocks/>
                  <a:stCxn id="82" idx="2"/>
                  <a:endCxn id="83" idx="0"/>
                </p:cNvCxnSpPr>
                <p:nvPr/>
              </p:nvCxnSpPr>
              <p:spPr>
                <a:xfrm>
                  <a:off x="9622166" y="4502717"/>
                  <a:ext cx="3846" cy="134937"/>
                </a:xfrm>
                <a:prstGeom prst="line">
                  <a:avLst/>
                </a:prstGeom>
                <a:ln w="76200">
                  <a:solidFill>
                    <a:srgbClr val="C0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6E370E1-560A-3198-FBCC-69CAD204167B}"/>
                  </a:ext>
                </a:extLst>
              </p:cNvPr>
              <p:cNvSpPr txBox="1"/>
              <p:nvPr/>
            </p:nvSpPr>
            <p:spPr>
              <a:xfrm>
                <a:off x="8331145" y="1179294"/>
                <a:ext cx="64222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RAM</a:t>
                </a:r>
                <a:endParaRPr lang="LID4096" dirty="0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E08A8F70-2AB7-FFEE-26E4-7174FD94AFDB}"/>
                  </a:ext>
                </a:extLst>
              </p:cNvPr>
              <p:cNvCxnSpPr>
                <a:cxnSpLocks/>
                <a:stCxn id="79" idx="2"/>
                <a:endCxn id="74" idx="0"/>
              </p:cNvCxnSpPr>
              <p:nvPr/>
            </p:nvCxnSpPr>
            <p:spPr>
              <a:xfrm flipH="1">
                <a:off x="8648700" y="1548626"/>
                <a:ext cx="3559" cy="276999"/>
              </a:xfrm>
              <a:prstGeom prst="line">
                <a:avLst/>
              </a:prstGeom>
              <a:ln w="57150"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E8AEBCB0-6735-6B04-978D-09D59F35F63F}"/>
                  </a:ext>
                </a:extLst>
              </p:cNvPr>
              <p:cNvCxnSpPr>
                <a:cxnSpLocks/>
                <a:endCxn id="74" idx="2"/>
              </p:cNvCxnSpPr>
              <p:nvPr/>
            </p:nvCxnSpPr>
            <p:spPr>
              <a:xfrm flipV="1">
                <a:off x="8648700" y="2194957"/>
                <a:ext cx="0" cy="1178957"/>
              </a:xfrm>
              <a:prstGeom prst="line">
                <a:avLst/>
              </a:prstGeom>
              <a:ln w="1270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1B449A76-B523-F5C6-42C3-E496EE4BB5B6}"/>
                </a:ext>
              </a:extLst>
            </p:cNvPr>
            <p:cNvSpPr txBox="1"/>
            <p:nvPr/>
          </p:nvSpPr>
          <p:spPr>
            <a:xfrm>
              <a:off x="9606314" y="2699179"/>
              <a:ext cx="6591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PCIe</a:t>
              </a:r>
              <a:endParaRPr lang="LID4096" dirty="0"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A1CEC29-3189-DBB2-0D6C-4F6F0333711C}"/>
                </a:ext>
              </a:extLst>
            </p:cNvPr>
            <p:cNvSpPr txBox="1"/>
            <p:nvPr/>
          </p:nvSpPr>
          <p:spPr>
            <a:xfrm>
              <a:off x="9560235" y="4769463"/>
              <a:ext cx="8915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NVLink</a:t>
              </a:r>
              <a:endParaRPr lang="LID4096" dirty="0"/>
            </a:p>
          </p:txBody>
        </p: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B49BB5E-2EAB-61D1-9767-777685426D91}"/>
              </a:ext>
            </a:extLst>
          </p:cNvPr>
          <p:cNvSpPr txBox="1"/>
          <p:nvPr/>
        </p:nvSpPr>
        <p:spPr>
          <a:xfrm>
            <a:off x="7972533" y="2646370"/>
            <a:ext cx="64633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HDR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91189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Students using laptop in a classroom">
            <a:extLst>
              <a:ext uri="{FF2B5EF4-FFF2-40B4-BE49-F238E27FC236}">
                <a16:creationId xmlns:a16="http://schemas.microsoft.com/office/drawing/2014/main" id="{FF86261F-786E-1AB1-CC8A-890A7FC5CCC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85" b="6046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0FD67C-B545-6C66-6A2C-C8516C12F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Programming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3F430D-B79F-AAD6-F212-4C5F07209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2703CB-11BA-E9C8-04E1-06F275224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19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155956301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F88D-1995-138C-C0EB-BFEC86F4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6E328E-88B8-927E-FBAA-F29A2F09C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CUDA on NVIDIA/HIP on AMD</a:t>
            </a:r>
          </a:p>
          <a:p>
            <a:r>
              <a:rPr lang="en-US" dirty="0"/>
              <a:t>C/C++/Fortran + OpenMP 5.x</a:t>
            </a:r>
          </a:p>
          <a:p>
            <a:r>
              <a:rPr lang="en-US" dirty="0"/>
              <a:t>C/C++/Fortran + </a:t>
            </a:r>
            <a:r>
              <a:rPr lang="en-US" dirty="0" err="1"/>
              <a:t>OpenACC</a:t>
            </a:r>
            <a:endParaRPr lang="en-US" dirty="0"/>
          </a:p>
          <a:p>
            <a:r>
              <a:rPr lang="en-US" dirty="0"/>
              <a:t>SYCL</a:t>
            </a:r>
          </a:p>
          <a:p>
            <a:r>
              <a:rPr lang="en-US" dirty="0"/>
              <a:t>C++ + </a:t>
            </a:r>
            <a:r>
              <a:rPr lang="en-US" dirty="0" err="1"/>
              <a:t>Kokkos</a:t>
            </a:r>
            <a:endParaRPr lang="en-US" dirty="0"/>
          </a:p>
          <a:p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A1CE0-4625-38F4-D9AD-2170EACDE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9256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391EF-EEB1-AFF9-5B2D-8B440F8C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B817F-26E2-C7CB-1E53-43F8F418C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Explicit memory management</a:t>
            </a:r>
          </a:p>
          <a:p>
            <a:pPr lvl="1"/>
            <a:r>
              <a:rPr lang="en-US" dirty="0"/>
              <a:t>Memory allocation/deallocation</a:t>
            </a:r>
          </a:p>
          <a:p>
            <a:pPr lvl="1"/>
            <a:r>
              <a:rPr lang="en-US" dirty="0"/>
              <a:t>Host versus device addresses</a:t>
            </a:r>
          </a:p>
          <a:p>
            <a:pPr lvl="1"/>
            <a:r>
              <a:rPr lang="en-US" dirty="0"/>
              <a:t>Explicit  copy</a:t>
            </a:r>
          </a:p>
          <a:p>
            <a:pPr lvl="2"/>
            <a:r>
              <a:rPr lang="en-US" dirty="0"/>
              <a:t>Host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device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host</a:t>
            </a:r>
          </a:p>
          <a:p>
            <a:pPr lvl="2"/>
            <a:r>
              <a:rPr lang="en-US" dirty="0"/>
              <a:t>Device </a:t>
            </a:r>
            <a:r>
              <a:rPr lang="en-US" dirty="0">
                <a:sym typeface="Symbol" panose="05050102010706020507" pitchFamily="18" charset="2"/>
              </a:rPr>
              <a:t>  </a:t>
            </a:r>
            <a:r>
              <a:rPr lang="en-US" dirty="0"/>
              <a:t>device</a:t>
            </a:r>
          </a:p>
          <a:p>
            <a:pPr lvl="1"/>
            <a:r>
              <a:rPr lang="en-US" dirty="0"/>
              <a:t>Explicit synchronization</a:t>
            </a:r>
          </a:p>
          <a:p>
            <a:pPr lvl="1"/>
            <a:endParaRPr lang="en-US" dirty="0"/>
          </a:p>
          <a:p>
            <a:r>
              <a:rPr lang="en-US" dirty="0"/>
              <a:t>Unified memory management</a:t>
            </a:r>
          </a:p>
          <a:p>
            <a:pPr lvl="1"/>
            <a:r>
              <a:rPr lang="en-US" dirty="0"/>
              <a:t>Memory allocation/deallocation </a:t>
            </a:r>
          </a:p>
          <a:p>
            <a:pPr lvl="1"/>
            <a:r>
              <a:rPr lang="en-US" dirty="0"/>
              <a:t>Single address space</a:t>
            </a:r>
          </a:p>
          <a:p>
            <a:pPr lvl="1"/>
            <a:r>
              <a:rPr lang="en-US" dirty="0"/>
              <a:t>Implicit data migration (page fault/page copy)</a:t>
            </a:r>
          </a:p>
          <a:p>
            <a:pPr lvl="1"/>
            <a:r>
              <a:rPr lang="en-US" dirty="0"/>
              <a:t>Explicit synchronization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11E45-D9D7-63B2-C5B2-A13362ACE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14C8C51-005A-E816-0028-1975AD996416}"/>
              </a:ext>
            </a:extLst>
          </p:cNvPr>
          <p:cNvGrpSpPr/>
          <p:nvPr/>
        </p:nvGrpSpPr>
        <p:grpSpPr>
          <a:xfrm>
            <a:off x="6779941" y="1913153"/>
            <a:ext cx="4252047" cy="1304651"/>
            <a:chOff x="6779941" y="1913153"/>
            <a:chExt cx="4252047" cy="13046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8DFDE5-FCDC-D39C-6B04-C5032D0E27F2}"/>
                </a:ext>
              </a:extLst>
            </p:cNvPr>
            <p:cNvSpPr txBox="1"/>
            <p:nvPr/>
          </p:nvSpPr>
          <p:spPr>
            <a:xfrm>
              <a:off x="6779941" y="2263697"/>
              <a:ext cx="3968972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More control, potentially</a:t>
              </a:r>
              <a:br>
                <a:rPr lang="en-US" sz="2800" dirty="0"/>
              </a:br>
              <a:r>
                <a:rPr lang="en-US" sz="2800" dirty="0"/>
                <a:t>better performance</a:t>
              </a:r>
              <a:endParaRPr lang="LID4096" sz="2800" dirty="0"/>
            </a:p>
          </p:txBody>
        </p:sp>
        <p:pic>
          <p:nvPicPr>
            <p:cNvPr id="6" name="Graphic 5" descr="Rocket with solid fill">
              <a:extLst>
                <a:ext uri="{FF2B5EF4-FFF2-40B4-BE49-F238E27FC236}">
                  <a16:creationId xmlns:a16="http://schemas.microsoft.com/office/drawing/2014/main" id="{1281FDEE-B2B2-29B4-0ED3-FE2935BE34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0465837" y="1913153"/>
              <a:ext cx="566151" cy="566151"/>
            </a:xfrm>
            <a:prstGeom prst="rect">
              <a:avLst/>
            </a:prstGeom>
          </p:spPr>
        </p:pic>
      </p:grp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A8F5C80-A544-0FC0-1FB4-9858900E196E}"/>
              </a:ext>
            </a:extLst>
          </p:cNvPr>
          <p:cNvSpPr/>
          <p:nvPr/>
        </p:nvSpPr>
        <p:spPr>
          <a:xfrm>
            <a:off x="1550019" y="5754030"/>
            <a:ext cx="2977375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7A8C194-A20D-DCC5-2FD5-6F69B174B5F1}"/>
              </a:ext>
            </a:extLst>
          </p:cNvPr>
          <p:cNvSpPr/>
          <p:nvPr/>
        </p:nvSpPr>
        <p:spPr>
          <a:xfrm>
            <a:off x="1550019" y="4847064"/>
            <a:ext cx="3980986" cy="312233"/>
          </a:xfrm>
          <a:prstGeom prst="roundRect">
            <a:avLst/>
          </a:prstGeom>
          <a:solidFill>
            <a:srgbClr val="FF0000">
              <a:alpha val="44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103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48696-EA69-E8AE-40A9-A2004506A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Kernels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D77004-8124-4D6E-E36F-1209E6361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Functions compiled for device</a:t>
            </a:r>
          </a:p>
          <a:p>
            <a:r>
              <a:rPr lang="en-US" dirty="0"/>
              <a:t>Operate on data in device memory</a:t>
            </a:r>
          </a:p>
          <a:p>
            <a:r>
              <a:rPr lang="en-US" dirty="0"/>
              <a:t>Launched from host, run on device</a:t>
            </a:r>
          </a:p>
          <a:p>
            <a:r>
              <a:rPr lang="en-US" dirty="0"/>
              <a:t>Configuration in 1D, 2D, 3D</a:t>
            </a:r>
          </a:p>
          <a:p>
            <a:pPr lvl="1"/>
            <a:r>
              <a:rPr lang="en-US" dirty="0"/>
              <a:t>Threads per block</a:t>
            </a:r>
          </a:p>
          <a:p>
            <a:pPr lvl="1"/>
            <a:r>
              <a:rPr lang="en-US" dirty="0"/>
              <a:t>Blocks per grid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B3E7D-EA0E-521D-E510-CB84A1062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117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EA096-D73D-ED03-CCBE-D336DD66C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Threads, blocks &amp; grid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C62B7-9A58-92C8-3563-77C90ECEE6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Threads per block:</a:t>
            </a:r>
            <a:br>
              <a:rPr lang="en-US" dirty="0"/>
            </a:br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y-dimension </a:t>
            </a:r>
            <a:r>
              <a:rPr lang="en-US" dirty="0">
                <a:sym typeface="Symbol" panose="05050102010706020507" pitchFamily="18" charset="2"/>
              </a:rPr>
              <a:t></a:t>
            </a:r>
            <a:r>
              <a:rPr lang="en-US" dirty="0"/>
              <a:t> 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1024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y-dimension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1,024</a:t>
            </a:r>
          </a:p>
          <a:p>
            <a:pPr lvl="1"/>
            <a:r>
              <a:rPr lang="en-US" dirty="0"/>
              <a:t>z-dimension </a:t>
            </a:r>
            <a:r>
              <a:rPr lang="en-US" dirty="0">
                <a:sym typeface="Symbol" panose="05050102010706020507" pitchFamily="18" charset="2"/>
              </a:rPr>
              <a:t></a:t>
            </a:r>
            <a:r>
              <a:rPr lang="en-US" dirty="0"/>
              <a:t> 64</a:t>
            </a:r>
          </a:p>
          <a:p>
            <a:r>
              <a:rPr lang="en-US" dirty="0"/>
              <a:t>Blocks per grid</a:t>
            </a:r>
          </a:p>
          <a:p>
            <a:pPr lvl="1"/>
            <a:r>
              <a:rPr lang="en-US" dirty="0"/>
              <a:t>x-dimension </a:t>
            </a:r>
            <a:r>
              <a:rPr lang="en-US" dirty="0">
                <a:sym typeface="Symbol" panose="05050102010706020507" pitchFamily="18" charset="2"/>
              </a:rPr>
              <a:t> 2</a:t>
            </a:r>
            <a:r>
              <a:rPr lang="en-US" baseline="30000" dirty="0">
                <a:sym typeface="Symbol" panose="05050102010706020507" pitchFamily="18" charset="2"/>
              </a:rPr>
              <a:t>31</a:t>
            </a:r>
            <a:r>
              <a:rPr lang="en-US" dirty="0">
                <a:sym typeface="Symbol" panose="05050102010706020507" pitchFamily="18" charset="2"/>
              </a:rPr>
              <a:t> - 1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y-dimension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r>
              <a:rPr lang="en-US" dirty="0">
                <a:sym typeface="Symbol" panose="05050102010706020507" pitchFamily="18" charset="2"/>
              </a:rPr>
              <a:t>z-dimension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 65,535</a:t>
            </a:r>
            <a:endParaRPr lang="LID4096" dirty="0"/>
          </a:p>
          <a:p>
            <a:pPr lvl="1"/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32F50D-05B3-12AE-EDE0-8B5847481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7168FA-A0D1-4E05-7F96-8766767DE9A9}"/>
              </a:ext>
            </a:extLst>
          </p:cNvPr>
          <p:cNvSpPr txBox="1"/>
          <p:nvPr/>
        </p:nvSpPr>
        <p:spPr>
          <a:xfrm>
            <a:off x="7318244" y="1121376"/>
            <a:ext cx="390055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Warp is 32 threads,</a:t>
            </a:r>
            <a:br>
              <a:rPr lang="en-US" sz="2400" dirty="0"/>
            </a:br>
            <a:r>
              <a:rPr lang="en-US" sz="2400" dirty="0"/>
              <a:t>warp-group is 4 </a:t>
            </a:r>
            <a:r>
              <a:rPr lang="en-US" sz="2400" dirty="0">
                <a:sym typeface="Symbol" panose="05050102010706020507" pitchFamily="18" charset="2"/>
              </a:rPr>
              <a:t></a:t>
            </a:r>
            <a:r>
              <a:rPr lang="en-US" sz="2400" dirty="0"/>
              <a:t> 32 threads</a:t>
            </a:r>
            <a:endParaRPr lang="LID4096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FFBC48-332E-E420-8179-70BE41B3A500}"/>
              </a:ext>
            </a:extLst>
          </p:cNvPr>
          <p:cNvSpPr txBox="1"/>
          <p:nvPr/>
        </p:nvSpPr>
        <p:spPr>
          <a:xfrm>
            <a:off x="5474379" y="3548138"/>
            <a:ext cx="5041893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Kernel can get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Thread indices, thread dimensions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Block indices, block dimension</a:t>
            </a:r>
          </a:p>
          <a:p>
            <a:r>
              <a:rPr lang="en-US" sz="2400" dirty="0"/>
              <a:t>                </a:t>
            </a:r>
            <a:r>
              <a:rPr lang="LID4096" sz="2400" dirty="0">
                <a:sym typeface="Symbol" panose="05050102010706020507" pitchFamily="18" charset="2"/>
              </a:rPr>
              <a:t></a:t>
            </a:r>
            <a:r>
              <a:rPr lang="en-US" sz="2400" dirty="0">
                <a:sym typeface="Symbol" panose="05050102010706020507" pitchFamily="18" charset="2"/>
              </a:rPr>
              <a:t> differentiate work/thread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3561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05B0C-8D40-37D5-DABA-4ADAAC5EB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Streaming Multiprocessors &amp; blocks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06440-60D1-D558-CAC1-4A97DB4B4E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All threads in block execute on same SM</a:t>
            </a:r>
          </a:p>
          <a:p>
            <a:pPr lvl="1"/>
            <a:r>
              <a:rPr lang="en-US" dirty="0"/>
              <a:t>Can be synchronized</a:t>
            </a:r>
          </a:p>
          <a:p>
            <a:pPr lvl="1"/>
            <a:r>
              <a:rPr lang="en-US" dirty="0"/>
              <a:t>Can use shared memory</a:t>
            </a:r>
          </a:p>
          <a:p>
            <a:r>
              <a:rPr lang="en-US" dirty="0"/>
              <a:t>Multiple blocks assigned to SM</a:t>
            </a:r>
          </a:p>
          <a:p>
            <a:pPr lvl="1"/>
            <a:r>
              <a:rPr lang="en-US" dirty="0"/>
              <a:t>Depends on registers, shared memory/L1 cache availability</a:t>
            </a:r>
          </a:p>
          <a:p>
            <a:r>
              <a:rPr lang="en-US" dirty="0"/>
              <a:t>Threads grouped in warps</a:t>
            </a:r>
          </a:p>
          <a:p>
            <a:pPr lvl="1"/>
            <a:r>
              <a:rPr lang="en-US" dirty="0"/>
              <a:t>At most 32 warps</a:t>
            </a:r>
          </a:p>
          <a:p>
            <a:r>
              <a:rPr lang="en-US" dirty="0"/>
              <a:t>4 warp schedulers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4 warp instructions/cycle</a:t>
            </a:r>
          </a:p>
          <a:p>
            <a:pPr lvl="1"/>
            <a:r>
              <a:rPr lang="en-US" dirty="0"/>
              <a:t>Need not belong to same block</a:t>
            </a:r>
          </a:p>
          <a:p>
            <a:pPr lvl="1"/>
            <a:r>
              <a:rPr lang="en-US" dirty="0"/>
              <a:t>Picked from ready warps</a:t>
            </a:r>
          </a:p>
          <a:p>
            <a:r>
              <a:rPr lang="en-US" dirty="0"/>
              <a:t>Stalled warps: waiting for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Synchronization</a:t>
            </a:r>
          </a:p>
          <a:p>
            <a:pPr lvl="1"/>
            <a:r>
              <a:rPr lang="en-US" dirty="0"/>
              <a:t>Long-latency instructions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8B01CB-089B-D630-7714-60EA23CC8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F56C6-C514-0767-9AE7-AD28DA95BEDD}"/>
              </a:ext>
            </a:extLst>
          </p:cNvPr>
          <p:cNvSpPr txBox="1"/>
          <p:nvPr/>
        </p:nvSpPr>
        <p:spPr>
          <a:xfrm>
            <a:off x="5128977" y="5185317"/>
            <a:ext cx="6071149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Many threads/blocks </a:t>
            </a:r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latency hiding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559347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BBCB4-A529-4B3D-D4EE-49F32CB59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Synchronization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85230-8347-06D5-3A57-7E8915AD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Memory copy can be asynchronous</a:t>
            </a:r>
          </a:p>
          <a:p>
            <a:r>
              <a:rPr lang="en-US" dirty="0"/>
              <a:t>Kernel execution can be asynchronous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Synchronization levels</a:t>
            </a:r>
          </a:p>
          <a:p>
            <a:pPr lvl="1"/>
            <a:r>
              <a:rPr lang="en-US" dirty="0"/>
              <a:t>Warp: implicit lockstep</a:t>
            </a:r>
          </a:p>
          <a:p>
            <a:pPr lvl="1"/>
            <a:r>
              <a:rPr lang="en-US" dirty="0"/>
              <a:t>Block: explicit sync statement</a:t>
            </a:r>
          </a:p>
          <a:p>
            <a:pPr lvl="1"/>
            <a:r>
              <a:rPr lang="en-US" dirty="0"/>
              <a:t>Cluster (H100+): cluster boundaries</a:t>
            </a:r>
          </a:p>
          <a:p>
            <a:pPr lvl="1"/>
            <a:r>
              <a:rPr lang="en-US" dirty="0"/>
              <a:t>Grid: cooperative group kernel (all blocks must fit on GPU)</a:t>
            </a:r>
          </a:p>
          <a:p>
            <a:pPr lvl="1"/>
            <a:r>
              <a:rPr lang="en-US" dirty="0"/>
              <a:t>GPU: kernel boundaries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987FFB-3A03-E069-E4AA-9C4059DA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C46878D-522A-B3B0-27F7-A815A1F88B7F}"/>
              </a:ext>
            </a:extLst>
          </p:cNvPr>
          <p:cNvGrpSpPr/>
          <p:nvPr/>
        </p:nvGrpSpPr>
        <p:grpSpPr>
          <a:xfrm>
            <a:off x="7527073" y="1646238"/>
            <a:ext cx="3214594" cy="1384995"/>
            <a:chOff x="7527073" y="1646238"/>
            <a:chExt cx="3214594" cy="1384995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F43F0313-7396-D067-6680-E646931792A5}"/>
                </a:ext>
              </a:extLst>
            </p:cNvPr>
            <p:cNvSpPr/>
            <p:nvPr/>
          </p:nvSpPr>
          <p:spPr>
            <a:xfrm>
              <a:off x="7527073" y="1825625"/>
              <a:ext cx="256478" cy="928726"/>
            </a:xfrm>
            <a:prstGeom prst="rightBrac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D176BF-1871-94F8-FB46-CAD4259435FF}"/>
                </a:ext>
              </a:extLst>
            </p:cNvPr>
            <p:cNvSpPr txBox="1"/>
            <p:nvPr/>
          </p:nvSpPr>
          <p:spPr>
            <a:xfrm>
              <a:off x="8040030" y="1646238"/>
              <a:ext cx="2701637" cy="13849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Overlapping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Data transfers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2800" dirty="0"/>
                <a:t>Computations</a:t>
              </a:r>
              <a:endParaRPr lang="LID4096" sz="28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AEA321-42F4-7F62-ABCD-201555F810F6}"/>
              </a:ext>
            </a:extLst>
          </p:cNvPr>
          <p:cNvGrpSpPr/>
          <p:nvPr/>
        </p:nvGrpSpPr>
        <p:grpSpPr>
          <a:xfrm>
            <a:off x="1708346" y="2926796"/>
            <a:ext cx="8775307" cy="878368"/>
            <a:chOff x="1773044" y="3106199"/>
            <a:chExt cx="8775307" cy="87836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CD7E8B2-D7B1-8BD1-D1C5-ED04AF65A815}"/>
                </a:ext>
              </a:extLst>
            </p:cNvPr>
            <p:cNvSpPr txBox="1"/>
            <p:nvPr/>
          </p:nvSpPr>
          <p:spPr>
            <a:xfrm>
              <a:off x="1773044" y="3461347"/>
              <a:ext cx="8347157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ym typeface="Symbol" panose="05050102010706020507" pitchFamily="18" charset="2"/>
                </a:rPr>
                <a:t> Explicit synchronization to avoid race conditions!!!</a:t>
              </a:r>
              <a:endParaRPr lang="LID4096" sz="2800" dirty="0"/>
            </a:p>
          </p:txBody>
        </p:sp>
        <p:pic>
          <p:nvPicPr>
            <p:cNvPr id="9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0506B6F1-7855-4508-7BF1-730067A1AF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2200" y="3106199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624807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B7936-C090-F858-BD1F-1EB30FE88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Inquiry functions &amp; configuration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21B5C-32DD-B7A8-1D41-5FA4AFB8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capability</a:t>
            </a:r>
          </a:p>
          <a:p>
            <a:r>
              <a:rPr lang="en-US" dirty="0"/>
              <a:t>Hardware limits</a:t>
            </a:r>
          </a:p>
          <a:p>
            <a:pPr lvl="1"/>
            <a:r>
              <a:rPr lang="en-US" dirty="0"/>
              <a:t>Number of devices</a:t>
            </a:r>
          </a:p>
          <a:p>
            <a:pPr lvl="1"/>
            <a:r>
              <a:rPr lang="en-US" dirty="0"/>
              <a:t>Maximum number of threads/block &amp; dimension</a:t>
            </a:r>
          </a:p>
          <a:p>
            <a:pPr lvl="1"/>
            <a:r>
              <a:rPr lang="en-US" dirty="0"/>
              <a:t>Memory/cache sizes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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35AD-53DE-1064-C959-BCDACAD29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36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FA56-E009-6CB8-6AF8-A1994D6EE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considerations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827A8-40C3-53E0-F891-513A349647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Avoid warp divergence (beware of branching)!</a:t>
            </a:r>
          </a:p>
          <a:p>
            <a:r>
              <a:rPr lang="en-US" dirty="0"/>
              <a:t>Ensure threads have enough work</a:t>
            </a:r>
          </a:p>
          <a:p>
            <a:r>
              <a:rPr lang="en-US" dirty="0"/>
              <a:t>Increase arithmetic intensity</a:t>
            </a:r>
          </a:p>
          <a:p>
            <a:r>
              <a:rPr lang="en-US" dirty="0"/>
              <a:t>Number of threads/block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registers/shared memory</a:t>
            </a:r>
          </a:p>
          <a:p>
            <a:pPr lvl="1"/>
            <a:r>
              <a:rPr lang="en-US" dirty="0"/>
              <a:t>Ensure sufficient occupancy</a:t>
            </a:r>
          </a:p>
          <a:p>
            <a:r>
              <a:rPr lang="en-US" dirty="0"/>
              <a:t>Exploit data locality (shared memory/L2 cache)</a:t>
            </a:r>
          </a:p>
          <a:p>
            <a:r>
              <a:rPr lang="en-US" dirty="0"/>
              <a:t>Minimize host-device memory transfers and synchronization</a:t>
            </a:r>
          </a:p>
          <a:p>
            <a:r>
              <a:rPr lang="en-US" dirty="0"/>
              <a:t>Memory access matters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data access coalescing</a:t>
            </a:r>
          </a:p>
          <a:p>
            <a:pPr lvl="1"/>
            <a:r>
              <a:rPr lang="en-US" dirty="0"/>
              <a:t>Accommodate 128-byte memory transactions</a:t>
            </a:r>
          </a:p>
          <a:p>
            <a:pPr lvl="1"/>
            <a:r>
              <a:rPr lang="en-US" dirty="0"/>
              <a:t>Warp should access consecutive addresses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 panose="05050102010706020507" pitchFamily="18" charset="2"/>
              </a:rPr>
              <a:t> </a:t>
            </a:r>
            <a:r>
              <a:rPr lang="en-US" b="1" dirty="0">
                <a:solidFill>
                  <a:srgbClr val="C00000"/>
                </a:solidFill>
              </a:rPr>
              <a:t>grid-</a:t>
            </a:r>
            <a:r>
              <a:rPr lang="en-US" b="1" dirty="0" err="1">
                <a:solidFill>
                  <a:srgbClr val="C00000"/>
                </a:solidFill>
              </a:rPr>
              <a:t>strided</a:t>
            </a:r>
            <a:r>
              <a:rPr lang="en-US" b="1" dirty="0">
                <a:solidFill>
                  <a:srgbClr val="C00000"/>
                </a:solidFill>
              </a:rPr>
              <a:t> loops</a:t>
            </a:r>
            <a:r>
              <a:rPr lang="en-US" dirty="0"/>
              <a:t> to distribute work</a:t>
            </a:r>
          </a:p>
          <a:p>
            <a:pPr lvl="1"/>
            <a:r>
              <a:rPr lang="en-US" dirty="0"/>
              <a:t>Data should be aligned</a:t>
            </a:r>
          </a:p>
          <a:p>
            <a:pPr lvl="1"/>
            <a:r>
              <a:rPr lang="en-US" dirty="0"/>
              <a:t>Data layout </a:t>
            </a:r>
            <a:r>
              <a:rPr lang="en-US" dirty="0">
                <a:sym typeface="Symbol" panose="05050102010706020507" pitchFamily="18" charset="2"/>
              </a:rPr>
              <a:t></a:t>
            </a:r>
            <a:r>
              <a:rPr lang="en-US" dirty="0"/>
              <a:t> thread access pattern (e.g., </a:t>
            </a:r>
            <a:r>
              <a:rPr lang="en-US" dirty="0" err="1"/>
              <a:t>SoA</a:t>
            </a:r>
            <a:r>
              <a:rPr lang="en-US" dirty="0"/>
              <a:t> vs. </a:t>
            </a:r>
            <a:r>
              <a:rPr lang="en-US" dirty="0" err="1"/>
              <a:t>AoS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EDA03-7DD6-BA46-FB39-F3E23432F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4BF42C1-663C-C1F1-5D36-61AA6BA95191}"/>
              </a:ext>
            </a:extLst>
          </p:cNvPr>
          <p:cNvGrpSpPr/>
          <p:nvPr/>
        </p:nvGrpSpPr>
        <p:grpSpPr>
          <a:xfrm>
            <a:off x="6770914" y="5059688"/>
            <a:ext cx="4379321" cy="1384995"/>
            <a:chOff x="7532914" y="4189164"/>
            <a:chExt cx="4379321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A09B20F-7C5A-42B1-4415-C2E9C5C20FAC}"/>
                </a:ext>
              </a:extLst>
            </p:cNvPr>
            <p:cNvSpPr txBox="1"/>
            <p:nvPr/>
          </p:nvSpPr>
          <p:spPr>
            <a:xfrm>
              <a:off x="8686800" y="4189164"/>
              <a:ext cx="3225435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Note: opposite of</a:t>
              </a:r>
              <a:br>
                <a:rPr lang="en-US" sz="2800" dirty="0"/>
              </a:br>
              <a:r>
                <a:rPr lang="en-US" sz="2800" dirty="0"/>
                <a:t>CPU multithreading</a:t>
              </a:r>
              <a:br>
                <a:rPr lang="en-US" sz="2800" dirty="0"/>
              </a:br>
              <a:r>
                <a:rPr lang="en-US" sz="2800" dirty="0"/>
                <a:t>wisdom!</a:t>
              </a:r>
              <a:endParaRPr lang="LID4096" sz="2800" dirty="0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AA095A8-D128-0A01-CEFC-39BEA7C168EB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H="1" flipV="1">
              <a:off x="7532914" y="4430486"/>
              <a:ext cx="1153886" cy="451176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3280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92708-8D79-176E-38CC-589BED2943D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15730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6C7144-E333-12CD-C8AE-77952E967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Evolution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953A11-375D-6A87-5C1C-E6EA6EA88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8DF06-2AF4-9A81-B02C-A85CD77FF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9C7CE217-4467-4B8D-A735-B008FA7C4816}" type="slidenum">
              <a:rPr lang="en-US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28</a:t>
            </a:fld>
            <a:endParaRPr lang="en-US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521118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F3F25-99D4-B357-3E78-E061D253F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&amp; compute capability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131578-85ED-43F5-828C-A56DB1BC07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1748609"/>
              </p:ext>
            </p:extLst>
          </p:nvPr>
        </p:nvGraphicFramePr>
        <p:xfrm>
          <a:off x="511628" y="2032454"/>
          <a:ext cx="11168743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64292585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767501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671623090"/>
                    </a:ext>
                  </a:extLst>
                </a:gridCol>
                <a:gridCol w="1199195">
                  <a:extLst>
                    <a:ext uri="{9D8B030D-6E8A-4147-A177-3AD203B41FA5}">
                      <a16:colId xmlns:a16="http://schemas.microsoft.com/office/drawing/2014/main" val="50273809"/>
                    </a:ext>
                  </a:extLst>
                </a:gridCol>
                <a:gridCol w="1764732">
                  <a:extLst>
                    <a:ext uri="{9D8B030D-6E8A-4147-A177-3AD203B41FA5}">
                      <a16:colId xmlns:a16="http://schemas.microsoft.com/office/drawing/2014/main" val="3495195430"/>
                    </a:ext>
                  </a:extLst>
                </a:gridCol>
                <a:gridCol w="1942390">
                  <a:extLst>
                    <a:ext uri="{9D8B030D-6E8A-4147-A177-3AD203B41FA5}">
                      <a16:colId xmlns:a16="http://schemas.microsoft.com/office/drawing/2014/main" val="2302704746"/>
                    </a:ext>
                  </a:extLst>
                </a:gridCol>
                <a:gridCol w="2169397">
                  <a:extLst>
                    <a:ext uri="{9D8B030D-6E8A-4147-A177-3AD203B41FA5}">
                      <a16:colId xmlns:a16="http://schemas.microsoft.com/office/drawing/2014/main" val="30336423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Architecture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Compute capability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NVLink</a:t>
                      </a:r>
                      <a:r>
                        <a:rPr lang="en-US" dirty="0"/>
                        <a:t>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version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Base frequency (GHz)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Boost frequency (GHz)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59099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1.33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22738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Volta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1.20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1.53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7971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Ampere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1.41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52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Hopper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1.67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1.83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376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Blackwell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6.0+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8691187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D5D90-0B86-0133-AF47-BBB6D3B2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376162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5BBC9-1D76-40AA-06E2-72BB96B26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memory architecture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0A6019-3020-9388-C706-743CF8F36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85166791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13229632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3204274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5099137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1851521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9059187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6239115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Level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HGX B200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487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Registers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256K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 4b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22948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Shared memory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8232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9047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L1 + shared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256-288Kb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70093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Const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8Kb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5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L2 cache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50Mb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192Mb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158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Global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80Gb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180Gb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90487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FA4BE-8463-E572-A8F2-A6051F654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B0F3B05-69A5-7DD8-F266-C420EF4D8A93}"/>
              </a:ext>
            </a:extLst>
          </p:cNvPr>
          <p:cNvGrpSpPr/>
          <p:nvPr/>
        </p:nvGrpSpPr>
        <p:grpSpPr>
          <a:xfrm>
            <a:off x="2040674" y="5281960"/>
            <a:ext cx="8224104" cy="1084475"/>
            <a:chOff x="2040674" y="5281960"/>
            <a:chExt cx="8224104" cy="108447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BFEE05F-3ED5-C21C-E39D-CCEDDDB3D4EC}"/>
                </a:ext>
              </a:extLst>
            </p:cNvPr>
            <p:cNvSpPr txBox="1"/>
            <p:nvPr/>
          </p:nvSpPr>
          <p:spPr>
            <a:xfrm>
              <a:off x="2040674" y="5281960"/>
              <a:ext cx="7719164" cy="58477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Check cache size assumptions for kernels!</a:t>
              </a:r>
              <a:endParaRPr lang="LID4096" sz="3200" dirty="0"/>
            </a:p>
          </p:txBody>
        </p:sp>
        <p:pic>
          <p:nvPicPr>
            <p:cNvPr id="7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E695CA17-F322-576B-2E34-D8C9DF9EF2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72690" y="5574347"/>
              <a:ext cx="792088" cy="7920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64232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D5409-FED9-87E1-4A7C-28A716797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NVIDIA SMs</a:t>
            </a:r>
            <a:endParaRPr lang="LID4096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FDA9C8F-BA67-64BA-401C-1559E2F0269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38175548"/>
              </p:ext>
            </p:extLst>
          </p:nvPr>
        </p:nvGraphicFramePr>
        <p:xfrm>
          <a:off x="200722" y="1836776"/>
          <a:ext cx="11909501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946">
                  <a:extLst>
                    <a:ext uri="{9D8B030D-6E8A-4147-A177-3AD203B41FA5}">
                      <a16:colId xmlns:a16="http://schemas.microsoft.com/office/drawing/2014/main" val="1143062976"/>
                    </a:ext>
                  </a:extLst>
                </a:gridCol>
                <a:gridCol w="657922">
                  <a:extLst>
                    <a:ext uri="{9D8B030D-6E8A-4147-A177-3AD203B41FA5}">
                      <a16:colId xmlns:a16="http://schemas.microsoft.com/office/drawing/2014/main" val="2148649971"/>
                    </a:ext>
                  </a:extLst>
                </a:gridCol>
                <a:gridCol w="1047153">
                  <a:extLst>
                    <a:ext uri="{9D8B030D-6E8A-4147-A177-3AD203B41FA5}">
                      <a16:colId xmlns:a16="http://schemas.microsoft.com/office/drawing/2014/main" val="792951013"/>
                    </a:ext>
                  </a:extLst>
                </a:gridCol>
                <a:gridCol w="3234916">
                  <a:extLst>
                    <a:ext uri="{9D8B030D-6E8A-4147-A177-3AD203B41FA5}">
                      <a16:colId xmlns:a16="http://schemas.microsoft.com/office/drawing/2014/main" val="1480447786"/>
                    </a:ext>
                  </a:extLst>
                </a:gridCol>
                <a:gridCol w="4483055">
                  <a:extLst>
                    <a:ext uri="{9D8B030D-6E8A-4147-A177-3AD203B41FA5}">
                      <a16:colId xmlns:a16="http://schemas.microsoft.com/office/drawing/2014/main" val="1217986030"/>
                    </a:ext>
                  </a:extLst>
                </a:gridCol>
                <a:gridCol w="1605509">
                  <a:extLst>
                    <a:ext uri="{9D8B030D-6E8A-4147-A177-3AD203B41FA5}">
                      <a16:colId xmlns:a16="http://schemas.microsoft.com/office/drawing/2014/main" val="21823273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SMs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Lanes (TF32/FP64/INT)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cores per SM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Tensor tile sizes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1705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N/A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8659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 (mixed FP16/FP32)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8936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64/32/64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78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132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FP8</a:t>
                      </a:r>
                      <a:r>
                        <a:rPr lang="en-US" dirty="0"/>
                        <a:t>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16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074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128/64/64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 (</a:t>
                      </a:r>
                      <a:r>
                        <a:rPr lang="en-US" b="1" dirty="0"/>
                        <a:t>FP4</a:t>
                      </a:r>
                      <a:r>
                        <a:rPr lang="en-US" dirty="0"/>
                        <a:t>, </a:t>
                      </a:r>
                      <a:r>
                        <a:rPr lang="en-US" b="1" dirty="0"/>
                        <a:t>FP6</a:t>
                      </a:r>
                      <a:r>
                        <a:rPr lang="en-US" dirty="0"/>
                        <a:t>, FP8, FP16, BF16, TF32, FP64)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64 </a:t>
                      </a:r>
                      <a:r>
                        <a:rPr lang="en-US" dirty="0">
                          <a:sym typeface="Symbol" panose="05050102010706020507" pitchFamily="18" charset="2"/>
                        </a:rPr>
                        <a:t></a:t>
                      </a:r>
                      <a:r>
                        <a:rPr lang="en-US" dirty="0"/>
                        <a:t> 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7384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2DDE4-E08E-5211-BF8E-4CD6C1449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9BE9A-561D-D0A5-F935-B56B71236138}"/>
              </a:ext>
            </a:extLst>
          </p:cNvPr>
          <p:cNvGrpSpPr/>
          <p:nvPr/>
        </p:nvGrpSpPr>
        <p:grpSpPr>
          <a:xfrm>
            <a:off x="7939668" y="4061816"/>
            <a:ext cx="3679533" cy="1946470"/>
            <a:chOff x="7939668" y="4061816"/>
            <a:chExt cx="3679533" cy="194647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7270868-E82D-EAD1-4CFA-38AAAA8D6D4F}"/>
                </a:ext>
              </a:extLst>
            </p:cNvPr>
            <p:cNvSpPr txBox="1"/>
            <p:nvPr/>
          </p:nvSpPr>
          <p:spPr>
            <a:xfrm>
              <a:off x="7939668" y="5084956"/>
              <a:ext cx="3679533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E.g., for H100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FP32 peak </a:t>
              </a:r>
              <a:r>
                <a:rPr lang="en-US" dirty="0">
                  <a:sym typeface="Symbol" panose="05050102010706020507" pitchFamily="18" charset="2"/>
                </a:rPr>
                <a:t> 60 TFLOP/s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FP8 tensor peak   2000 TFLOP/s</a:t>
              </a:r>
              <a:endParaRPr lang="LID4096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DB7DE55-89F7-BF7E-1D19-34ADBF54F922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>
              <a:off x="8709102" y="4061816"/>
              <a:ext cx="1070333" cy="10231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75370D-7D2E-2DA2-F98F-11B7E8EA0694}"/>
              </a:ext>
            </a:extLst>
          </p:cNvPr>
          <p:cNvGrpSpPr/>
          <p:nvPr/>
        </p:nvGrpSpPr>
        <p:grpSpPr>
          <a:xfrm>
            <a:off x="2416467" y="4061816"/>
            <a:ext cx="4247125" cy="1914402"/>
            <a:chOff x="7939668" y="4093884"/>
            <a:chExt cx="4247125" cy="191440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6A7E2-0170-1D8C-8DC6-6AA282B3FA40}"/>
                </a:ext>
              </a:extLst>
            </p:cNvPr>
            <p:cNvSpPr txBox="1"/>
            <p:nvPr/>
          </p:nvSpPr>
          <p:spPr>
            <a:xfrm>
              <a:off x="7939668" y="5084956"/>
              <a:ext cx="4247125" cy="9233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32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1 warp instruction/cycle</a:t>
              </a:r>
              <a:endParaRPr lang="en-US" dirty="0">
                <a:sym typeface="Symbol" panose="05050102010706020507" pitchFamily="18" charset="2"/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64 lanes </a:t>
              </a:r>
              <a:r>
                <a:rPr lang="en-US" dirty="0">
                  <a:sym typeface="Symbol" panose="05050102010706020507" pitchFamily="18" charset="2"/>
                </a:rPr>
                <a:t></a:t>
              </a:r>
              <a:r>
                <a:rPr lang="en-US" dirty="0"/>
                <a:t> 2 warp instructions/cycle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ym typeface="Symbol" panose="05050102010706020507" pitchFamily="18" charset="2"/>
                </a:rPr>
                <a:t>128 lanes </a:t>
              </a:r>
              <a:r>
                <a:rPr lang="en-US" dirty="0"/>
                <a:t> 4 warp instructions/cycle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88CAC0-F643-0DE2-07C9-B2383978DF65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9671455" y="4093884"/>
              <a:ext cx="391776" cy="9910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38533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C62E-1C3F-F3B0-2C5D-414B12D1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NVLink</a:t>
            </a:r>
            <a:r>
              <a:rPr lang="en-US" dirty="0"/>
              <a:t> &amp; PCIe</a:t>
            </a:r>
            <a:endParaRPr lang="LID4096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A228F26-1D8B-CA33-9439-C3D8DB2886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9400718"/>
              </p:ext>
            </p:extLst>
          </p:nvPr>
        </p:nvGraphicFramePr>
        <p:xfrm>
          <a:off x="1491475" y="1937137"/>
          <a:ext cx="920905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393">
                  <a:extLst>
                    <a:ext uri="{9D8B030D-6E8A-4147-A177-3AD203B41FA5}">
                      <a16:colId xmlns:a16="http://schemas.microsoft.com/office/drawing/2014/main" val="721391912"/>
                    </a:ext>
                  </a:extLst>
                </a:gridCol>
                <a:gridCol w="1584548">
                  <a:extLst>
                    <a:ext uri="{9D8B030D-6E8A-4147-A177-3AD203B41FA5}">
                      <a16:colId xmlns:a16="http://schemas.microsoft.com/office/drawing/2014/main" val="1987130790"/>
                    </a:ext>
                  </a:extLst>
                </a:gridCol>
                <a:gridCol w="3229116">
                  <a:extLst>
                    <a:ext uri="{9D8B030D-6E8A-4147-A177-3AD203B41FA5}">
                      <a16:colId xmlns:a16="http://schemas.microsoft.com/office/drawing/2014/main" val="3476773505"/>
                    </a:ext>
                  </a:extLst>
                </a:gridCol>
                <a:gridCol w="3256993">
                  <a:extLst>
                    <a:ext uri="{9D8B030D-6E8A-4147-A177-3AD203B41FA5}">
                      <a16:colId xmlns:a16="http://schemas.microsoft.com/office/drawing/2014/main" val="17909826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Links/GPU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GPU-GPU bandwidth (Gb/s)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PCIe bandwidth (Gb/s)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806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 to 80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252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 (non-uniform)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430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2973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H100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5145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B200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600</a:t>
                      </a:r>
                      <a:endParaRPr lang="LID4096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128</a:t>
                      </a:r>
                      <a:endParaRPr lang="LID4096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62895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DFE7B-6E92-A45C-D71B-D151B7330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87503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5D352-F1AE-BB23-324F-4AB9EFD45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Impact on software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6E9A51-9F74-4BCC-5F7F-F702269715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memory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increase tile size</a:t>
            </a:r>
          </a:p>
          <a:p>
            <a:r>
              <a:rPr lang="en-US" dirty="0"/>
              <a:t>More L2 cache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ensure L2 locality</a:t>
            </a:r>
          </a:p>
          <a:p>
            <a:r>
              <a:rPr lang="en-US" dirty="0"/>
              <a:t>Tensor cores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exploit mixed precision</a:t>
            </a:r>
          </a:p>
          <a:p>
            <a:r>
              <a:rPr lang="en-US" dirty="0"/>
              <a:t>More instruction level parallelism </a:t>
            </a:r>
            <a:r>
              <a:rPr lang="en-US" dirty="0">
                <a:sym typeface="Symbol" panose="05050102010706020507" pitchFamily="18" charset="2"/>
              </a:rPr>
              <a:t></a:t>
            </a:r>
            <a:r>
              <a:rPr lang="en-US" dirty="0"/>
              <a:t> occupancy can decrease</a:t>
            </a:r>
          </a:p>
          <a:p>
            <a:r>
              <a:rPr lang="en-US" dirty="0"/>
              <a:t>Overlap memory transfer and computation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AB467-80B9-EAFD-87B0-6600B9072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EF0402-951C-D71C-B422-165CE2CF2B87}"/>
              </a:ext>
            </a:extLst>
          </p:cNvPr>
          <p:cNvSpPr txBox="1"/>
          <p:nvPr/>
        </p:nvSpPr>
        <p:spPr>
          <a:xfrm>
            <a:off x="4348976" y="4928839"/>
            <a:ext cx="206979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4800" dirty="0"/>
              <a:t>Profile!</a:t>
            </a:r>
            <a:endParaRPr lang="LID4096" sz="4800" dirty="0"/>
          </a:p>
        </p:txBody>
      </p:sp>
    </p:spTree>
    <p:extLst>
      <p:ext uri="{BB962C8B-B14F-4D97-AF65-F5344CB8AC3E}">
        <p14:creationId xmlns:p14="http://schemas.microsoft.com/office/powerpoint/2010/main" val="3847549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1761</TotalTime>
  <Words>1623</Words>
  <Application>Microsoft Office PowerPoint</Application>
  <PresentationFormat>Widescreen</PresentationFormat>
  <Paragraphs>502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1" baseType="lpstr">
      <vt:lpstr>Aptos</vt:lpstr>
      <vt:lpstr>Aptos Display</vt:lpstr>
      <vt:lpstr>Arial</vt:lpstr>
      <vt:lpstr>Calibri</vt:lpstr>
      <vt:lpstr>Cambria Math</vt:lpstr>
      <vt:lpstr>Courier New</vt:lpstr>
      <vt:lpstr>Symbol</vt:lpstr>
      <vt:lpstr>Office Theme</vt:lpstr>
      <vt:lpstr>GPU programming</vt:lpstr>
      <vt:lpstr>PowerPoint Presentation</vt:lpstr>
      <vt:lpstr>PowerPoint Presentation</vt:lpstr>
      <vt:lpstr>Typographical conventions I</vt:lpstr>
      <vt:lpstr>Typographical conventions II</vt:lpstr>
      <vt:lpstr>What do GPUs look like?</vt:lpstr>
      <vt:lpstr>Host-device model</vt:lpstr>
      <vt:lpstr>Offload model</vt:lpstr>
      <vt:lpstr>Host-device model implications</vt:lpstr>
      <vt:lpstr>GPU hardware</vt:lpstr>
      <vt:lpstr>GPU Streaming Multiprocessor (SM)</vt:lpstr>
      <vt:lpstr>GPU hardware execution model</vt:lpstr>
      <vt:lpstr>Branching on GPUs</vt:lpstr>
      <vt:lpstr>Tensor cores</vt:lpstr>
      <vt:lpstr>Multiple SMs</vt:lpstr>
      <vt:lpstr>GPU memory hierarchy</vt:lpstr>
      <vt:lpstr>Multiple GPUs/node, multiple nodes</vt:lpstr>
      <vt:lpstr>Bandwidth hierarchy</vt:lpstr>
      <vt:lpstr>Programming model</vt:lpstr>
      <vt:lpstr>Programming GPUs</vt:lpstr>
      <vt:lpstr>Memory management</vt:lpstr>
      <vt:lpstr>Kernels</vt:lpstr>
      <vt:lpstr>Threads, blocks &amp; grid</vt:lpstr>
      <vt:lpstr>Streaming Multiprocessors &amp; blocks</vt:lpstr>
      <vt:lpstr>Synchronization</vt:lpstr>
      <vt:lpstr>Inquiry functions &amp; configuration</vt:lpstr>
      <vt:lpstr>Performance considerations</vt:lpstr>
      <vt:lpstr>Evolution</vt:lpstr>
      <vt:lpstr>Architecture &amp; compute capability</vt:lpstr>
      <vt:lpstr>NVIDIA memory architecture</vt:lpstr>
      <vt:lpstr>NVIDIA SMs</vt:lpstr>
      <vt:lpstr>NVLink &amp; PCIe</vt:lpstr>
      <vt:lpstr>Impact on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26</cp:revision>
  <dcterms:created xsi:type="dcterms:W3CDTF">2025-01-17T10:10:41Z</dcterms:created>
  <dcterms:modified xsi:type="dcterms:W3CDTF">2026-05-06T08:43:50Z</dcterms:modified>
</cp:coreProperties>
</file>