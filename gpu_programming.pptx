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355" r:id="rId3"/>
    <p:sldId id="357" r:id="rId4"/>
    <p:sldId id="348" r:id="rId5"/>
    <p:sldId id="359" r:id="rId6"/>
    <p:sldId id="363" r:id="rId7"/>
    <p:sldId id="380" r:id="rId8"/>
    <p:sldId id="364" r:id="rId9"/>
    <p:sldId id="374" r:id="rId10"/>
    <p:sldId id="390" r:id="rId11"/>
    <p:sldId id="361" r:id="rId12"/>
    <p:sldId id="360" r:id="rId13"/>
    <p:sldId id="372" r:id="rId14"/>
    <p:sldId id="368" r:id="rId15"/>
    <p:sldId id="395" r:id="rId16"/>
    <p:sldId id="392" r:id="rId17"/>
    <p:sldId id="396" r:id="rId18"/>
    <p:sldId id="379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73" r:id="rId28"/>
    <p:sldId id="394" r:id="rId29"/>
    <p:sldId id="376" r:id="rId30"/>
    <p:sldId id="375" r:id="rId31"/>
    <p:sldId id="391" r:id="rId32"/>
    <p:sldId id="366" r:id="rId33"/>
    <p:sldId id="378" r:id="rId34"/>
    <p:sldId id="367" r:id="rId35"/>
    <p:sldId id="370" r:id="rId36"/>
    <p:sldId id="377" r:id="rId37"/>
    <p:sldId id="371" r:id="rId38"/>
    <p:sldId id="389" r:id="rId3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9AB0FB-8713-41BE-A0ED-74E55CAC7DAA}" v="1" dt="2025-11-03T12:53:01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rt Jan Bex" userId="b602d378c858ceb4" providerId="LiveId" clId="{F3ED9F1C-8CBC-4187-814C-78BF1965CBEE}"/>
    <pc:docChg chg="custSel modSld">
      <pc:chgData name="Geert Jan Bex" userId="b602d378c858ceb4" providerId="LiveId" clId="{F3ED9F1C-8CBC-4187-814C-78BF1965CBEE}" dt="2025-11-03T12:53:25.071" v="5" actId="1076"/>
      <pc:docMkLst>
        <pc:docMk/>
      </pc:docMkLst>
      <pc:sldChg chg="addSp delSp modSp mod">
        <pc:chgData name="Geert Jan Bex" userId="b602d378c858ceb4" providerId="LiveId" clId="{F3ED9F1C-8CBC-4187-814C-78BF1965CBEE}" dt="2025-11-03T12:53:25.071" v="5" actId="1076"/>
        <pc:sldMkLst>
          <pc:docMk/>
          <pc:sldMk cId="695502024" sldId="257"/>
        </pc:sldMkLst>
        <pc:picChg chg="del">
          <ac:chgData name="Geert Jan Bex" userId="b602d378c858ceb4" providerId="LiveId" clId="{F3ED9F1C-8CBC-4187-814C-78BF1965CBEE}" dt="2025-11-03T12:53:05.492" v="3" actId="478"/>
          <ac:picMkLst>
            <pc:docMk/>
            <pc:sldMk cId="695502024" sldId="257"/>
            <ac:picMk id="5" creationId="{728BE29A-27A3-AC41-EAC1-DA88C291BB39}"/>
          </ac:picMkLst>
        </pc:picChg>
        <pc:picChg chg="add mod">
          <ac:chgData name="Geert Jan Bex" userId="b602d378c858ceb4" providerId="LiveId" clId="{F3ED9F1C-8CBC-4187-814C-78BF1965CBEE}" dt="2025-11-03T12:53:25.071" v="5" actId="1076"/>
          <ac:picMkLst>
            <pc:docMk/>
            <pc:sldMk cId="695502024" sldId="257"/>
            <ac:picMk id="9" creationId="{7CCF5E5B-78F2-5787-8B30-ABBD2AC6FA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644CB-8FFF-4F59-B04D-9A1D2A5DB720}" type="datetimeFigureOut">
              <a:rPr lang="LID4096" smtClean="0"/>
              <a:t>08/09/2026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56DA1-3D99-4D19-9FEB-5AC9318F79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341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495A0-BC49-8BC7-1E67-C4B11669D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900E4-3B6F-DF8D-A7E9-E87ACA05A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996B0-26F5-65C2-4CAF-CF343A6F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7A01-813B-4B59-A1CC-F2D63921E46A}" type="datetime1">
              <a:rPr lang="LID4096" smtClean="0"/>
              <a:t>08/09/2026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FB615-95FB-1537-3191-B298AB7C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110DC-31BC-7B20-17FF-31063505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44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CFE0-2AC0-20ED-73B0-DFEFBB29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9922-9839-DC11-7C1D-ECADEB76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E9A3D-7BDD-6410-DA6F-FEFCD2B1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C8B8A-B2CE-4D78-88A4-476B2363B71E}" type="datetime1">
              <a:rPr lang="LID4096" smtClean="0"/>
              <a:t>08/09/2026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A90FE-55A1-7B15-FD37-1BCA33A2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E73B-D033-E0BF-6482-AD60F16D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708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239B-0275-2624-DB81-0073ABD4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DA172-6B82-EE0F-2416-127BEF687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CA1B6-427A-6E7C-2AFA-D1EAEBCD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B553-EE67-480E-BCE3-F64D7D51D294}" type="datetime1">
              <a:rPr lang="LID4096" smtClean="0"/>
              <a:t>08/09/2026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4012E-CDF7-D679-B514-2CBC536D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33E4-6D54-38AB-E9B4-2F51C281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924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B74F-C018-95A8-027A-3FF46422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A37D-E9D6-3DCD-59DF-8AF936E5B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F64B-0394-0D71-631C-C785F759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8D6A4-379D-4A0E-2836-A41BD4B4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0038-A599-4345-BE24-96A4E06BF8E3}" type="datetime1">
              <a:rPr lang="LID4096" smtClean="0"/>
              <a:t>08/09/2026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53563-6A2D-1248-28AA-B6430C38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9FB0A-1310-A96A-1402-36A73BD6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564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611B-B5B0-EDFB-DE7F-36186440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BDBDB-270E-7F86-324F-E5275BDC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95170-0ECD-519A-4581-6EE194EA8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B4056-2B27-C5AB-9540-BAFE7B980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B4B51-DA67-08D5-D585-5B6369365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C0D61-D66B-66F0-9E7A-3BFE464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19F7-59BE-4FD1-8AC5-F7BFCCA290D7}" type="datetime1">
              <a:rPr lang="LID4096" smtClean="0"/>
              <a:t>08/09/2026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55B6F-9C13-8619-447D-D1CD0CD5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414A0-6B8B-80E9-8AEB-4B2F55F3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408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8F80-DF2C-02C9-F9CE-30DC0A66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96BA8-AF4F-D72D-E98D-EA94266F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3A37-6A61-4F10-A100-9676ACB86039}" type="datetime1">
              <a:rPr lang="LID4096" smtClean="0"/>
              <a:t>08/09/2026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BF2A7-B010-2894-CC55-E9E63E8F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EC4B5-0741-2E3F-9A78-1C1E2C31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499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8C7838-3BAB-A1C5-8CAF-67D592D7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7F9-09CC-4C21-BDB8-90E2F1A013BD}" type="datetime1">
              <a:rPr lang="LID4096" smtClean="0"/>
              <a:t>08/09/2026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E5432-C801-692F-D338-B4F35007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32DF7-8080-EE34-A83E-73135A5F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970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F1D7-A6D5-40B8-8824-60E6BBAD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2DC19-502C-19DB-E622-A545A647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CAF2B-BDF8-72C4-8F9D-B0496957F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A98AF-1D79-A6B0-0497-39201954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66AE6-E2E5-4774-8434-34F2AD9BDDCE}" type="datetime1">
              <a:rPr lang="LID4096" smtClean="0"/>
              <a:t>08/09/2026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7578A-D2CE-562B-B989-7A69F4C63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916E7-788A-E49E-6DE8-14A3030F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982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6504-E5EE-54C4-AE3A-30ED4173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62CFE-64BD-F4E1-68C3-4B0B8476A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19B84-962A-EE60-E472-B2D374CDA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64168-CB93-11C4-544E-0B50C348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2CCE-BBFE-4BEC-9002-70F26B158681}" type="datetime1">
              <a:rPr lang="LID4096" smtClean="0"/>
              <a:t>08/09/2026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69202-8A06-0672-D078-63EC0700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8DC89-2294-2048-F46C-FCDE7846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628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E5A5-8380-474E-9718-DD7F07E6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302E5-27E2-6CFC-0B4D-DBC49A14C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5411E-6EB2-31BA-A950-D24D1E98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7740-B6F2-4CC5-9AD0-B161B943DB10}" type="datetime1">
              <a:rPr lang="LID4096" smtClean="0"/>
              <a:t>08/09/2026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D62B9-6717-ADE5-539C-1612B0F9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9D565-4095-C862-96BC-DFBD2667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641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14EFB7-D5E7-4262-8070-ADB45C08C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6F322-17F0-953A-FA92-92DF253EF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9FCB-D52F-974B-EE82-54AA1D31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025-8F26-4EDF-B991-413B82D6446E}" type="datetime1">
              <a:rPr lang="LID4096" smtClean="0"/>
              <a:t>08/09/2026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135FE-97EA-1624-7547-B5ADF59F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F64BE-0E81-3731-6FFD-F28281E7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335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3FA6B-4030-DE44-2291-F89E77FD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04096-10C6-4F5D-CB62-BDE1AE79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C22DB-A27F-EE11-EAEA-3A48DED31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5C0FD-7BB7-48C9-86F3-9771767F1BC3}" type="datetime1">
              <a:rPr lang="LID4096" smtClean="0"/>
              <a:t>08/09/2026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D8504-FCB1-8947-3439-E301FE05D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3685-9ED8-B0C8-595B-0FD604216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907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gjbex/GPU-programming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GPU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6841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74C2-95F1-B7A1-BE28-4F677A74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</a:t>
            </a:fld>
            <a:endParaRPr lang="LID4096"/>
          </a:p>
        </p:txBody>
      </p:sp>
      <p:pic>
        <p:nvPicPr>
          <p:cNvPr id="9" name="Picture 8" descr="A black text on an orange background&#10;&#10;AI-generated content may be incorrect.">
            <a:extLst>
              <a:ext uri="{FF2B5EF4-FFF2-40B4-BE49-F238E27FC236}">
                <a16:creationId xmlns:a16="http://schemas.microsoft.com/office/drawing/2014/main" id="{7CCF5E5B-78F2-5787-8B30-ABBD2AC6F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3" y="318938"/>
            <a:ext cx="4234543" cy="164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0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096" y="5445224"/>
            <a:ext cx="100038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2"/>
              </a:rPr>
              <a:t>https://github.com/gjbex/GPU-programming</a:t>
            </a:r>
            <a:r>
              <a:rPr lang="en-US" sz="40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748FA-3DAD-887F-51C8-0A0B7D38D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1285875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1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73A4FCC5-DC3D-4500-9780-EECF84D9A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70AEBC-58DC-06FC-AE67-813A2E7C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850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Good practice:</a:t>
            </a:r>
          </a:p>
          <a:p>
            <a:r>
              <a:rPr lang="en-US" dirty="0"/>
              <a:t>Bad practice:</a:t>
            </a:r>
          </a:p>
          <a:p>
            <a:r>
              <a:rPr lang="en-US" dirty="0"/>
              <a:t>(Potential) hazards/bugs:</a:t>
            </a:r>
          </a:p>
          <a:p>
            <a:r>
              <a:rPr lang="en-US" dirty="0"/>
              <a:t>Performance issue:</a:t>
            </a:r>
          </a:p>
          <a:p>
            <a:r>
              <a:rPr lang="en-US" dirty="0"/>
              <a:t>Performance boost:</a:t>
            </a:r>
          </a:p>
          <a:p>
            <a:r>
              <a:rPr lang="en-US" dirty="0"/>
              <a:t>Warning: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A05A-A776-4391-ACD7-D6BC34D3145C}" type="slidenum">
              <a:rPr lang="nl-BE" smtClean="0"/>
              <a:t>4</a:t>
            </a:fld>
            <a:endParaRPr lang="nl-BE"/>
          </a:p>
        </p:txBody>
      </p:sp>
      <p:pic>
        <p:nvPicPr>
          <p:cNvPr id="6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F0B1C861-027C-AE93-1BCB-962F1DBAB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709" y="2848092"/>
            <a:ext cx="566151" cy="58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lucg5005\AppData\Local\Microsoft\Windows\Temporary Internet Files\Content.IE5\T8RCCH8G\cute_snail_by_gniyuhs-d4lvbji[1].png">
            <a:extLst>
              <a:ext uri="{FF2B5EF4-FFF2-40B4-BE49-F238E27FC236}">
                <a16:creationId xmlns:a16="http://schemas.microsoft.com/office/drawing/2014/main" id="{9955A620-341D-09A8-65FD-6BB630BAC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303" y="3289451"/>
            <a:ext cx="724200" cy="7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 descr="Warning with solid fill">
            <a:extLst>
              <a:ext uri="{FF2B5EF4-FFF2-40B4-BE49-F238E27FC236}">
                <a16:creationId xmlns:a16="http://schemas.microsoft.com/office/drawing/2014/main" id="{024A877E-0481-E081-DA6C-323BCC25D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7197" y="4365888"/>
            <a:ext cx="648072" cy="648072"/>
          </a:xfrm>
          <a:prstGeom prst="rect">
            <a:avLst/>
          </a:prstGeom>
        </p:spPr>
      </p:pic>
      <p:pic>
        <p:nvPicPr>
          <p:cNvPr id="11" name="Graphic 10" descr="Thumbs up sign with solid fill">
            <a:extLst>
              <a:ext uri="{FF2B5EF4-FFF2-40B4-BE49-F238E27FC236}">
                <a16:creationId xmlns:a16="http://schemas.microsoft.com/office/drawing/2014/main" id="{CE1CDE01-821E-6748-0DC3-4FDB15D603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0247" y="1646238"/>
            <a:ext cx="724200" cy="724200"/>
          </a:xfrm>
          <a:prstGeom prst="rect">
            <a:avLst/>
          </a:prstGeom>
        </p:spPr>
      </p:pic>
      <p:pic>
        <p:nvPicPr>
          <p:cNvPr id="13" name="Graphic 12" descr="Thumbs Down with solid fill">
            <a:extLst>
              <a:ext uri="{FF2B5EF4-FFF2-40B4-BE49-F238E27FC236}">
                <a16:creationId xmlns:a16="http://schemas.microsoft.com/office/drawing/2014/main" id="{0BE55C85-E7E5-B333-4889-9C023DF91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0246" y="2305252"/>
            <a:ext cx="724201" cy="724201"/>
          </a:xfrm>
          <a:prstGeom prst="rect">
            <a:avLst/>
          </a:prstGeom>
        </p:spPr>
      </p:pic>
      <p:pic>
        <p:nvPicPr>
          <p:cNvPr id="10" name="Graphic 9" descr="Rocket with solid fill">
            <a:extLst>
              <a:ext uri="{FF2B5EF4-FFF2-40B4-BE49-F238E27FC236}">
                <a16:creationId xmlns:a16="http://schemas.microsoft.com/office/drawing/2014/main" id="{63E5ED3A-26B6-FB90-588A-730D06437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35303" y="3951218"/>
            <a:ext cx="566151" cy="5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239CD-4A90-8A38-5C6B-8C62A9EC5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GPUs look like?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B60C2-C9B7-C579-121D-ED18F0109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AE949-B6B6-179D-598F-375BC884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1091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7A5A-BB00-A8FA-A189-C6B736277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Host-device model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AACE9-CA0E-5422-7CB4-1CE3A154D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node has</a:t>
            </a:r>
          </a:p>
          <a:p>
            <a:pPr lvl="1"/>
            <a:r>
              <a:rPr lang="en-US" dirty="0"/>
              <a:t>1 or more CPUs</a:t>
            </a:r>
          </a:p>
          <a:p>
            <a:pPr lvl="1"/>
            <a:r>
              <a:rPr lang="en-US" dirty="0"/>
              <a:t>Volatile memory: RAM</a:t>
            </a:r>
          </a:p>
          <a:p>
            <a:pPr lvl="1"/>
            <a:r>
              <a:rPr lang="en-US" dirty="0"/>
              <a:t>PCIe bus with</a:t>
            </a:r>
          </a:p>
          <a:p>
            <a:pPr lvl="2"/>
            <a:r>
              <a:rPr lang="en-US" dirty="0"/>
              <a:t>1 or more GPUs</a:t>
            </a:r>
          </a:p>
          <a:p>
            <a:pPr lvl="2"/>
            <a:endParaRPr lang="en-US" dirty="0"/>
          </a:p>
          <a:p>
            <a:r>
              <a:rPr lang="en-US" dirty="0"/>
              <a:t>Application</a:t>
            </a:r>
          </a:p>
          <a:p>
            <a:pPr lvl="1"/>
            <a:r>
              <a:rPr lang="en-US" dirty="0"/>
              <a:t>Runs on host</a:t>
            </a:r>
          </a:p>
          <a:p>
            <a:pPr lvl="1"/>
            <a:r>
              <a:rPr lang="en-US" dirty="0"/>
              <a:t>Offloads computations to device(s)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748A0-5547-95D5-F136-AC3F281F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C384E5-E542-19A8-F5A0-2AB315B80468}"/>
              </a:ext>
            </a:extLst>
          </p:cNvPr>
          <p:cNvGrpSpPr/>
          <p:nvPr/>
        </p:nvGrpSpPr>
        <p:grpSpPr>
          <a:xfrm>
            <a:off x="5649686" y="2383971"/>
            <a:ext cx="1107329" cy="576943"/>
            <a:chOff x="5649686" y="2383971"/>
            <a:chExt cx="1107329" cy="576943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B62ADAAC-4B14-C887-97C9-72FE9F4232FE}"/>
                </a:ext>
              </a:extLst>
            </p:cNvPr>
            <p:cNvSpPr/>
            <p:nvPr/>
          </p:nvSpPr>
          <p:spPr>
            <a:xfrm>
              <a:off x="5649686" y="2383971"/>
              <a:ext cx="217714" cy="57694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26FA8E-A03C-EF77-37A5-DBC5080BEC48}"/>
                </a:ext>
              </a:extLst>
            </p:cNvPr>
            <p:cNvSpPr txBox="1"/>
            <p:nvPr/>
          </p:nvSpPr>
          <p:spPr>
            <a:xfrm>
              <a:off x="6096000" y="2495828"/>
              <a:ext cx="661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Host</a:t>
              </a:r>
              <a:endParaRPr lang="LID4096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770EC82-91F8-C1C5-3CDD-0B8E0AF0E62E}"/>
              </a:ext>
            </a:extLst>
          </p:cNvPr>
          <p:cNvGrpSpPr/>
          <p:nvPr/>
        </p:nvGrpSpPr>
        <p:grpSpPr>
          <a:xfrm>
            <a:off x="5715000" y="3429000"/>
            <a:ext cx="1560465" cy="576943"/>
            <a:chOff x="5649686" y="2383971"/>
            <a:chExt cx="1560465" cy="576943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C4FBA4E1-010F-3C68-B67A-ED692BD39C5C}"/>
                </a:ext>
              </a:extLst>
            </p:cNvPr>
            <p:cNvSpPr/>
            <p:nvPr/>
          </p:nvSpPr>
          <p:spPr>
            <a:xfrm>
              <a:off x="5649686" y="2383971"/>
              <a:ext cx="217714" cy="57694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36B339-9E3C-8A11-89DE-E648C30B3E65}"/>
                </a:ext>
              </a:extLst>
            </p:cNvPr>
            <p:cNvSpPr txBox="1"/>
            <p:nvPr/>
          </p:nvSpPr>
          <p:spPr>
            <a:xfrm>
              <a:off x="6096000" y="2495828"/>
              <a:ext cx="11141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Device(s)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259240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BAA3-2584-996F-71D0-9B1D50644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Offload model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6562D-2474-E073-3912-3230E394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</a:t>
            </a:fld>
            <a:endParaRPr lang="LID4096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3A536-CEFF-6E94-A45A-42F94351F670}"/>
              </a:ext>
            </a:extLst>
          </p:cNvPr>
          <p:cNvCxnSpPr>
            <a:cxnSpLocks/>
          </p:cNvCxnSpPr>
          <p:nvPr/>
        </p:nvCxnSpPr>
        <p:spPr>
          <a:xfrm>
            <a:off x="2693023" y="4622183"/>
            <a:ext cx="629486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342EBF-F609-0E3E-93A4-E7C1AFC20DA7}"/>
              </a:ext>
            </a:extLst>
          </p:cNvPr>
          <p:cNvCxnSpPr>
            <a:cxnSpLocks/>
          </p:cNvCxnSpPr>
          <p:nvPr/>
        </p:nvCxnSpPr>
        <p:spPr>
          <a:xfrm>
            <a:off x="2693023" y="3980019"/>
            <a:ext cx="629486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6F5031-350B-2D65-6CDA-40214C715887}"/>
              </a:ext>
            </a:extLst>
          </p:cNvPr>
          <p:cNvCxnSpPr>
            <a:cxnSpLocks/>
          </p:cNvCxnSpPr>
          <p:nvPr/>
        </p:nvCxnSpPr>
        <p:spPr>
          <a:xfrm>
            <a:off x="2693023" y="3337856"/>
            <a:ext cx="629486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FCF2C0-9B6A-C37A-2D82-CB28D9A20AD1}"/>
              </a:ext>
            </a:extLst>
          </p:cNvPr>
          <p:cNvCxnSpPr>
            <a:cxnSpLocks/>
          </p:cNvCxnSpPr>
          <p:nvPr/>
        </p:nvCxnSpPr>
        <p:spPr>
          <a:xfrm>
            <a:off x="2693022" y="2695693"/>
            <a:ext cx="629486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FD1D72-BC72-A5A1-DEB5-7D2F21D9EE69}"/>
              </a:ext>
            </a:extLst>
          </p:cNvPr>
          <p:cNvSpPr/>
          <p:nvPr/>
        </p:nvSpPr>
        <p:spPr>
          <a:xfrm>
            <a:off x="4036743" y="3443104"/>
            <a:ext cx="149426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DC976F4-84A9-6B98-8818-ADDCC6CE2B37}"/>
              </a:ext>
            </a:extLst>
          </p:cNvPr>
          <p:cNvSpPr/>
          <p:nvPr/>
        </p:nvSpPr>
        <p:spPr>
          <a:xfrm>
            <a:off x="4902821" y="4097196"/>
            <a:ext cx="149426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1EBD221-F4F8-02C6-BFA2-350FC7F41788}"/>
              </a:ext>
            </a:extLst>
          </p:cNvPr>
          <p:cNvSpPr/>
          <p:nvPr/>
        </p:nvSpPr>
        <p:spPr>
          <a:xfrm>
            <a:off x="4944497" y="2806738"/>
            <a:ext cx="57243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647E394-EC37-20C2-3071-92B2B71A7D50}"/>
              </a:ext>
            </a:extLst>
          </p:cNvPr>
          <p:cNvSpPr/>
          <p:nvPr/>
        </p:nvSpPr>
        <p:spPr>
          <a:xfrm>
            <a:off x="6463998" y="3443104"/>
            <a:ext cx="149426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8EDD89-F21A-A894-11C6-C1D3A1DE0A35}"/>
              </a:ext>
            </a:extLst>
          </p:cNvPr>
          <p:cNvSpPr/>
          <p:nvPr/>
        </p:nvSpPr>
        <p:spPr>
          <a:xfrm>
            <a:off x="7357023" y="4097196"/>
            <a:ext cx="149426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05D9C00-D5B1-B150-DA2D-E0E0C132E972}"/>
              </a:ext>
            </a:extLst>
          </p:cNvPr>
          <p:cNvSpPr/>
          <p:nvPr/>
        </p:nvSpPr>
        <p:spPr>
          <a:xfrm>
            <a:off x="7399497" y="2806738"/>
            <a:ext cx="57243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43FFD93-25D3-ECCE-5C65-7B0DC1F8F808}"/>
              </a:ext>
            </a:extLst>
          </p:cNvPr>
          <p:cNvSpPr/>
          <p:nvPr/>
        </p:nvSpPr>
        <p:spPr>
          <a:xfrm>
            <a:off x="2797356" y="2806738"/>
            <a:ext cx="264574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F064B8-574A-935C-552B-061F1630ED60}"/>
              </a:ext>
            </a:extLst>
          </p:cNvPr>
          <p:cNvSpPr txBox="1"/>
          <p:nvPr/>
        </p:nvSpPr>
        <p:spPr>
          <a:xfrm>
            <a:off x="1784195" y="2832415"/>
            <a:ext cx="66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</a:t>
            </a:r>
            <a:endParaRPr lang="LID4096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62D446-2AF3-4531-2310-7E2EC181B490}"/>
              </a:ext>
            </a:extLst>
          </p:cNvPr>
          <p:cNvSpPr txBox="1"/>
          <p:nvPr/>
        </p:nvSpPr>
        <p:spPr>
          <a:xfrm>
            <a:off x="1784195" y="3453162"/>
            <a:ext cx="949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</a:t>
            </a:r>
            <a:r>
              <a:rPr lang="en-US" baseline="-25000" dirty="0"/>
              <a:t>0</a:t>
            </a:r>
            <a:endParaRPr lang="LID4096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6217A7-F18C-952A-53B9-D85BAA03C5A8}"/>
              </a:ext>
            </a:extLst>
          </p:cNvPr>
          <p:cNvSpPr txBox="1"/>
          <p:nvPr/>
        </p:nvSpPr>
        <p:spPr>
          <a:xfrm>
            <a:off x="1784195" y="4180634"/>
            <a:ext cx="949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</a:t>
            </a:r>
            <a:r>
              <a:rPr lang="en-US" baseline="-25000" dirty="0"/>
              <a:t>1</a:t>
            </a:r>
            <a:endParaRPr lang="LID4096" baseline="-250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FD86EBB-6412-EAC4-0293-F2351575AFC6}"/>
              </a:ext>
            </a:extLst>
          </p:cNvPr>
          <p:cNvGrpSpPr/>
          <p:nvPr/>
        </p:nvGrpSpPr>
        <p:grpSpPr>
          <a:xfrm>
            <a:off x="3169063" y="2806738"/>
            <a:ext cx="713678" cy="1048955"/>
            <a:chOff x="3169063" y="2806738"/>
            <a:chExt cx="713678" cy="104895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30BE0F1-E9E6-4040-C88F-DC95DEE7512B}"/>
                </a:ext>
              </a:extLst>
            </p:cNvPr>
            <p:cNvSpPr/>
            <p:nvPr/>
          </p:nvSpPr>
          <p:spPr>
            <a:xfrm>
              <a:off x="3169063" y="3443104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BE331AA-43EE-7F1E-0EB7-0ACBCBB4122A}"/>
                </a:ext>
              </a:extLst>
            </p:cNvPr>
            <p:cNvSpPr/>
            <p:nvPr/>
          </p:nvSpPr>
          <p:spPr>
            <a:xfrm>
              <a:off x="3169063" y="2806738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7BA6531-7665-63D6-A1FB-29131EB06777}"/>
                </a:ext>
              </a:extLst>
            </p:cNvPr>
            <p:cNvCxnSpPr>
              <a:cxnSpLocks/>
            </p:cNvCxnSpPr>
            <p:nvPr/>
          </p:nvCxnSpPr>
          <p:spPr>
            <a:xfrm>
              <a:off x="3525902" y="2983114"/>
              <a:ext cx="0" cy="709484"/>
            </a:xfrm>
            <a:prstGeom prst="straightConnector1">
              <a:avLst/>
            </a:prstGeom>
            <a:ln>
              <a:solidFill>
                <a:schemeClr val="tx2"/>
              </a:solidFill>
              <a:headEnd type="stealth" w="lg" len="lg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D049E47-B468-84CC-92A6-7AA268B759A7}"/>
              </a:ext>
            </a:extLst>
          </p:cNvPr>
          <p:cNvGrpSpPr/>
          <p:nvPr/>
        </p:nvGrpSpPr>
        <p:grpSpPr>
          <a:xfrm>
            <a:off x="5640663" y="2806738"/>
            <a:ext cx="713678" cy="1048955"/>
            <a:chOff x="5640663" y="2806738"/>
            <a:chExt cx="713678" cy="1048955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4800363-249A-82A8-80AD-138AF28708B9}"/>
                </a:ext>
              </a:extLst>
            </p:cNvPr>
            <p:cNvSpPr/>
            <p:nvPr/>
          </p:nvSpPr>
          <p:spPr>
            <a:xfrm>
              <a:off x="5640663" y="3443104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3F823BB-1C94-9394-B532-273271B6F2AA}"/>
                </a:ext>
              </a:extLst>
            </p:cNvPr>
            <p:cNvSpPr/>
            <p:nvPr/>
          </p:nvSpPr>
          <p:spPr>
            <a:xfrm>
              <a:off x="5640663" y="2806738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E6EADDE-B9E8-FCBC-0CC5-44D87C8457D2}"/>
                </a:ext>
              </a:extLst>
            </p:cNvPr>
            <p:cNvCxnSpPr>
              <a:cxnSpLocks/>
            </p:cNvCxnSpPr>
            <p:nvPr/>
          </p:nvCxnSpPr>
          <p:spPr>
            <a:xfrm>
              <a:off x="5997502" y="2983114"/>
              <a:ext cx="0" cy="709484"/>
            </a:xfrm>
            <a:prstGeom prst="straightConnector1">
              <a:avLst/>
            </a:prstGeom>
            <a:ln>
              <a:solidFill>
                <a:schemeClr val="tx2"/>
              </a:solidFill>
              <a:headEnd type="stealth" w="lg" len="lg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2ADFF4-A7D5-E5F7-0B18-A1523BC85E4C}"/>
              </a:ext>
            </a:extLst>
          </p:cNvPr>
          <p:cNvGrpSpPr/>
          <p:nvPr/>
        </p:nvGrpSpPr>
        <p:grpSpPr>
          <a:xfrm>
            <a:off x="8212874" y="2806738"/>
            <a:ext cx="713678" cy="1048955"/>
            <a:chOff x="8212874" y="2806738"/>
            <a:chExt cx="713678" cy="104895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059E29E-1E54-17DC-86DE-EEA94E974345}"/>
                </a:ext>
              </a:extLst>
            </p:cNvPr>
            <p:cNvSpPr/>
            <p:nvPr/>
          </p:nvSpPr>
          <p:spPr>
            <a:xfrm>
              <a:off x="8212874" y="3443104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72FB46E-FE5D-F7E7-A788-6952A709E017}"/>
                </a:ext>
              </a:extLst>
            </p:cNvPr>
            <p:cNvSpPr/>
            <p:nvPr/>
          </p:nvSpPr>
          <p:spPr>
            <a:xfrm>
              <a:off x="8212874" y="2806738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079AF66-68EE-F813-3C9C-8A75AAC9DB78}"/>
                </a:ext>
              </a:extLst>
            </p:cNvPr>
            <p:cNvCxnSpPr>
              <a:cxnSpLocks/>
            </p:cNvCxnSpPr>
            <p:nvPr/>
          </p:nvCxnSpPr>
          <p:spPr>
            <a:xfrm>
              <a:off x="8569713" y="2983114"/>
              <a:ext cx="0" cy="709484"/>
            </a:xfrm>
            <a:prstGeom prst="straightConnector1">
              <a:avLst/>
            </a:prstGeom>
            <a:ln>
              <a:solidFill>
                <a:schemeClr val="tx2"/>
              </a:solidFill>
              <a:headEnd type="stealth" w="lg" len="lg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8114AE-D043-D64F-9F05-5F6E4DDA2948}"/>
              </a:ext>
            </a:extLst>
          </p:cNvPr>
          <p:cNvGrpSpPr/>
          <p:nvPr/>
        </p:nvGrpSpPr>
        <p:grpSpPr>
          <a:xfrm>
            <a:off x="4036744" y="2806738"/>
            <a:ext cx="733714" cy="1703047"/>
            <a:chOff x="4036744" y="2806738"/>
            <a:chExt cx="733714" cy="170304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7D0DEBD-8C75-9E72-C69A-1D41C34594C4}"/>
                </a:ext>
              </a:extLst>
            </p:cNvPr>
            <p:cNvSpPr/>
            <p:nvPr/>
          </p:nvSpPr>
          <p:spPr>
            <a:xfrm>
              <a:off x="4036744" y="4097196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7FA62BE-D6A5-9EC9-32AE-44546D678E8D}"/>
                </a:ext>
              </a:extLst>
            </p:cNvPr>
            <p:cNvSpPr/>
            <p:nvPr/>
          </p:nvSpPr>
          <p:spPr>
            <a:xfrm>
              <a:off x="4056780" y="2806738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0F9B607-823A-859B-36E6-C7109BBCCA8D}"/>
                </a:ext>
              </a:extLst>
            </p:cNvPr>
            <p:cNvCxnSpPr>
              <a:cxnSpLocks/>
            </p:cNvCxnSpPr>
            <p:nvPr/>
          </p:nvCxnSpPr>
          <p:spPr>
            <a:xfrm>
              <a:off x="4413619" y="2983114"/>
              <a:ext cx="0" cy="1320376"/>
            </a:xfrm>
            <a:prstGeom prst="straightConnector1">
              <a:avLst/>
            </a:prstGeom>
            <a:ln>
              <a:solidFill>
                <a:schemeClr val="tx2"/>
              </a:solidFill>
              <a:headEnd type="stealth" w="lg" len="lg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574FF04-B2C9-6B45-536B-503F941E3C2C}"/>
              </a:ext>
            </a:extLst>
          </p:cNvPr>
          <p:cNvGrpSpPr/>
          <p:nvPr/>
        </p:nvGrpSpPr>
        <p:grpSpPr>
          <a:xfrm>
            <a:off x="6514186" y="2806738"/>
            <a:ext cx="713678" cy="1703047"/>
            <a:chOff x="6514186" y="2806738"/>
            <a:chExt cx="713678" cy="170304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FD859FA-5880-6774-8D27-8B6540301580}"/>
                </a:ext>
              </a:extLst>
            </p:cNvPr>
            <p:cNvSpPr/>
            <p:nvPr/>
          </p:nvSpPr>
          <p:spPr>
            <a:xfrm>
              <a:off x="6514186" y="4097196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D8691F2-8079-1FC1-DC9C-266016F0C754}"/>
                </a:ext>
              </a:extLst>
            </p:cNvPr>
            <p:cNvSpPr/>
            <p:nvPr/>
          </p:nvSpPr>
          <p:spPr>
            <a:xfrm>
              <a:off x="6514186" y="2806738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03277CD-7E1E-01BC-532F-903F9DF5D5F8}"/>
                </a:ext>
              </a:extLst>
            </p:cNvPr>
            <p:cNvCxnSpPr>
              <a:cxnSpLocks/>
            </p:cNvCxnSpPr>
            <p:nvPr/>
          </p:nvCxnSpPr>
          <p:spPr>
            <a:xfrm>
              <a:off x="6871025" y="2983114"/>
              <a:ext cx="0" cy="1320376"/>
            </a:xfrm>
            <a:prstGeom prst="straightConnector1">
              <a:avLst/>
            </a:prstGeom>
            <a:ln>
              <a:solidFill>
                <a:schemeClr val="tx2"/>
              </a:solidFill>
              <a:headEnd type="stealth" w="lg" len="lg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2444B1B-857A-F932-E07C-88D7BA0159EE}"/>
              </a:ext>
            </a:extLst>
          </p:cNvPr>
          <p:cNvSpPr txBox="1"/>
          <p:nvPr/>
        </p:nvSpPr>
        <p:spPr>
          <a:xfrm>
            <a:off x="9324038" y="3270918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ym typeface="Symbol" panose="05050102010706020507" pitchFamily="18" charset="2"/>
              </a:rPr>
              <a:t></a:t>
            </a:r>
            <a:endParaRPr lang="LID4096" sz="3200" b="1" dirty="0"/>
          </a:p>
        </p:txBody>
      </p:sp>
    </p:spTree>
    <p:extLst>
      <p:ext uri="{BB962C8B-B14F-4D97-AF65-F5344CB8AC3E}">
        <p14:creationId xmlns:p14="http://schemas.microsoft.com/office/powerpoint/2010/main" val="171304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4" grpId="0" animBg="1"/>
      <p:bldP spid="25" grpId="0" animBg="1"/>
      <p:bldP spid="26" grpId="0" animBg="1"/>
      <p:bldP spid="29" grpId="0" animBg="1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1FB9-B329-65CF-97C6-B02E71CF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Host-device model implications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A86A2-8D93-970A-134B-F521A8891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Explicit data transfer between host and device</a:t>
            </a:r>
          </a:p>
          <a:p>
            <a:r>
              <a:rPr lang="en-US" dirty="0"/>
              <a:t>Explicit synchronization</a:t>
            </a:r>
          </a:p>
          <a:p>
            <a:pPr lvl="1"/>
            <a:r>
              <a:rPr lang="en-US" dirty="0"/>
              <a:t>Avoid race conditions</a:t>
            </a:r>
          </a:p>
          <a:p>
            <a:r>
              <a:rPr lang="en-US" dirty="0"/>
              <a:t>Interconnect latency/bandwidth</a:t>
            </a:r>
          </a:p>
          <a:p>
            <a:pPr lvl="1"/>
            <a:r>
              <a:rPr lang="en-US" dirty="0"/>
              <a:t>Potential performance bottleneck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4E565-AADA-0294-F7F4-B095F759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D213C-BB3D-F3CA-351A-D76E1F24DF1F}"/>
              </a:ext>
            </a:extLst>
          </p:cNvPr>
          <p:cNvSpPr txBox="1"/>
          <p:nvPr/>
        </p:nvSpPr>
        <p:spPr>
          <a:xfrm>
            <a:off x="2932771" y="4705815"/>
            <a:ext cx="584903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Hardware details matter</a:t>
            </a:r>
            <a:r>
              <a:rPr lang="en-US" sz="3200" dirty="0">
                <a:sym typeface="Symbol" panose="05050102010706020507" pitchFamily="18" charset="2"/>
              </a:rPr>
              <a:t> a lot!</a:t>
            </a:r>
            <a:endParaRPr lang="LID4096" sz="3200" dirty="0"/>
          </a:p>
        </p:txBody>
      </p:sp>
    </p:spTree>
    <p:extLst>
      <p:ext uri="{BB962C8B-B14F-4D97-AF65-F5344CB8AC3E}">
        <p14:creationId xmlns:p14="http://schemas.microsoft.com/office/powerpoint/2010/main" val="10755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Electronic circuit board">
            <a:extLst>
              <a:ext uri="{FF2B5EF4-FFF2-40B4-BE49-F238E27FC236}">
                <a16:creationId xmlns:a16="http://schemas.microsoft.com/office/drawing/2014/main" id="{C29C3DE4-E022-9448-D014-F63D95702C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14CFB5C-EB10-4A02-3BD2-60706DC9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GPU hardware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04F1AE-CC81-FDCF-E4A4-CFBFEEEDA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7F1CB-18FA-659E-6530-B17C8C405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9C7CE217-4467-4B8D-A735-B008FA7C4816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9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56144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1B5D2-96A5-D890-6353-57A600FB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 crosswalk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EFB8C49-1D2F-4F23-EE4C-88BCBC50B3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691393"/>
              </p:ext>
            </p:extLst>
          </p:nvPr>
        </p:nvGraphicFramePr>
        <p:xfrm>
          <a:off x="838200" y="1825625"/>
          <a:ext cx="10515597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884">
                  <a:extLst>
                    <a:ext uri="{9D8B030D-6E8A-4147-A177-3AD203B41FA5}">
                      <a16:colId xmlns:a16="http://schemas.microsoft.com/office/drawing/2014/main" val="415567423"/>
                    </a:ext>
                  </a:extLst>
                </a:gridCol>
                <a:gridCol w="3460955">
                  <a:extLst>
                    <a:ext uri="{9D8B030D-6E8A-4147-A177-3AD203B41FA5}">
                      <a16:colId xmlns:a16="http://schemas.microsoft.com/office/drawing/2014/main" val="1975082975"/>
                    </a:ext>
                  </a:extLst>
                </a:gridCol>
                <a:gridCol w="4087758">
                  <a:extLst>
                    <a:ext uri="{9D8B030D-6E8A-4147-A177-3AD203B41FA5}">
                      <a16:colId xmlns:a16="http://schemas.microsoft.com/office/drawing/2014/main" val="2808466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Concept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NVIDIA/CUDA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AMD Instinct/HIP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986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Compute unit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Streaming Multiprocessor (SM)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 Unit (CU)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98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Execution subgroup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Warp, 32 threads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Wavefront, 64 work items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37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Cooperative thread group (work-group)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Thread block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Work-group/thread block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135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Work-group local scratchpad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Shared memory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 Data Share (LDS)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49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Register resources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Register file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Scalar &amp; vector registers (SGPR/VGPR)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80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Matrix accelerator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Tensor core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Matrix core/MFMA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810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Architecture target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 capability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GFX target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26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interconnect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NVLink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NVSwitch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Infinity Fabric/</a:t>
                      </a:r>
                      <a:r>
                        <a:rPr lang="en-US" dirty="0" err="1"/>
                        <a:t>xGMI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221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Collective library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NCCL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RCCL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21489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2E9E2-073A-90CE-2AA2-5B734B5D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0116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AA9E-31EA-3F47-05AF-BEBF363A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unit execution model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8033F-C9D0-0C94-9DEA-B9DD9E507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SIMT: </a:t>
            </a:r>
            <a:r>
              <a:rPr lang="en-US" b="1" dirty="0"/>
              <a:t>S</a:t>
            </a:r>
            <a:r>
              <a:rPr lang="en-US" dirty="0"/>
              <a:t>ingle </a:t>
            </a:r>
            <a:r>
              <a:rPr lang="en-US" b="1" dirty="0"/>
              <a:t>I</a:t>
            </a:r>
            <a:r>
              <a:rPr lang="en-US" dirty="0"/>
              <a:t>nstruction, </a:t>
            </a:r>
            <a:r>
              <a:rPr lang="en-US" b="1" dirty="0"/>
              <a:t>M</a:t>
            </a:r>
            <a:r>
              <a:rPr lang="en-US" dirty="0"/>
              <a:t>ultiple </a:t>
            </a:r>
            <a:r>
              <a:rPr lang="en-US" b="1" dirty="0"/>
              <a:t>T</a:t>
            </a:r>
            <a:r>
              <a:rPr lang="en-US" dirty="0"/>
              <a:t>hreads</a:t>
            </a:r>
          </a:p>
          <a:p>
            <a:pPr lvl="1"/>
            <a:r>
              <a:rPr lang="en-US" dirty="0"/>
              <a:t>threads grouped in execution subgroups</a:t>
            </a:r>
          </a:p>
          <a:p>
            <a:pPr lvl="1"/>
            <a:r>
              <a:rPr lang="en-US" dirty="0"/>
              <a:t>Threads in subgroup execute same instruction on different data</a:t>
            </a:r>
          </a:p>
          <a:p>
            <a:r>
              <a:rPr lang="en-US" dirty="0"/>
              <a:t>Branching</a:t>
            </a:r>
          </a:p>
          <a:p>
            <a:pPr lvl="1"/>
            <a:r>
              <a:rPr lang="en-US" dirty="0"/>
              <a:t>Cheap </a:t>
            </a:r>
            <a:r>
              <a:rPr lang="en-US" b="1" i="1" dirty="0">
                <a:solidFill>
                  <a:srgbClr val="FF0000"/>
                </a:solidFill>
              </a:rPr>
              <a:t>if threads in subgroup agree</a:t>
            </a:r>
          </a:p>
          <a:p>
            <a:pPr lvl="1"/>
            <a:r>
              <a:rPr lang="en-US" dirty="0"/>
              <a:t>Divergence leads to</a:t>
            </a:r>
          </a:p>
          <a:p>
            <a:pPr lvl="2"/>
            <a:r>
              <a:rPr lang="en-US" dirty="0"/>
              <a:t>Masking of inactive threads</a:t>
            </a:r>
          </a:p>
          <a:p>
            <a:pPr lvl="2"/>
            <a:r>
              <a:rPr lang="en-US" dirty="0"/>
              <a:t>Execution of both paths</a:t>
            </a:r>
          </a:p>
          <a:p>
            <a:pPr lvl="1"/>
            <a:r>
              <a:rPr lang="en-US" dirty="0"/>
              <a:t>Try to avoid branching</a:t>
            </a:r>
          </a:p>
          <a:p>
            <a:pPr lvl="2"/>
            <a:r>
              <a:rPr lang="en-US" dirty="0"/>
              <a:t>Code structure</a:t>
            </a:r>
          </a:p>
          <a:p>
            <a:pPr lvl="2"/>
            <a:r>
              <a:rPr lang="en-US" dirty="0"/>
              <a:t>Data layout</a:t>
            </a:r>
          </a:p>
          <a:p>
            <a:r>
              <a:rPr lang="en-US" dirty="0"/>
              <a:t>Execution subgroups grouped in work-groups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335AB-22E1-E8B6-8BDC-22C7F0EE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11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7D3F10-6961-0438-15B9-FC9B9F611403}"/>
              </a:ext>
            </a:extLst>
          </p:cNvPr>
          <p:cNvGrpSpPr/>
          <p:nvPr/>
        </p:nvGrpSpPr>
        <p:grpSpPr>
          <a:xfrm>
            <a:off x="6096000" y="3477727"/>
            <a:ext cx="3886200" cy="1008957"/>
            <a:chOff x="6096000" y="2420043"/>
            <a:chExt cx="3886200" cy="100895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C49E860-E75C-82D4-EEE7-8087C14F720A}"/>
                </a:ext>
              </a:extLst>
            </p:cNvPr>
            <p:cNvSpPr txBox="1"/>
            <p:nvPr/>
          </p:nvSpPr>
          <p:spPr>
            <a:xfrm>
              <a:off x="6096000" y="2905780"/>
              <a:ext cx="33335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ym typeface="Symbol" panose="05050102010706020507" pitchFamily="18" charset="2"/>
                </a:rPr>
                <a:t></a:t>
              </a:r>
              <a:r>
                <a:rPr lang="en-US" sz="2800" dirty="0"/>
                <a:t> performance loss</a:t>
              </a:r>
              <a:endParaRPr lang="LID4096" sz="2800" dirty="0"/>
            </a:p>
          </p:txBody>
        </p:sp>
        <p:pic>
          <p:nvPicPr>
            <p:cNvPr id="6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D55DAA7A-EC03-CDCF-954A-387B1507C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0112" y="2420043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2649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7FD0-C943-411C-6710-2F8B2D12A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unit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4CEF8-DE8E-BDF0-7D6E-2C079FB12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24135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Instruction schedulers select ready execution subgroups</a:t>
            </a:r>
          </a:p>
          <a:p>
            <a:r>
              <a:rPr lang="en-US" dirty="0"/>
              <a:t>Simple architecture</a:t>
            </a:r>
          </a:p>
          <a:p>
            <a:pPr lvl="1"/>
            <a:r>
              <a:rPr lang="en-US" dirty="0"/>
              <a:t>No complex per-thread CPU-style execution</a:t>
            </a:r>
          </a:p>
          <a:p>
            <a:pPr lvl="1"/>
            <a:r>
              <a:rPr lang="en-US" dirty="0"/>
              <a:t>Latency hiding: many resident execution subgroups</a:t>
            </a:r>
          </a:p>
          <a:p>
            <a:r>
              <a:rPr lang="en-US" dirty="0"/>
              <a:t>Pipelines for</a:t>
            </a:r>
          </a:p>
          <a:p>
            <a:pPr lvl="1"/>
            <a:r>
              <a:rPr lang="en-US" dirty="0"/>
              <a:t>Floating point</a:t>
            </a:r>
          </a:p>
          <a:p>
            <a:pPr lvl="1"/>
            <a:r>
              <a:rPr lang="en-US" dirty="0"/>
              <a:t>integer</a:t>
            </a:r>
          </a:p>
          <a:p>
            <a:pPr lvl="1"/>
            <a:r>
              <a:rPr lang="en-US" dirty="0"/>
              <a:t>Matrix </a:t>
            </a:r>
            <a:r>
              <a:rPr lang="en-US" dirty="0" err="1"/>
              <a:t>acceletion</a:t>
            </a:r>
            <a:endParaRPr lang="en-US" dirty="0"/>
          </a:p>
          <a:p>
            <a:r>
              <a:rPr lang="en-US" dirty="0"/>
              <a:t>Load/store units</a:t>
            </a:r>
          </a:p>
          <a:p>
            <a:r>
              <a:rPr lang="en-US" dirty="0"/>
              <a:t>Register resources (thread-private) </a:t>
            </a:r>
          </a:p>
          <a:p>
            <a:r>
              <a:rPr lang="en-US" dirty="0"/>
              <a:t>Hardware managed local cache</a:t>
            </a:r>
          </a:p>
          <a:p>
            <a:r>
              <a:rPr lang="en-US" dirty="0"/>
              <a:t>Work-group local software managed scratchpad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768A8-BEC1-3A5A-9109-13B5BD0F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12</a:t>
            </a:fld>
            <a:endParaRPr lang="LID4096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579B38A-4EC1-E296-AE13-0416398070C6}"/>
              </a:ext>
            </a:extLst>
          </p:cNvPr>
          <p:cNvGrpSpPr/>
          <p:nvPr/>
        </p:nvGrpSpPr>
        <p:grpSpPr>
          <a:xfrm>
            <a:off x="7929716" y="602225"/>
            <a:ext cx="3692013" cy="5653549"/>
            <a:chOff x="7929716" y="602225"/>
            <a:chExt cx="3692013" cy="565354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3240E08-06AF-819D-CCBA-A422A054F809}"/>
                </a:ext>
              </a:extLst>
            </p:cNvPr>
            <p:cNvGrpSpPr/>
            <p:nvPr/>
          </p:nvGrpSpPr>
          <p:grpSpPr>
            <a:xfrm>
              <a:off x="8308258" y="3240574"/>
              <a:ext cx="344137" cy="3015200"/>
              <a:chOff x="8308258" y="3240574"/>
              <a:chExt cx="344137" cy="3015200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FB285C6-4ED9-4A1A-0787-D015EA8BC3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08258" y="3240574"/>
                <a:ext cx="0" cy="3015200"/>
              </a:xfrm>
              <a:prstGeom prst="lin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594F383-A5EB-6DF3-D560-59CB8DE6D9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8098" y="3733085"/>
                <a:ext cx="334296" cy="0"/>
              </a:xfrm>
              <a:prstGeom prst="lin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89F059C-2143-35AB-1061-603F7D7A7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3182" y="4308271"/>
                <a:ext cx="334296" cy="0"/>
              </a:xfrm>
              <a:prstGeom prst="lin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11DF1EE-B566-E2B0-EB9F-1FE5647D92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8099" y="4962119"/>
                <a:ext cx="334296" cy="0"/>
              </a:xfrm>
              <a:prstGeom prst="lin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0871940-66EF-E82B-19C8-D55E97A55ECE}"/>
                </a:ext>
              </a:extLst>
            </p:cNvPr>
            <p:cNvSpPr/>
            <p:nvPr/>
          </p:nvSpPr>
          <p:spPr>
            <a:xfrm>
              <a:off x="8511050" y="3480158"/>
              <a:ext cx="1769806" cy="48178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Registers</a:t>
              </a:r>
              <a:endParaRPr lang="LID4096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8BB63D2-3245-730C-D5B0-0D92370B28B8}"/>
                </a:ext>
              </a:extLst>
            </p:cNvPr>
            <p:cNvSpPr/>
            <p:nvPr/>
          </p:nvSpPr>
          <p:spPr>
            <a:xfrm>
              <a:off x="8511050" y="4096876"/>
              <a:ext cx="1769806" cy="48178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Scratchpad</a:t>
              </a:r>
              <a:endParaRPr lang="LID4096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E543B6E-BBFD-581A-383A-6A4231EC67A4}"/>
                </a:ext>
              </a:extLst>
            </p:cNvPr>
            <p:cNvSpPr/>
            <p:nvPr/>
          </p:nvSpPr>
          <p:spPr>
            <a:xfrm>
              <a:off x="8511050" y="4708884"/>
              <a:ext cx="1769806" cy="48178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Cache</a:t>
              </a:r>
              <a:endParaRPr lang="LID4096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C3039D3-A0ED-B007-30F8-6DF40A01C305}"/>
                </a:ext>
              </a:extLst>
            </p:cNvPr>
            <p:cNvSpPr/>
            <p:nvPr/>
          </p:nvSpPr>
          <p:spPr>
            <a:xfrm>
              <a:off x="8131278" y="1395334"/>
              <a:ext cx="1307690" cy="481781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Scheduder</a:t>
              </a:r>
              <a:endParaRPr lang="LID4096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FC7469C-DB9A-0D85-805D-85EC64275622}"/>
                </a:ext>
              </a:extLst>
            </p:cNvPr>
            <p:cNvSpPr/>
            <p:nvPr/>
          </p:nvSpPr>
          <p:spPr>
            <a:xfrm>
              <a:off x="8131278" y="2056502"/>
              <a:ext cx="1307690" cy="481781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Scheduder</a:t>
              </a:r>
              <a:endParaRPr lang="LID4096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AA92DED-575F-779F-91BE-F9824CD062AC}"/>
                </a:ext>
              </a:extLst>
            </p:cNvPr>
            <p:cNvSpPr/>
            <p:nvPr/>
          </p:nvSpPr>
          <p:spPr>
            <a:xfrm>
              <a:off x="9640530" y="1154444"/>
              <a:ext cx="1769806" cy="481781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FP pipeline</a:t>
              </a:r>
              <a:endParaRPr lang="LID4096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4FE4217-E967-85D6-3CF3-47999112FAE8}"/>
                </a:ext>
              </a:extLst>
            </p:cNvPr>
            <p:cNvSpPr/>
            <p:nvPr/>
          </p:nvSpPr>
          <p:spPr>
            <a:xfrm>
              <a:off x="9640530" y="1689688"/>
              <a:ext cx="1769806" cy="481781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 pipeline</a:t>
              </a:r>
              <a:endParaRPr lang="LID4096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9C3F5CE-A108-ECB4-5168-3918CE319DB6}"/>
                </a:ext>
              </a:extLst>
            </p:cNvPr>
            <p:cNvSpPr/>
            <p:nvPr/>
          </p:nvSpPr>
          <p:spPr>
            <a:xfrm>
              <a:off x="9640530" y="2235506"/>
              <a:ext cx="1769806" cy="67816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Matrix accelerator</a:t>
              </a:r>
              <a:endParaRPr lang="LID4096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BDF15D4-6139-9970-B9AC-02653FF8FB29}"/>
                </a:ext>
              </a:extLst>
            </p:cNvPr>
            <p:cNvSpPr/>
            <p:nvPr/>
          </p:nvSpPr>
          <p:spPr>
            <a:xfrm>
              <a:off x="8131278" y="2758793"/>
              <a:ext cx="1307690" cy="481781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LD/ST</a:t>
              </a:r>
              <a:endParaRPr lang="LID4096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E559E39-2426-AEC2-6C62-6DC3B347D2A0}"/>
                </a:ext>
              </a:extLst>
            </p:cNvPr>
            <p:cNvSpPr txBox="1"/>
            <p:nvPr/>
          </p:nvSpPr>
          <p:spPr>
            <a:xfrm>
              <a:off x="8998682" y="652601"/>
              <a:ext cx="1554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Compute unit</a:t>
              </a:r>
              <a:endParaRPr lang="LID4096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FCB65FB-9E5C-23EE-3D7E-9513A82AD375}"/>
                </a:ext>
              </a:extLst>
            </p:cNvPr>
            <p:cNvSpPr/>
            <p:nvPr/>
          </p:nvSpPr>
          <p:spPr>
            <a:xfrm>
              <a:off x="7929716" y="602225"/>
              <a:ext cx="3692013" cy="4900049"/>
            </a:xfrm>
            <a:prstGeom prst="round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235864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47C1-0E9D-1305-65C7-523715CD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accelerators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22ED49-DA71-3DF4-0757-97FB6FBD67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43561"/>
                <a:ext cx="10515600" cy="3333402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Computed as many small tiles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LID4096" dirty="0"/>
              </a:p>
              <a:p>
                <a:pPr lvl="1"/>
                <a:r>
                  <a:rPr lang="en-US" dirty="0"/>
                  <a:t>C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Tile size depends on</a:t>
                </a:r>
              </a:p>
              <a:p>
                <a:pPr lvl="1"/>
                <a:r>
                  <a:rPr lang="en-US" dirty="0"/>
                  <a:t>Data type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Architecture target</a:t>
                </a:r>
              </a:p>
              <a:p>
                <a:r>
                  <a:rPr lang="en-US" dirty="0"/>
                  <a:t>Performance: matrix accelerators TFLOP/s &gt;&gt; compute unit TFLOP/s</a:t>
                </a:r>
                <a:endParaRPr lang="LID4096" dirty="0"/>
              </a:p>
              <a:p>
                <a:pPr lvl="1"/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22ED49-DA71-3DF4-0757-97FB6FBD67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43561"/>
                <a:ext cx="10515600" cy="3333402"/>
              </a:xfrm>
              <a:blipFill>
                <a:blip r:embed="rId2"/>
                <a:stretch>
                  <a:fillRect l="-928" t="-2742" b="-23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C0179-8216-00A2-1A08-909EDD85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13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1C814-837B-35E0-84C2-AE6076733D61}"/>
                  </a:ext>
                </a:extLst>
              </p:cNvPr>
              <p:cNvSpPr txBox="1"/>
              <p:nvPr/>
            </p:nvSpPr>
            <p:spPr>
              <a:xfrm>
                <a:off x="2065674" y="1870075"/>
                <a:ext cx="7916526" cy="53091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/>
                  <a:t> where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800" dirty="0"/>
                  <a:t>, B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LID4096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1C814-837B-35E0-84C2-AE6076733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674" y="1870075"/>
                <a:ext cx="7916526" cy="530915"/>
              </a:xfrm>
              <a:prstGeom prst="rect">
                <a:avLst/>
              </a:prstGeom>
              <a:blipFill>
                <a:blip r:embed="rId3"/>
                <a:stretch>
                  <a:fillRect t="-10112" b="-292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phic 7" descr="Rocket with solid fill">
            <a:extLst>
              <a:ext uri="{FF2B5EF4-FFF2-40B4-BE49-F238E27FC236}">
                <a16:creationId xmlns:a16="http://schemas.microsoft.com/office/drawing/2014/main" id="{300B133E-172B-593E-E3F3-9D2EE607BA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9620" y="5417430"/>
            <a:ext cx="566151" cy="5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39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17E9-5C15-395B-1A43-78BF4587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compute units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0A4EA-D1B0-B9F7-062D-2CFC54882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7344" cy="4351338"/>
          </a:xfrm>
        </p:spPr>
        <p:txBody>
          <a:bodyPr/>
          <a:lstStyle/>
          <a:p>
            <a:r>
              <a:rPr lang="en-US" dirty="0"/>
              <a:t>GPU has many compute units</a:t>
            </a:r>
          </a:p>
          <a:p>
            <a:pPr lvl="1"/>
            <a:endParaRPr lang="en-US" dirty="0"/>
          </a:p>
          <a:p>
            <a:r>
              <a:rPr lang="en-US" dirty="0"/>
              <a:t>Connected to device memory fabric</a:t>
            </a:r>
          </a:p>
          <a:p>
            <a:pPr lvl="1"/>
            <a:r>
              <a:rPr lang="en-US" dirty="0"/>
              <a:t>Device-level cache(s)</a:t>
            </a:r>
          </a:p>
          <a:p>
            <a:pPr lvl="1"/>
            <a:r>
              <a:rPr lang="en-US" dirty="0" err="1"/>
              <a:t>Devide</a:t>
            </a:r>
            <a:r>
              <a:rPr lang="en-US" dirty="0"/>
              <a:t>-level memory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08B94-8A77-9227-ECA1-7E71062A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14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BA53254-B65D-D76C-D56B-AF7B0CA5AC61}"/>
              </a:ext>
            </a:extLst>
          </p:cNvPr>
          <p:cNvGrpSpPr/>
          <p:nvPr/>
        </p:nvGrpSpPr>
        <p:grpSpPr>
          <a:xfrm>
            <a:off x="1538242" y="4857442"/>
            <a:ext cx="4083859" cy="935319"/>
            <a:chOff x="4092498" y="4734412"/>
            <a:chExt cx="4083859" cy="93531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1A396AD-374B-302B-913D-1701B47E26CB}"/>
                </a:ext>
              </a:extLst>
            </p:cNvPr>
            <p:cNvSpPr txBox="1"/>
            <p:nvPr/>
          </p:nvSpPr>
          <p:spPr>
            <a:xfrm>
              <a:off x="4092498" y="5084956"/>
              <a:ext cx="3800784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Massive parallelism!</a:t>
              </a:r>
              <a:endParaRPr lang="LID4096" sz="3200" dirty="0"/>
            </a:p>
          </p:txBody>
        </p:sp>
        <p:pic>
          <p:nvPicPr>
            <p:cNvPr id="6" name="Graphic 5" descr="Rocket with solid fill">
              <a:extLst>
                <a:ext uri="{FF2B5EF4-FFF2-40B4-BE49-F238E27FC236}">
                  <a16:creationId xmlns:a16="http://schemas.microsoft.com/office/drawing/2014/main" id="{DD2AA5ED-9C9A-E540-1EAE-BE62F5F2F9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610206" y="4734412"/>
              <a:ext cx="566151" cy="566151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D6657D2-93E4-FD40-EBEC-34E71CCA9525}"/>
              </a:ext>
            </a:extLst>
          </p:cNvPr>
          <p:cNvGrpSpPr/>
          <p:nvPr/>
        </p:nvGrpSpPr>
        <p:grpSpPr>
          <a:xfrm>
            <a:off x="6518786" y="1248699"/>
            <a:ext cx="5330745" cy="4670320"/>
            <a:chOff x="6322142" y="1248699"/>
            <a:chExt cx="5330745" cy="467032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A3DF8AD-3B8D-8381-02C6-4106EFF1F431}"/>
                </a:ext>
              </a:extLst>
            </p:cNvPr>
            <p:cNvGrpSpPr/>
            <p:nvPr/>
          </p:nvGrpSpPr>
          <p:grpSpPr>
            <a:xfrm>
              <a:off x="6528619" y="1679327"/>
              <a:ext cx="4825181" cy="3164054"/>
              <a:chOff x="6528619" y="1679327"/>
              <a:chExt cx="4825181" cy="3164054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9C39D043-226E-4E58-CBC2-E0EAA2041F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28619" y="1690688"/>
                <a:ext cx="1140060" cy="1641124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F0C5D11D-187A-62E3-F0E7-868566DF6D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12442" y="1690688"/>
                <a:ext cx="1140060" cy="1641124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15759DCC-F11D-922A-3CBB-A41ADE3EC3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13740" y="1679327"/>
                <a:ext cx="1140060" cy="1641124"/>
              </a:xfrm>
              <a:prstGeom prst="rect">
                <a:avLst/>
              </a:prstGeom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3BB796B-ACC9-46ED-605A-B77B96109855}"/>
                  </a:ext>
                </a:extLst>
              </p:cNvPr>
              <p:cNvSpPr txBox="1"/>
              <p:nvPr/>
            </p:nvSpPr>
            <p:spPr>
              <a:xfrm>
                <a:off x="9287542" y="2113936"/>
                <a:ext cx="5437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ym typeface="Symbol" panose="05050102010706020507" pitchFamily="18" charset="2"/>
                  </a:rPr>
                  <a:t></a:t>
                </a:r>
                <a:endParaRPr lang="LID4096" sz="2800" dirty="0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088664A-0C51-B2C9-4FD2-1247E21EE9B5}"/>
                  </a:ext>
                </a:extLst>
              </p:cNvPr>
              <p:cNvCxnSpPr/>
              <p:nvPr/>
            </p:nvCxnSpPr>
            <p:spPr>
              <a:xfrm>
                <a:off x="6666271" y="3331812"/>
                <a:ext cx="367726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9741F5E0-9733-47B3-E9F8-B711D3D81EC9}"/>
                  </a:ext>
                </a:extLst>
              </p:cNvPr>
              <p:cNvGrpSpPr/>
              <p:nvPr/>
            </p:nvGrpSpPr>
            <p:grpSpPr>
              <a:xfrm>
                <a:off x="7668679" y="3320451"/>
                <a:ext cx="1769806" cy="761465"/>
                <a:chOff x="7668679" y="3320451"/>
                <a:chExt cx="1769806" cy="761465"/>
              </a:xfrm>
            </p:grpSpPr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023B71A9-7982-A975-EA5C-1E3C66CB6FE7}"/>
                    </a:ext>
                  </a:extLst>
                </p:cNvPr>
                <p:cNvCxnSpPr/>
                <p:nvPr/>
              </p:nvCxnSpPr>
              <p:spPr>
                <a:xfrm>
                  <a:off x="8504903" y="3320451"/>
                  <a:ext cx="0" cy="268323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2C7886DF-1AEC-CA7C-EC61-9418E22B5455}"/>
                    </a:ext>
                  </a:extLst>
                </p:cNvPr>
                <p:cNvSpPr/>
                <p:nvPr/>
              </p:nvSpPr>
              <p:spPr>
                <a:xfrm>
                  <a:off x="7668679" y="3600135"/>
                  <a:ext cx="1769806" cy="481781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Cache</a:t>
                  </a:r>
                  <a:endParaRPr lang="LID4096" dirty="0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353450C-1660-8E86-CA37-315B293A1AFA}"/>
                  </a:ext>
                </a:extLst>
              </p:cNvPr>
              <p:cNvGrpSpPr/>
              <p:nvPr/>
            </p:nvGrpSpPr>
            <p:grpSpPr>
              <a:xfrm>
                <a:off x="7668679" y="4081916"/>
                <a:ext cx="1769806" cy="761465"/>
                <a:chOff x="7668679" y="3320451"/>
                <a:chExt cx="1769806" cy="761465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5C06AE5B-DFAD-B18B-9B55-1430025A7B58}"/>
                    </a:ext>
                  </a:extLst>
                </p:cNvPr>
                <p:cNvCxnSpPr/>
                <p:nvPr/>
              </p:nvCxnSpPr>
              <p:spPr>
                <a:xfrm>
                  <a:off x="8504903" y="3320451"/>
                  <a:ext cx="0" cy="268323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028BAA6B-3C7B-6173-C73F-C9F57F673252}"/>
                    </a:ext>
                  </a:extLst>
                </p:cNvPr>
                <p:cNvSpPr/>
                <p:nvPr/>
              </p:nvSpPr>
              <p:spPr>
                <a:xfrm>
                  <a:off x="7668679" y="3600135"/>
                  <a:ext cx="1769806" cy="481781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Memory</a:t>
                  </a:r>
                  <a:endParaRPr lang="LID4096" dirty="0"/>
                </a:p>
              </p:txBody>
            </p:sp>
          </p:grpSp>
        </p:grp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13BA846-1C14-504A-CED1-D5667E0C26D1}"/>
                </a:ext>
              </a:extLst>
            </p:cNvPr>
            <p:cNvSpPr/>
            <p:nvPr/>
          </p:nvSpPr>
          <p:spPr>
            <a:xfrm>
              <a:off x="6322142" y="1248699"/>
              <a:ext cx="5330745" cy="3800628"/>
            </a:xfrm>
            <a:prstGeom prst="round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588633D-AC93-76E6-16B6-00C330FD9083}"/>
                </a:ext>
              </a:extLst>
            </p:cNvPr>
            <p:cNvGrpSpPr/>
            <p:nvPr/>
          </p:nvGrpSpPr>
          <p:grpSpPr>
            <a:xfrm>
              <a:off x="7295534" y="3775587"/>
              <a:ext cx="363799" cy="2143432"/>
              <a:chOff x="7295534" y="3775587"/>
              <a:chExt cx="363799" cy="2143432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5DE442E-7C40-0D4B-9DF0-ADCE60EF4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5037" y="4627821"/>
                <a:ext cx="334296" cy="0"/>
              </a:xfrm>
              <a:prstGeom prst="lin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580749C-AD10-9960-2B06-4DF614A383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5534" y="3775587"/>
                <a:ext cx="0" cy="2143432"/>
              </a:xfrm>
              <a:prstGeom prst="lin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E56B6A4-DB52-89EC-B18E-731C8D1E7632}"/>
                </a:ext>
              </a:extLst>
            </p:cNvPr>
            <p:cNvSpPr txBox="1"/>
            <p:nvPr/>
          </p:nvSpPr>
          <p:spPr>
            <a:xfrm>
              <a:off x="8640544" y="1285028"/>
              <a:ext cx="6383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GPU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208695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D459-A9B4-F45C-92EC-E582CC71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hierarchy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25C1FEF-07DB-C16B-3220-81B76B096A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2473870"/>
              </p:ext>
            </p:extLst>
          </p:nvPr>
        </p:nvGraphicFramePr>
        <p:xfrm>
          <a:off x="838200" y="1825625"/>
          <a:ext cx="10515597" cy="2564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59914872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4283996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55644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Meory</a:t>
                      </a:r>
                      <a:r>
                        <a:rPr lang="en-US" dirty="0"/>
                        <a:t> resource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Conceptual scope/role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Managed by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77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Register resources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Active work item, subgroup state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Compiler and hardware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387825"/>
                  </a:ext>
                </a:extLst>
              </a:tr>
              <a:tr h="441366">
                <a:tc>
                  <a:txBody>
                    <a:bodyPr/>
                    <a:lstStyle/>
                    <a:p>
                      <a:r>
                        <a:rPr lang="en-US" dirty="0"/>
                        <a:t>Work-group local scratchpad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Visible to work-group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49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Hardware-managed local cashes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Accelerate memory access near CU or CU cluster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77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Device-level cache (L2)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Serves all CUs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720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Device-level memory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Accessible to all work-groups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Program/runtime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97383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1DB7B-E6E8-5E39-A4B5-01967451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15</a:t>
            </a:fld>
            <a:endParaRPr lang="LID4096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882DF8-9527-D10A-2AF2-413739E2E949}"/>
              </a:ext>
            </a:extLst>
          </p:cNvPr>
          <p:cNvGrpSpPr/>
          <p:nvPr/>
        </p:nvGrpSpPr>
        <p:grpSpPr>
          <a:xfrm>
            <a:off x="501445" y="2084439"/>
            <a:ext cx="1245391" cy="3279680"/>
            <a:chOff x="501445" y="2084439"/>
            <a:chExt cx="1245391" cy="327968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1798403-608B-EBAA-E809-7EBE8A0E9304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5" y="2084439"/>
              <a:ext cx="0" cy="327968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3B8CAF3-BE2E-BDBC-A01D-FFB62BA7EED2}"/>
                </a:ext>
              </a:extLst>
            </p:cNvPr>
            <p:cNvSpPr txBox="1"/>
            <p:nvPr/>
          </p:nvSpPr>
          <p:spPr>
            <a:xfrm>
              <a:off x="639097" y="4784129"/>
              <a:ext cx="11077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Latency</a:t>
              </a:r>
              <a:endParaRPr lang="LID4096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CAC19C-E209-222F-16DE-638FA4B4D698}"/>
              </a:ext>
            </a:extLst>
          </p:cNvPr>
          <p:cNvGrpSpPr/>
          <p:nvPr/>
        </p:nvGrpSpPr>
        <p:grpSpPr>
          <a:xfrm>
            <a:off x="10806499" y="2084439"/>
            <a:ext cx="854555" cy="3279680"/>
            <a:chOff x="-353110" y="2084439"/>
            <a:chExt cx="854555" cy="327968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9108366-57CA-F4F6-5D38-098209971655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5" y="2084439"/>
              <a:ext cx="0" cy="327968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3D2BB83-1275-EA3B-25C5-497C5DB4AD2C}"/>
                </a:ext>
              </a:extLst>
            </p:cNvPr>
            <p:cNvSpPr txBox="1"/>
            <p:nvPr/>
          </p:nvSpPr>
          <p:spPr>
            <a:xfrm>
              <a:off x="-353110" y="4784129"/>
              <a:ext cx="6664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Size</a:t>
              </a:r>
              <a:endParaRPr lang="LID4096" sz="20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4314220-B4DC-E22D-B769-F7FE91D7D3D7}"/>
              </a:ext>
            </a:extLst>
          </p:cNvPr>
          <p:cNvGrpSpPr/>
          <p:nvPr/>
        </p:nvGrpSpPr>
        <p:grpSpPr>
          <a:xfrm>
            <a:off x="1746836" y="4804223"/>
            <a:ext cx="5773681" cy="760032"/>
            <a:chOff x="1628078" y="5790199"/>
            <a:chExt cx="5773681" cy="7600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5D34BD2-E566-8072-4BC3-7564760E03A9}"/>
                </a:ext>
              </a:extLst>
            </p:cNvPr>
            <p:cNvSpPr txBox="1"/>
            <p:nvPr/>
          </p:nvSpPr>
          <p:spPr>
            <a:xfrm>
              <a:off x="1628078" y="6088566"/>
              <a:ext cx="549060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Latency hiding through oversubscription</a:t>
              </a:r>
              <a:endParaRPr lang="LID4096" sz="2400" dirty="0"/>
            </a:p>
          </p:txBody>
        </p:sp>
        <p:pic>
          <p:nvPicPr>
            <p:cNvPr id="17" name="Graphic 16" descr="Rocket with solid fill">
              <a:extLst>
                <a:ext uri="{FF2B5EF4-FFF2-40B4-BE49-F238E27FC236}">
                  <a16:creationId xmlns:a16="http://schemas.microsoft.com/office/drawing/2014/main" id="{7012293D-C02E-69A1-8627-30067FCEA3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835608" y="5790199"/>
              <a:ext cx="566151" cy="56615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149C66-B985-05D8-DE8A-F580D03D247E}"/>
              </a:ext>
            </a:extLst>
          </p:cNvPr>
          <p:cNvGrpSpPr/>
          <p:nvPr/>
        </p:nvGrpSpPr>
        <p:grpSpPr>
          <a:xfrm>
            <a:off x="1405464" y="5536567"/>
            <a:ext cx="9797079" cy="1002345"/>
            <a:chOff x="2475571" y="4711545"/>
            <a:chExt cx="9797079" cy="100234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4281021-57EF-3616-E7AD-6799593D8E04}"/>
                </a:ext>
              </a:extLst>
            </p:cNvPr>
            <p:cNvSpPr txBox="1"/>
            <p:nvPr/>
          </p:nvSpPr>
          <p:spPr>
            <a:xfrm>
              <a:off x="2475571" y="5252225"/>
              <a:ext cx="9401035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Registers + scratchpad </a:t>
              </a:r>
              <a:r>
                <a:rPr lang="en-US" sz="2400" dirty="0">
                  <a:sym typeface="Symbol" panose="05050102010706020507" pitchFamily="18" charset="2"/>
                </a:rPr>
                <a:t></a:t>
              </a:r>
              <a:r>
                <a:rPr lang="en-US" sz="2400" dirty="0"/>
                <a:t> resident work-groups, work-times per group</a:t>
              </a:r>
              <a:endParaRPr lang="LID4096" sz="2400" dirty="0"/>
            </a:p>
          </p:txBody>
        </p:sp>
        <p:pic>
          <p:nvPicPr>
            <p:cNvPr id="20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9D8CAE5C-785A-BC28-8914-B943095400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80562" y="4711545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645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2C80E-80A9-B145-F16E-91CEF679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8F646-D9FE-9326-0531-71F3DA832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GPUs/node, multiple nodes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A4C27-C5F5-22DD-C78D-9C23CC254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92329" cy="4351338"/>
          </a:xfrm>
        </p:spPr>
        <p:txBody>
          <a:bodyPr/>
          <a:lstStyle/>
          <a:p>
            <a:r>
              <a:rPr lang="en-US" dirty="0"/>
              <a:t>Typically, 4-8 GPUs/node</a:t>
            </a:r>
          </a:p>
          <a:p>
            <a:pPr lvl="1"/>
            <a:r>
              <a:rPr lang="en-US" dirty="0"/>
              <a:t>Connected via GPU interconnect</a:t>
            </a:r>
          </a:p>
          <a:p>
            <a:pPr lvl="1"/>
            <a:r>
              <a:rPr lang="en-US" dirty="0"/>
              <a:t>PCIe connection to host</a:t>
            </a:r>
          </a:p>
          <a:p>
            <a:r>
              <a:rPr lang="en-US" dirty="0"/>
              <a:t>Nodes connected via high-bandwidth/low-latency network interconnect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95B30-EF3A-8982-843A-6D896986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16</a:t>
            </a:fld>
            <a:endParaRPr lang="LID4096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EA5E7C2-7C97-8726-8565-55781FDF633D}"/>
              </a:ext>
            </a:extLst>
          </p:cNvPr>
          <p:cNvGrpSpPr/>
          <p:nvPr/>
        </p:nvGrpSpPr>
        <p:grpSpPr>
          <a:xfrm>
            <a:off x="5702710" y="1354907"/>
            <a:ext cx="4279490" cy="3944681"/>
            <a:chOff x="5702710" y="1512222"/>
            <a:chExt cx="4279490" cy="394468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9918A1-C3C6-6E37-51E6-0F8CE02D1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30529" y="2014731"/>
              <a:ext cx="1598056" cy="132556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1D92B04-97D1-BE2A-23B3-5C71F4F52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8374" y="2014731"/>
              <a:ext cx="1598056" cy="132556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AE4EA8-F952-5400-0B07-188BE0B7EB3B}"/>
                </a:ext>
              </a:extLst>
            </p:cNvPr>
            <p:cNvSpPr txBox="1"/>
            <p:nvPr/>
          </p:nvSpPr>
          <p:spPr>
            <a:xfrm>
              <a:off x="7464635" y="2281085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ym typeface="Symbol" panose="05050102010706020507" pitchFamily="18" charset="2"/>
                </a:rPr>
                <a:t></a:t>
              </a:r>
              <a:endParaRPr lang="LID4096" sz="2800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102241C-A783-90B0-60C7-628CF77CC0B6}"/>
                </a:ext>
              </a:extLst>
            </p:cNvPr>
            <p:cNvCxnSpPr>
              <a:cxnSpLocks/>
            </p:cNvCxnSpPr>
            <p:nvPr/>
          </p:nvCxnSpPr>
          <p:spPr>
            <a:xfrm>
              <a:off x="6145163" y="3340294"/>
              <a:ext cx="215326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9100120-EDFA-5A9D-3E4B-C8FF63DCD5F5}"/>
                </a:ext>
              </a:extLst>
            </p:cNvPr>
            <p:cNvSpPr/>
            <p:nvPr/>
          </p:nvSpPr>
          <p:spPr>
            <a:xfrm>
              <a:off x="6784258" y="3689800"/>
              <a:ext cx="1140541" cy="481781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CPU(s)</a:t>
              </a:r>
              <a:endParaRPr lang="LID4096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71C8B58-9147-A294-1DCC-F078BCE84A61}"/>
                </a:ext>
              </a:extLst>
            </p:cNvPr>
            <p:cNvCxnSpPr>
              <a:stCxn id="16" idx="0"/>
            </p:cNvCxnSpPr>
            <p:nvPr/>
          </p:nvCxnSpPr>
          <p:spPr>
            <a:xfrm flipV="1">
              <a:off x="7354529" y="3340294"/>
              <a:ext cx="0" cy="3495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08419C7-9BA6-A1BD-00DA-3436CFC0873E}"/>
                </a:ext>
              </a:extLst>
            </p:cNvPr>
            <p:cNvSpPr/>
            <p:nvPr/>
          </p:nvSpPr>
          <p:spPr>
            <a:xfrm>
              <a:off x="6459793" y="4607431"/>
              <a:ext cx="1789469" cy="48178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 memory</a:t>
              </a:r>
              <a:endParaRPr lang="LID4096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38DA646-BA1B-F13C-DDED-9545E292BCB4}"/>
                </a:ext>
              </a:extLst>
            </p:cNvPr>
            <p:cNvCxnSpPr>
              <a:stCxn id="20" idx="0"/>
              <a:endCxn id="16" idx="2"/>
            </p:cNvCxnSpPr>
            <p:nvPr/>
          </p:nvCxnSpPr>
          <p:spPr>
            <a:xfrm flipV="1">
              <a:off x="7354528" y="4171581"/>
              <a:ext cx="1" cy="4358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4E4D18B-8CEC-878A-37C9-445639D8D6F2}"/>
                </a:ext>
              </a:extLst>
            </p:cNvPr>
            <p:cNvSpPr/>
            <p:nvPr/>
          </p:nvSpPr>
          <p:spPr>
            <a:xfrm>
              <a:off x="5702710" y="1533832"/>
              <a:ext cx="4011561" cy="3923071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58E090-E76A-D622-C991-4B0CE7C5D21D}"/>
                </a:ext>
              </a:extLst>
            </p:cNvPr>
            <p:cNvSpPr txBox="1"/>
            <p:nvPr/>
          </p:nvSpPr>
          <p:spPr>
            <a:xfrm>
              <a:off x="7281893" y="1512222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Node</a:t>
              </a:r>
              <a:endParaRPr lang="LID4096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2CB5FDC-5C12-7F7C-814A-2653B1170E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27" y="3495367"/>
              <a:ext cx="2627673" cy="196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B11BF9D-2BC6-47D8-E670-74BCC07E3141}"/>
              </a:ext>
            </a:extLst>
          </p:cNvPr>
          <p:cNvGrpSpPr/>
          <p:nvPr/>
        </p:nvGrpSpPr>
        <p:grpSpPr>
          <a:xfrm>
            <a:off x="7249180" y="2025445"/>
            <a:ext cx="2733020" cy="4513467"/>
            <a:chOff x="7249180" y="2025445"/>
            <a:chExt cx="2733020" cy="451346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8FEEC3E-7131-902E-1193-E652910AF40A}"/>
                </a:ext>
              </a:extLst>
            </p:cNvPr>
            <p:cNvCxnSpPr>
              <a:endCxn id="4" idx="2"/>
            </p:cNvCxnSpPr>
            <p:nvPr/>
          </p:nvCxnSpPr>
          <p:spPr>
            <a:xfrm>
              <a:off x="9982200" y="2025445"/>
              <a:ext cx="0" cy="45134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17C0DE3-64CD-8898-AF8B-3C69941CC493}"/>
                </a:ext>
              </a:extLst>
            </p:cNvPr>
            <p:cNvSpPr txBox="1"/>
            <p:nvPr/>
          </p:nvSpPr>
          <p:spPr>
            <a:xfrm rot="5400000">
              <a:off x="7238920" y="5455642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ym typeface="Symbol" panose="05050102010706020507" pitchFamily="18" charset="2"/>
                </a:rPr>
                <a:t></a:t>
              </a:r>
              <a:endParaRPr lang="LID4096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3363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5FFF-DA7D-DFEB-0FCB-51D62A5B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hierarchy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69612B-9153-A054-B6CE-E2FC4E9BC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7442353"/>
              </p:ext>
            </p:extLst>
          </p:nvPr>
        </p:nvGraphicFramePr>
        <p:xfrm>
          <a:off x="838200" y="1825625"/>
          <a:ext cx="1051559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884">
                  <a:extLst>
                    <a:ext uri="{9D8B030D-6E8A-4147-A177-3AD203B41FA5}">
                      <a16:colId xmlns:a16="http://schemas.microsoft.com/office/drawing/2014/main" val="1851655756"/>
                    </a:ext>
                  </a:extLst>
                </a:gridCol>
                <a:gridCol w="4286864">
                  <a:extLst>
                    <a:ext uri="{9D8B030D-6E8A-4147-A177-3AD203B41FA5}">
                      <a16:colId xmlns:a16="http://schemas.microsoft.com/office/drawing/2014/main" val="530205664"/>
                    </a:ext>
                  </a:extLst>
                </a:gridCol>
                <a:gridCol w="3261849">
                  <a:extLst>
                    <a:ext uri="{9D8B030D-6E8A-4147-A177-3AD203B41FA5}">
                      <a16:colId xmlns:a16="http://schemas.microsoft.com/office/drawing/2014/main" val="1790498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Illustrative peak performance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Relative to GPU device memory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512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device memory (HBM)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1.5–8 TB/s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538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to GPU interconnect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300–900 GB/s per GPU, one 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</a:t>
                      </a:r>
                      <a:r>
                        <a:rPr lang="en-US" dirty="0"/>
                        <a:t>0.08–0.15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250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Host memory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200–500 GB/s per CPU socket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</a:t>
                      </a:r>
                      <a:r>
                        <a:rPr lang="en-US" dirty="0"/>
                        <a:t>0.05–0.2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038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PCIe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GB/s (Gen4), 64 GB/s (Gen5) one way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</a:t>
                      </a:r>
                      <a:r>
                        <a:rPr lang="en-US" dirty="0"/>
                        <a:t>0.01–0.04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764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Interconnect network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12.5–50 GB/s per port, one way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</a:t>
                      </a:r>
                      <a:r>
                        <a:rPr lang="en-US" dirty="0"/>
                        <a:t>0.003–0.03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0699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C2587-391D-E80B-BBA1-819BE99B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17</a:t>
            </a:fld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ED3C1A-E165-16F8-0948-0A2782D11C0A}"/>
              </a:ext>
            </a:extLst>
          </p:cNvPr>
          <p:cNvGrpSpPr/>
          <p:nvPr/>
        </p:nvGrpSpPr>
        <p:grpSpPr>
          <a:xfrm>
            <a:off x="3539613" y="4630994"/>
            <a:ext cx="3665850" cy="1861881"/>
            <a:chOff x="3539613" y="4630994"/>
            <a:chExt cx="3665850" cy="186188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2F04246-FB7F-BA1F-E653-8239E21D9FEE}"/>
                </a:ext>
              </a:extLst>
            </p:cNvPr>
            <p:cNvSpPr txBox="1"/>
            <p:nvPr/>
          </p:nvSpPr>
          <p:spPr>
            <a:xfrm>
              <a:off x="3539613" y="4630994"/>
              <a:ext cx="3269806" cy="15696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Minimize data transfers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Host-GPU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GPU-GPU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Node-node</a:t>
              </a:r>
              <a:endParaRPr lang="LID4096" sz="2400" dirty="0"/>
            </a:p>
          </p:txBody>
        </p:sp>
        <p:pic>
          <p:nvPicPr>
            <p:cNvPr id="7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43AF169E-8E5C-D4AA-2359-83D8CA52DC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3375" y="5700787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92407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Students using laptop in a classroom">
            <a:extLst>
              <a:ext uri="{FF2B5EF4-FFF2-40B4-BE49-F238E27FC236}">
                <a16:creationId xmlns:a16="http://schemas.microsoft.com/office/drawing/2014/main" id="{FF86261F-786E-1AB1-CC8A-890A7FC5CC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85" b="604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0FD67C-B545-6C66-6A2C-C8516C12F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Programming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F430D-B79F-AAD6-F212-4C5F07209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703CB-11BA-E9C8-04E1-06F275224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9C7CE217-4467-4B8D-A735-B008FA7C4816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18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59563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F88D-1995-138C-C0EB-BFEC86F4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express GPU work?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E328E-88B8-927E-FBAA-F29A2F09C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35" y="1825625"/>
            <a:ext cx="6794092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Prebuilt operations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mathematical operations</a:t>
            </a:r>
          </a:p>
          <a:p>
            <a:pPr lvl="1"/>
            <a:r>
              <a:rPr lang="en-US" dirty="0"/>
              <a:t>E.g., matrix multiplications, linear solver</a:t>
            </a:r>
          </a:p>
          <a:p>
            <a:r>
              <a:rPr lang="en-US" dirty="0"/>
              <a:t>Pattern-based programming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parallel patterns &amp; execution policies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Kokkos</a:t>
            </a:r>
            <a:r>
              <a:rPr lang="en-US" dirty="0"/>
              <a:t>: parallel for, reduction</a:t>
            </a:r>
          </a:p>
          <a:p>
            <a:r>
              <a:rPr lang="en-US" dirty="0"/>
              <a:t>Directive-based programming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annotated loops &amp; data environment</a:t>
            </a:r>
          </a:p>
          <a:p>
            <a:pPr lvl="1"/>
            <a:r>
              <a:rPr lang="en-US" dirty="0"/>
              <a:t>E.g., OpenMP target</a:t>
            </a:r>
          </a:p>
          <a:p>
            <a:r>
              <a:rPr lang="en-US" dirty="0"/>
              <a:t>Kernel-oriented programming</a:t>
            </a:r>
            <a:r>
              <a:rPr lang="en-US" dirty="0">
                <a:sym typeface="Symbol" panose="05050102010706020507" pitchFamily="18" charset="2"/>
              </a:rPr>
              <a:t> </a:t>
            </a:r>
            <a:r>
              <a:rPr lang="en-US" dirty="0"/>
              <a:t> explicit kernels, launches, memory, dependencies</a:t>
            </a:r>
          </a:p>
          <a:p>
            <a:pPr lvl="1"/>
            <a:r>
              <a:rPr lang="en-US" dirty="0"/>
              <a:t>E.g., CUDA, HIP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A1CE0-4625-38F4-D9AD-2170EACD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19</a:t>
            </a:fld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826BD5F-2443-7AB4-6B18-460023BECD95}"/>
              </a:ext>
            </a:extLst>
          </p:cNvPr>
          <p:cNvGrpSpPr/>
          <p:nvPr/>
        </p:nvGrpSpPr>
        <p:grpSpPr>
          <a:xfrm>
            <a:off x="9452367" y="1690688"/>
            <a:ext cx="2544892" cy="4572460"/>
            <a:chOff x="9452367" y="1690688"/>
            <a:chExt cx="2544892" cy="457246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894E6BD-0F6C-A1B7-6C85-F38FC1F473D1}"/>
                </a:ext>
              </a:extLst>
            </p:cNvPr>
            <p:cNvCxnSpPr/>
            <p:nvPr/>
          </p:nvCxnSpPr>
          <p:spPr>
            <a:xfrm>
              <a:off x="9452367" y="1690688"/>
              <a:ext cx="0" cy="457246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E6D16E-8B5A-ED7D-4BA9-676CA00465A1}"/>
                </a:ext>
              </a:extLst>
            </p:cNvPr>
            <p:cNvSpPr txBox="1"/>
            <p:nvPr/>
          </p:nvSpPr>
          <p:spPr>
            <a:xfrm>
              <a:off x="9549026" y="4835061"/>
              <a:ext cx="244823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More implementation details, more fine-grained control</a:t>
              </a:r>
              <a:endParaRPr lang="LID4096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586F35B-6818-B78E-8F1D-B0BBFBD2B47E}"/>
              </a:ext>
            </a:extLst>
          </p:cNvPr>
          <p:cNvGrpSpPr/>
          <p:nvPr/>
        </p:nvGrpSpPr>
        <p:grpSpPr>
          <a:xfrm>
            <a:off x="191969" y="1604503"/>
            <a:ext cx="1802630" cy="4572460"/>
            <a:chOff x="7649737" y="1690688"/>
            <a:chExt cx="1802630" cy="457246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4648E9D-F7B2-1D28-6210-774165740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2367" y="1690688"/>
              <a:ext cx="0" cy="457246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826BAD5-95B5-BBAD-3197-FD35637C4959}"/>
                </a:ext>
              </a:extLst>
            </p:cNvPr>
            <p:cNvSpPr txBox="1"/>
            <p:nvPr/>
          </p:nvSpPr>
          <p:spPr>
            <a:xfrm>
              <a:off x="7649737" y="2495006"/>
              <a:ext cx="18026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More portable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262925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91EF-EEB1-AFF9-5B2D-8B440F8C8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B817F-26E2-C7CB-1E53-43F8F418C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Explicit memory management</a:t>
            </a:r>
          </a:p>
          <a:p>
            <a:pPr lvl="1"/>
            <a:r>
              <a:rPr lang="en-US" dirty="0"/>
              <a:t>Memory allocation/deallocation</a:t>
            </a:r>
          </a:p>
          <a:p>
            <a:pPr lvl="1"/>
            <a:r>
              <a:rPr lang="en-US" dirty="0"/>
              <a:t>Host versus device addresses</a:t>
            </a:r>
          </a:p>
          <a:p>
            <a:pPr lvl="1"/>
            <a:r>
              <a:rPr lang="en-US" dirty="0"/>
              <a:t>Explicit  copy</a:t>
            </a:r>
          </a:p>
          <a:p>
            <a:pPr lvl="2"/>
            <a:r>
              <a:rPr lang="en-US" dirty="0"/>
              <a:t>Host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device</a:t>
            </a:r>
          </a:p>
          <a:p>
            <a:pPr lvl="2"/>
            <a:r>
              <a:rPr lang="en-US" dirty="0"/>
              <a:t>Device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host</a:t>
            </a:r>
          </a:p>
          <a:p>
            <a:pPr lvl="2"/>
            <a:r>
              <a:rPr lang="en-US" dirty="0"/>
              <a:t>Device </a:t>
            </a:r>
            <a:r>
              <a:rPr lang="en-US" dirty="0">
                <a:sym typeface="Symbol" panose="05050102010706020507" pitchFamily="18" charset="2"/>
              </a:rPr>
              <a:t>  </a:t>
            </a:r>
            <a:r>
              <a:rPr lang="en-US" dirty="0"/>
              <a:t>device</a:t>
            </a:r>
          </a:p>
          <a:p>
            <a:pPr lvl="1"/>
            <a:r>
              <a:rPr lang="en-US" dirty="0"/>
              <a:t>Explicit synchronization</a:t>
            </a:r>
          </a:p>
          <a:p>
            <a:pPr lvl="1"/>
            <a:endParaRPr lang="en-US" dirty="0"/>
          </a:p>
          <a:p>
            <a:r>
              <a:rPr lang="en-US" dirty="0"/>
              <a:t>Unified memory management</a:t>
            </a:r>
          </a:p>
          <a:p>
            <a:pPr lvl="1"/>
            <a:r>
              <a:rPr lang="en-US" dirty="0"/>
              <a:t>Memory allocation/deallocation </a:t>
            </a:r>
          </a:p>
          <a:p>
            <a:pPr lvl="1"/>
            <a:r>
              <a:rPr lang="en-US" dirty="0"/>
              <a:t>Single address space</a:t>
            </a:r>
          </a:p>
          <a:p>
            <a:pPr lvl="1"/>
            <a:r>
              <a:rPr lang="en-US" dirty="0"/>
              <a:t>Implicit data migration (page fault/page copy)</a:t>
            </a:r>
          </a:p>
          <a:p>
            <a:pPr lvl="1"/>
            <a:r>
              <a:rPr lang="en-US" dirty="0"/>
              <a:t>Explicit synchronization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11E45-D9D7-63B2-C5B2-A13362ACE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20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14C8C51-005A-E816-0028-1975AD996416}"/>
              </a:ext>
            </a:extLst>
          </p:cNvPr>
          <p:cNvGrpSpPr/>
          <p:nvPr/>
        </p:nvGrpSpPr>
        <p:grpSpPr>
          <a:xfrm>
            <a:off x="6779941" y="1913153"/>
            <a:ext cx="4252047" cy="1304651"/>
            <a:chOff x="6779941" y="1913153"/>
            <a:chExt cx="4252047" cy="13046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F8DFDE5-FCDC-D39C-6B04-C5032D0E27F2}"/>
                </a:ext>
              </a:extLst>
            </p:cNvPr>
            <p:cNvSpPr txBox="1"/>
            <p:nvPr/>
          </p:nvSpPr>
          <p:spPr>
            <a:xfrm>
              <a:off x="6779941" y="2263697"/>
              <a:ext cx="3968972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More control, potentially</a:t>
              </a:r>
              <a:br>
                <a:rPr lang="en-US" sz="2800" dirty="0"/>
              </a:br>
              <a:r>
                <a:rPr lang="en-US" sz="2800" dirty="0"/>
                <a:t>better performance</a:t>
              </a:r>
              <a:endParaRPr lang="LID4096" sz="2800" dirty="0"/>
            </a:p>
          </p:txBody>
        </p:sp>
        <p:pic>
          <p:nvPicPr>
            <p:cNvPr id="6" name="Graphic 5" descr="Rocket with solid fill">
              <a:extLst>
                <a:ext uri="{FF2B5EF4-FFF2-40B4-BE49-F238E27FC236}">
                  <a16:creationId xmlns:a16="http://schemas.microsoft.com/office/drawing/2014/main" id="{1281FDEE-B2B2-29B4-0ED3-FE2935BE34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465837" y="1913153"/>
              <a:ext cx="566151" cy="566151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8F5C80-A544-0FC0-1FB4-9858900E196E}"/>
              </a:ext>
            </a:extLst>
          </p:cNvPr>
          <p:cNvSpPr/>
          <p:nvPr/>
        </p:nvSpPr>
        <p:spPr>
          <a:xfrm>
            <a:off x="1550019" y="5754030"/>
            <a:ext cx="2977375" cy="312233"/>
          </a:xfrm>
          <a:prstGeom prst="roundRect">
            <a:avLst/>
          </a:prstGeom>
          <a:solidFill>
            <a:srgbClr val="FF0000">
              <a:alpha val="4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A8C194-A20D-DCC5-2FD5-6F69B174B5F1}"/>
              </a:ext>
            </a:extLst>
          </p:cNvPr>
          <p:cNvSpPr/>
          <p:nvPr/>
        </p:nvSpPr>
        <p:spPr>
          <a:xfrm>
            <a:off x="1550019" y="4847064"/>
            <a:ext cx="3980986" cy="312233"/>
          </a:xfrm>
          <a:prstGeom prst="roundRect">
            <a:avLst/>
          </a:prstGeom>
          <a:solidFill>
            <a:srgbClr val="FF0000">
              <a:alpha val="4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103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8696-EA69-E8AE-40A9-A2004506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77004-8124-4D6E-E36F-1209E6361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compiled for device</a:t>
            </a:r>
          </a:p>
          <a:p>
            <a:r>
              <a:rPr lang="en-US" dirty="0"/>
              <a:t>Operate on data in device memory</a:t>
            </a:r>
          </a:p>
          <a:p>
            <a:r>
              <a:rPr lang="en-US" dirty="0"/>
              <a:t>Launched from host, run on device</a:t>
            </a:r>
          </a:p>
          <a:p>
            <a:r>
              <a:rPr lang="en-US" dirty="0"/>
              <a:t>Configuration in 1D, 2D, 3D</a:t>
            </a:r>
          </a:p>
          <a:p>
            <a:pPr lvl="1"/>
            <a:r>
              <a:rPr lang="en-US" dirty="0"/>
              <a:t>Threads per block</a:t>
            </a:r>
          </a:p>
          <a:p>
            <a:pPr lvl="1"/>
            <a:r>
              <a:rPr lang="en-US" dirty="0"/>
              <a:t>Blocks per grid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B3E7D-EA0E-521D-E510-CB84A106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117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A096-D73D-ED03-CCBE-D336DD66C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Threads, blocks &amp; grid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C62B7-9A58-92C8-3563-77C90ECEE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Threads per block:</a:t>
            </a:r>
            <a:br>
              <a:rPr lang="en-US" dirty="0"/>
            </a:br>
            <a:r>
              <a:rPr lang="en-US" dirty="0"/>
              <a:t>x-dimension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y-dimension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z-dimension </a:t>
            </a:r>
            <a:r>
              <a:rPr lang="en-US" dirty="0">
                <a:sym typeface="Symbol" panose="05050102010706020507" pitchFamily="18" charset="2"/>
              </a:rPr>
              <a:t></a:t>
            </a:r>
            <a:r>
              <a:rPr lang="en-US" dirty="0"/>
              <a:t> 1024</a:t>
            </a:r>
          </a:p>
          <a:p>
            <a:pPr lvl="1"/>
            <a:r>
              <a:rPr lang="en-US" dirty="0"/>
              <a:t>x-dimension </a:t>
            </a:r>
            <a:r>
              <a:rPr lang="en-US" dirty="0">
                <a:sym typeface="Symbol" panose="05050102010706020507" pitchFamily="18" charset="2"/>
              </a:rPr>
              <a:t></a:t>
            </a:r>
            <a:r>
              <a:rPr lang="en-US" dirty="0"/>
              <a:t> 1,024</a:t>
            </a:r>
          </a:p>
          <a:p>
            <a:pPr lvl="1"/>
            <a:r>
              <a:rPr lang="en-US" dirty="0"/>
              <a:t>y-dimension </a:t>
            </a:r>
            <a:r>
              <a:rPr lang="en-US" dirty="0">
                <a:sym typeface="Symbol" panose="05050102010706020507" pitchFamily="18" charset="2"/>
              </a:rPr>
              <a:t></a:t>
            </a:r>
            <a:r>
              <a:rPr lang="en-US" dirty="0"/>
              <a:t> 1,024</a:t>
            </a:r>
          </a:p>
          <a:p>
            <a:pPr lvl="1"/>
            <a:r>
              <a:rPr lang="en-US" dirty="0"/>
              <a:t>z-dimension </a:t>
            </a:r>
            <a:r>
              <a:rPr lang="en-US" dirty="0">
                <a:sym typeface="Symbol" panose="05050102010706020507" pitchFamily="18" charset="2"/>
              </a:rPr>
              <a:t></a:t>
            </a:r>
            <a:r>
              <a:rPr lang="en-US" dirty="0"/>
              <a:t> 64</a:t>
            </a:r>
          </a:p>
          <a:p>
            <a:r>
              <a:rPr lang="en-US" dirty="0"/>
              <a:t>Blocks per grid</a:t>
            </a:r>
          </a:p>
          <a:p>
            <a:pPr lvl="1"/>
            <a:r>
              <a:rPr lang="en-US" dirty="0"/>
              <a:t>x-dimension </a:t>
            </a:r>
            <a:r>
              <a:rPr lang="en-US" dirty="0">
                <a:sym typeface="Symbol" panose="05050102010706020507" pitchFamily="18" charset="2"/>
              </a:rPr>
              <a:t> 2</a:t>
            </a:r>
            <a:r>
              <a:rPr lang="en-US" baseline="30000" dirty="0">
                <a:sym typeface="Symbol" panose="05050102010706020507" pitchFamily="18" charset="2"/>
              </a:rPr>
              <a:t>31</a:t>
            </a:r>
            <a:r>
              <a:rPr lang="en-US" dirty="0">
                <a:sym typeface="Symbol" panose="05050102010706020507" pitchFamily="18" charset="2"/>
              </a:rPr>
              <a:t> - 1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y-dimension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 65,535</a:t>
            </a:r>
            <a:endParaRPr lang="LID4096" dirty="0"/>
          </a:p>
          <a:p>
            <a:pPr lvl="1"/>
            <a:r>
              <a:rPr lang="en-US" dirty="0">
                <a:sym typeface="Symbol" panose="05050102010706020507" pitchFamily="18" charset="2"/>
              </a:rPr>
              <a:t>z-dimension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 65,535</a:t>
            </a:r>
            <a:endParaRPr lang="LID4096" dirty="0"/>
          </a:p>
          <a:p>
            <a:pPr lvl="1"/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2F50D-05B3-12AE-EDE0-8B5847481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22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168FA-A0D1-4E05-7F96-8766767DE9A9}"/>
              </a:ext>
            </a:extLst>
          </p:cNvPr>
          <p:cNvSpPr txBox="1"/>
          <p:nvPr/>
        </p:nvSpPr>
        <p:spPr>
          <a:xfrm>
            <a:off x="7318244" y="1121376"/>
            <a:ext cx="390055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Warp is 32 threads,</a:t>
            </a:r>
            <a:br>
              <a:rPr lang="en-US" sz="2400" dirty="0"/>
            </a:br>
            <a:r>
              <a:rPr lang="en-US" sz="2400" dirty="0"/>
              <a:t>warp-group is 4 </a:t>
            </a:r>
            <a:r>
              <a:rPr lang="en-US" sz="2400" dirty="0">
                <a:sym typeface="Symbol" panose="05050102010706020507" pitchFamily="18" charset="2"/>
              </a:rPr>
              <a:t></a:t>
            </a:r>
            <a:r>
              <a:rPr lang="en-US" sz="2400" dirty="0"/>
              <a:t> 32 threads</a:t>
            </a:r>
            <a:endParaRPr lang="LID4096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FBC48-332E-E420-8179-70BE41B3A500}"/>
              </a:ext>
            </a:extLst>
          </p:cNvPr>
          <p:cNvSpPr txBox="1"/>
          <p:nvPr/>
        </p:nvSpPr>
        <p:spPr>
          <a:xfrm>
            <a:off x="5474379" y="3548138"/>
            <a:ext cx="5041893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Kernel can 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Thread indices, thread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Block indices, block dimension</a:t>
            </a:r>
          </a:p>
          <a:p>
            <a:r>
              <a:rPr lang="en-US" sz="2400" dirty="0"/>
              <a:t>                </a:t>
            </a:r>
            <a:r>
              <a:rPr lang="LID4096" sz="2400" dirty="0">
                <a:sym typeface="Symbol" panose="05050102010706020507" pitchFamily="18" charset="2"/>
              </a:rPr>
              <a:t></a:t>
            </a:r>
            <a:r>
              <a:rPr lang="en-US" sz="2400" dirty="0">
                <a:sym typeface="Symbol" panose="05050102010706020507" pitchFamily="18" charset="2"/>
              </a:rPr>
              <a:t> differentiate work/thread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4896B-B657-57EC-27A1-95D7A4CB5E62}"/>
              </a:ext>
            </a:extLst>
          </p:cNvPr>
          <p:cNvSpPr txBox="1"/>
          <p:nvPr/>
        </p:nvSpPr>
        <p:spPr>
          <a:xfrm>
            <a:off x="4834099" y="5525353"/>
            <a:ext cx="372198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Numbers for NVIDIA H100,</a:t>
            </a:r>
            <a:br>
              <a:rPr lang="en-US" sz="2400" dirty="0"/>
            </a:br>
            <a:r>
              <a:rPr lang="en-US" sz="2400" dirty="0"/>
              <a:t>query the device!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245356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05B0C-8D40-37D5-DABA-4ADAAC5E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Multiprocessors &amp; blocks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06440-60D1-D558-CAC1-4A97DB4B4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All threads in block execute on same SM</a:t>
            </a:r>
          </a:p>
          <a:p>
            <a:pPr lvl="1"/>
            <a:r>
              <a:rPr lang="en-US" dirty="0"/>
              <a:t>Can be synchronized</a:t>
            </a:r>
          </a:p>
          <a:p>
            <a:pPr lvl="1"/>
            <a:r>
              <a:rPr lang="en-US" dirty="0"/>
              <a:t>Can use shared memory</a:t>
            </a:r>
          </a:p>
          <a:p>
            <a:r>
              <a:rPr lang="en-US" dirty="0"/>
              <a:t>Multiple blocks assigned to SM</a:t>
            </a:r>
          </a:p>
          <a:p>
            <a:pPr lvl="1"/>
            <a:r>
              <a:rPr lang="en-US" dirty="0"/>
              <a:t>Depends on registers, shared memory/L1 cache availability</a:t>
            </a:r>
          </a:p>
          <a:p>
            <a:r>
              <a:rPr lang="en-US" dirty="0"/>
              <a:t>Threads grouped in warps</a:t>
            </a:r>
          </a:p>
          <a:p>
            <a:pPr lvl="1"/>
            <a:r>
              <a:rPr lang="en-US" dirty="0"/>
              <a:t>At most 64 warps resident on SM</a:t>
            </a:r>
          </a:p>
          <a:p>
            <a:r>
              <a:rPr lang="en-US" dirty="0"/>
              <a:t>4 warp schedulers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at most 4 warp instructions/cycle</a:t>
            </a:r>
          </a:p>
          <a:p>
            <a:pPr lvl="1"/>
            <a:r>
              <a:rPr lang="en-US" dirty="0"/>
              <a:t>Need not belong to same block</a:t>
            </a:r>
          </a:p>
          <a:p>
            <a:pPr lvl="1"/>
            <a:r>
              <a:rPr lang="en-US" dirty="0"/>
              <a:t>Picked from ready warps</a:t>
            </a:r>
          </a:p>
          <a:p>
            <a:pPr lvl="1"/>
            <a:r>
              <a:rPr lang="en-US" dirty="0"/>
              <a:t>Number of instructions depends on pipelines used</a:t>
            </a:r>
          </a:p>
          <a:p>
            <a:r>
              <a:rPr lang="en-US" dirty="0"/>
              <a:t>Stalled warps: waiting for</a:t>
            </a:r>
          </a:p>
          <a:p>
            <a:pPr lvl="1"/>
            <a:r>
              <a:rPr lang="en-US" dirty="0"/>
              <a:t>Memory</a:t>
            </a:r>
          </a:p>
          <a:p>
            <a:pPr lvl="1"/>
            <a:r>
              <a:rPr lang="en-US" dirty="0"/>
              <a:t>Synchronization</a:t>
            </a:r>
          </a:p>
          <a:p>
            <a:pPr lvl="1"/>
            <a:r>
              <a:rPr lang="en-US" dirty="0"/>
              <a:t>Long-latency instructions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B01CB-089B-D630-7714-60EA23CC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23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F56C6-C514-0767-9AE7-AD28DA95BEDD}"/>
              </a:ext>
            </a:extLst>
          </p:cNvPr>
          <p:cNvSpPr txBox="1"/>
          <p:nvPr/>
        </p:nvSpPr>
        <p:spPr>
          <a:xfrm>
            <a:off x="5128977" y="5185317"/>
            <a:ext cx="607114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Many threads/blocks </a:t>
            </a:r>
            <a:r>
              <a:rPr lang="en-US" sz="2800" dirty="0">
                <a:sym typeface="Symbol" panose="05050102010706020507" pitchFamily="18" charset="2"/>
              </a:rPr>
              <a:t></a:t>
            </a:r>
            <a:r>
              <a:rPr lang="en-US" sz="2800" dirty="0"/>
              <a:t> latency hiding</a:t>
            </a:r>
            <a:endParaRPr lang="LID4096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2471BA-612A-2249-05CC-EEA67CEED1CB}"/>
              </a:ext>
            </a:extLst>
          </p:cNvPr>
          <p:cNvSpPr txBox="1"/>
          <p:nvPr/>
        </p:nvSpPr>
        <p:spPr>
          <a:xfrm>
            <a:off x="7842770" y="1870075"/>
            <a:ext cx="368511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Numbers for NVIDIA A100,</a:t>
            </a:r>
            <a:br>
              <a:rPr lang="en-US" sz="2400" dirty="0"/>
            </a:br>
            <a:r>
              <a:rPr lang="en-US" sz="2400" dirty="0"/>
              <a:t>query the device!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255934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BCB4-A529-4B3D-D4EE-49F32CB59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85230-8347-06D5-3A57-7E8915ADD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Memory copy can be asynchronous</a:t>
            </a:r>
          </a:p>
          <a:p>
            <a:r>
              <a:rPr lang="en-US" dirty="0"/>
              <a:t>Kernel execution can be asynchronous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Synchronization levels</a:t>
            </a:r>
          </a:p>
          <a:p>
            <a:pPr lvl="1"/>
            <a:r>
              <a:rPr lang="en-US" dirty="0"/>
              <a:t>Subgroup: implicit lockstep execution </a:t>
            </a:r>
            <a:r>
              <a:rPr lang="en-US" dirty="0">
                <a:sym typeface="Symbol" panose="05050102010706020507" pitchFamily="18" charset="2"/>
              </a:rPr>
              <a:t></a:t>
            </a:r>
            <a:r>
              <a:rPr lang="en-US" dirty="0"/>
              <a:t> synchronization</a:t>
            </a:r>
          </a:p>
          <a:p>
            <a:pPr lvl="1"/>
            <a:r>
              <a:rPr lang="en-US" dirty="0"/>
              <a:t>Block: explicit sync statement</a:t>
            </a:r>
          </a:p>
          <a:p>
            <a:pPr lvl="1"/>
            <a:r>
              <a:rPr lang="en-US" dirty="0"/>
              <a:t>Cluster (NVIDIA H100+): cluster boundaries</a:t>
            </a:r>
          </a:p>
          <a:p>
            <a:pPr lvl="1"/>
            <a:r>
              <a:rPr lang="en-US" dirty="0"/>
              <a:t>Grid: cooperative group kernel (all blocks must fit on GPU)</a:t>
            </a:r>
          </a:p>
          <a:p>
            <a:pPr lvl="1"/>
            <a:r>
              <a:rPr lang="en-US" dirty="0"/>
              <a:t>GPU: kernel boundaries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87FFB-3A03-E069-E4AA-9C4059DA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24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46878D-522A-B3B0-27F7-A815A1F88B7F}"/>
              </a:ext>
            </a:extLst>
          </p:cNvPr>
          <p:cNvGrpSpPr/>
          <p:nvPr/>
        </p:nvGrpSpPr>
        <p:grpSpPr>
          <a:xfrm>
            <a:off x="7527073" y="1646238"/>
            <a:ext cx="3214594" cy="1384995"/>
            <a:chOff x="7527073" y="1646238"/>
            <a:chExt cx="3214594" cy="1384995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F43F0313-7396-D067-6680-E646931792A5}"/>
                </a:ext>
              </a:extLst>
            </p:cNvPr>
            <p:cNvSpPr/>
            <p:nvPr/>
          </p:nvSpPr>
          <p:spPr>
            <a:xfrm>
              <a:off x="7527073" y="1825625"/>
              <a:ext cx="256478" cy="928726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D176BF-1871-94F8-FB46-CAD4259435FF}"/>
                </a:ext>
              </a:extLst>
            </p:cNvPr>
            <p:cNvSpPr txBox="1"/>
            <p:nvPr/>
          </p:nvSpPr>
          <p:spPr>
            <a:xfrm>
              <a:off x="8040030" y="1646238"/>
              <a:ext cx="2701637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Overlapping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/>
                <a:t>Data transfers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/>
                <a:t>Computations</a:t>
              </a:r>
              <a:endParaRPr lang="LID4096" sz="28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AEA321-42F4-7F62-ABCD-201555F810F6}"/>
              </a:ext>
            </a:extLst>
          </p:cNvPr>
          <p:cNvGrpSpPr/>
          <p:nvPr/>
        </p:nvGrpSpPr>
        <p:grpSpPr>
          <a:xfrm>
            <a:off x="1708346" y="2926796"/>
            <a:ext cx="8775307" cy="878368"/>
            <a:chOff x="1773044" y="3106199"/>
            <a:chExt cx="8775307" cy="87836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D7E8B2-D7B1-8BD1-D1C5-ED04AF65A815}"/>
                </a:ext>
              </a:extLst>
            </p:cNvPr>
            <p:cNvSpPr txBox="1"/>
            <p:nvPr/>
          </p:nvSpPr>
          <p:spPr>
            <a:xfrm>
              <a:off x="1773044" y="3461347"/>
              <a:ext cx="8347157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ym typeface="Symbol" panose="05050102010706020507" pitchFamily="18" charset="2"/>
                </a:rPr>
                <a:t> Explicit synchronization to avoid race conditions!!!</a:t>
              </a:r>
              <a:endParaRPr lang="LID4096" sz="2800" dirty="0"/>
            </a:p>
          </p:txBody>
        </p:sp>
        <p:pic>
          <p:nvPicPr>
            <p:cNvPr id="9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0506B6F1-7855-4508-7BF1-730067A1AF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2200" y="3106199"/>
              <a:ext cx="566151" cy="580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24807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B7936-C090-F858-BD1F-1EB30FE8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Inquiry functions &amp; configuration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21B5C-32DD-B7A8-1D41-5FA4AFB8B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capability</a:t>
            </a:r>
          </a:p>
          <a:p>
            <a:r>
              <a:rPr lang="en-US" dirty="0"/>
              <a:t>Hardware limits</a:t>
            </a:r>
          </a:p>
          <a:p>
            <a:pPr lvl="1"/>
            <a:r>
              <a:rPr lang="en-US" dirty="0"/>
              <a:t>Number of devices</a:t>
            </a:r>
          </a:p>
          <a:p>
            <a:pPr lvl="1"/>
            <a:r>
              <a:rPr lang="en-US" dirty="0"/>
              <a:t>Maximum number of threads/block &amp; dimension</a:t>
            </a:r>
          </a:p>
          <a:p>
            <a:pPr lvl="1"/>
            <a:r>
              <a:rPr lang="en-US" dirty="0"/>
              <a:t>Memory/cache sizes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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D35AD-53DE-1064-C959-BCDACAD2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368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FA56-E009-6CB8-6AF8-A1994D6E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considerations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827A8-40C3-53E0-F891-513A34964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Avoid warp divergence (beware of branching)!</a:t>
            </a:r>
          </a:p>
          <a:p>
            <a:r>
              <a:rPr lang="en-US" dirty="0"/>
              <a:t>Ensure threads have enough work</a:t>
            </a:r>
          </a:p>
          <a:p>
            <a:r>
              <a:rPr lang="en-US" dirty="0"/>
              <a:t>Increase arithmetic intensity</a:t>
            </a:r>
          </a:p>
          <a:p>
            <a:r>
              <a:rPr lang="en-US" dirty="0"/>
              <a:t>Number of threads/block </a:t>
            </a:r>
            <a:r>
              <a:rPr lang="en-US" dirty="0">
                <a:sym typeface="Symbol" panose="05050102010706020507" pitchFamily="18" charset="2"/>
              </a:rPr>
              <a:t></a:t>
            </a:r>
            <a:r>
              <a:rPr lang="en-US" dirty="0"/>
              <a:t> registers/shared memory</a:t>
            </a:r>
          </a:p>
          <a:p>
            <a:pPr lvl="1"/>
            <a:r>
              <a:rPr lang="en-US" dirty="0"/>
              <a:t>Ensure sufficient occupancy</a:t>
            </a:r>
          </a:p>
          <a:p>
            <a:r>
              <a:rPr lang="en-US" dirty="0"/>
              <a:t>Exploit data locality (shared memory/L2 cache)</a:t>
            </a:r>
          </a:p>
          <a:p>
            <a:r>
              <a:rPr lang="en-US" dirty="0"/>
              <a:t>Minimize host-device memory transfers and synchronization</a:t>
            </a:r>
          </a:p>
          <a:p>
            <a:r>
              <a:rPr lang="en-US" dirty="0"/>
              <a:t>Memory access matters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data access coalescing</a:t>
            </a:r>
          </a:p>
          <a:p>
            <a:pPr lvl="1"/>
            <a:r>
              <a:rPr lang="en-US" dirty="0"/>
              <a:t>Accommodate 128-byte memory transactions</a:t>
            </a:r>
          </a:p>
          <a:p>
            <a:pPr lvl="1"/>
            <a:r>
              <a:rPr lang="en-US" dirty="0"/>
              <a:t>Warp should access consecutive addresses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ym typeface="Symbol" panose="05050102010706020507" pitchFamily="18" charset="2"/>
              </a:rPr>
              <a:t> </a:t>
            </a:r>
            <a:r>
              <a:rPr lang="en-US" b="1" dirty="0">
                <a:solidFill>
                  <a:srgbClr val="C00000"/>
                </a:solidFill>
              </a:rPr>
              <a:t>grid-</a:t>
            </a:r>
            <a:r>
              <a:rPr lang="en-US" b="1" dirty="0" err="1">
                <a:solidFill>
                  <a:srgbClr val="C00000"/>
                </a:solidFill>
              </a:rPr>
              <a:t>strided</a:t>
            </a:r>
            <a:r>
              <a:rPr lang="en-US" b="1" dirty="0">
                <a:solidFill>
                  <a:srgbClr val="C00000"/>
                </a:solidFill>
              </a:rPr>
              <a:t> loops</a:t>
            </a:r>
            <a:r>
              <a:rPr lang="en-US" dirty="0"/>
              <a:t> to distribute work</a:t>
            </a:r>
          </a:p>
          <a:p>
            <a:pPr lvl="1"/>
            <a:r>
              <a:rPr lang="en-US" dirty="0"/>
              <a:t>Data should be aligned</a:t>
            </a:r>
          </a:p>
          <a:p>
            <a:pPr lvl="1"/>
            <a:r>
              <a:rPr lang="en-US" dirty="0"/>
              <a:t>Data layout </a:t>
            </a:r>
            <a:r>
              <a:rPr lang="en-US" dirty="0">
                <a:sym typeface="Symbol" panose="05050102010706020507" pitchFamily="18" charset="2"/>
              </a:rPr>
              <a:t></a:t>
            </a:r>
            <a:r>
              <a:rPr lang="en-US" dirty="0"/>
              <a:t> thread access pattern (e.g., </a:t>
            </a:r>
            <a:r>
              <a:rPr lang="en-US" dirty="0" err="1"/>
              <a:t>SoA</a:t>
            </a:r>
            <a:r>
              <a:rPr lang="en-US" dirty="0"/>
              <a:t> vs. </a:t>
            </a:r>
            <a:r>
              <a:rPr lang="en-US" dirty="0" err="1"/>
              <a:t>AoS</a:t>
            </a:r>
            <a:r>
              <a:rPr lang="en-US" dirty="0"/>
              <a:t>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EDA03-7DD6-BA46-FB39-F3E23432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26</a:t>
            </a:fld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BF42C1-663C-C1F1-5D36-61AA6BA95191}"/>
              </a:ext>
            </a:extLst>
          </p:cNvPr>
          <p:cNvGrpSpPr/>
          <p:nvPr/>
        </p:nvGrpSpPr>
        <p:grpSpPr>
          <a:xfrm>
            <a:off x="6770914" y="5059688"/>
            <a:ext cx="4379321" cy="1384995"/>
            <a:chOff x="7532914" y="4189164"/>
            <a:chExt cx="4379321" cy="138499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09B20F-7C5A-42B1-4415-C2E9C5C20FAC}"/>
                </a:ext>
              </a:extLst>
            </p:cNvPr>
            <p:cNvSpPr txBox="1"/>
            <p:nvPr/>
          </p:nvSpPr>
          <p:spPr>
            <a:xfrm>
              <a:off x="8686800" y="4189164"/>
              <a:ext cx="3225435" cy="13849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Note: opposite of</a:t>
              </a:r>
              <a:br>
                <a:rPr lang="en-US" sz="2800" dirty="0"/>
              </a:br>
              <a:r>
                <a:rPr lang="en-US" sz="2800" dirty="0"/>
                <a:t>CPU multithreading</a:t>
              </a:r>
              <a:br>
                <a:rPr lang="en-US" sz="2800" dirty="0"/>
              </a:br>
              <a:r>
                <a:rPr lang="en-US" sz="2800" dirty="0"/>
                <a:t>wisdom!</a:t>
              </a:r>
              <a:endParaRPr lang="LID4096" sz="2800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AA095A8-D128-0A01-CEFC-39BEA7C168EB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 flipV="1">
              <a:off x="7532914" y="4430486"/>
              <a:ext cx="1153886" cy="45117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3280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992708-8D79-176E-38CC-589BED2943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6C7144-E333-12CD-C8AE-77952E967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Evolution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53A11-375D-6A87-5C1C-E6EA6EA88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8DF06-2AF4-9A81-B02C-A85CD77FF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9C7CE217-4467-4B8D-A735-B008FA7C4816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27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2111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F54B5-DBAA-953A-7692-EEBD81E6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09626-7CEA-967B-089B-A01C3B5D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GPUs/node, multiple nodes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AB9D5-6FEC-ECAC-AE1D-5AA61CFC6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Typically, 4 GPUs/node (A100)</a:t>
            </a:r>
          </a:p>
          <a:p>
            <a:pPr lvl="1"/>
            <a:r>
              <a:rPr lang="en-US" dirty="0" err="1"/>
              <a:t>NVLink</a:t>
            </a:r>
            <a:endParaRPr lang="en-US" dirty="0"/>
          </a:p>
          <a:p>
            <a:pPr lvl="2"/>
            <a:r>
              <a:rPr lang="en-US" dirty="0"/>
              <a:t>Direct connection between all GPUs</a:t>
            </a:r>
          </a:p>
          <a:p>
            <a:pPr lvl="2"/>
            <a:r>
              <a:rPr lang="en-US" dirty="0"/>
              <a:t>12 </a:t>
            </a:r>
            <a:r>
              <a:rPr lang="en-US" dirty="0" err="1"/>
              <a:t>NVLink</a:t>
            </a:r>
            <a:r>
              <a:rPr lang="en-US" dirty="0"/>
              <a:t> link/GPU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4 links to each GPU</a:t>
            </a:r>
          </a:p>
          <a:p>
            <a:pPr lvl="2"/>
            <a:r>
              <a:rPr lang="en-US" dirty="0"/>
              <a:t>50 GB/s/link (bi-directional)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200 GB/s between GPUs (100 GB/s each way)</a:t>
            </a:r>
          </a:p>
          <a:p>
            <a:pPr lvl="1"/>
            <a:r>
              <a:rPr lang="en-US" dirty="0"/>
              <a:t>PCIe connection to host</a:t>
            </a:r>
          </a:p>
          <a:p>
            <a:r>
              <a:rPr lang="en-US" dirty="0"/>
              <a:t>NVIDIA </a:t>
            </a:r>
            <a:r>
              <a:rPr lang="en-US" dirty="0" err="1"/>
              <a:t>Infiniband</a:t>
            </a:r>
            <a:r>
              <a:rPr lang="en-US" dirty="0"/>
              <a:t> connects nodes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BC236-DD26-3E7E-ED00-68E1D4DC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421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F96C5-A876-3DD4-D2FD-58EEB334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GPUs/node, multiple nodes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5BD87-529A-324B-14D5-F1C2C09EF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Typically, 4 GPUs/node (A100)</a:t>
            </a:r>
          </a:p>
          <a:p>
            <a:pPr lvl="1"/>
            <a:r>
              <a:rPr lang="en-US" dirty="0" err="1"/>
              <a:t>NVLink</a:t>
            </a:r>
            <a:endParaRPr lang="en-US" dirty="0"/>
          </a:p>
          <a:p>
            <a:pPr lvl="2"/>
            <a:r>
              <a:rPr lang="en-US" dirty="0"/>
              <a:t>Direct connection between all GPUs</a:t>
            </a:r>
          </a:p>
          <a:p>
            <a:pPr lvl="2"/>
            <a:r>
              <a:rPr lang="en-US" dirty="0"/>
              <a:t>12 </a:t>
            </a:r>
            <a:r>
              <a:rPr lang="en-US" dirty="0" err="1"/>
              <a:t>NVLink</a:t>
            </a:r>
            <a:r>
              <a:rPr lang="en-US" dirty="0"/>
              <a:t> link/GPU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4 links to each GPU</a:t>
            </a:r>
          </a:p>
          <a:p>
            <a:pPr lvl="2"/>
            <a:r>
              <a:rPr lang="en-US" dirty="0"/>
              <a:t>50 GB/s/link (bi-directional)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200 GB/s between GPUs (100 GB/s each way)</a:t>
            </a:r>
          </a:p>
          <a:p>
            <a:pPr lvl="1"/>
            <a:r>
              <a:rPr lang="en-US" dirty="0"/>
              <a:t>PCIe connection to host</a:t>
            </a:r>
          </a:p>
          <a:p>
            <a:r>
              <a:rPr lang="en-US" dirty="0"/>
              <a:t>NVIDIA </a:t>
            </a:r>
            <a:r>
              <a:rPr lang="en-US" dirty="0" err="1"/>
              <a:t>Infiniband</a:t>
            </a:r>
            <a:r>
              <a:rPr lang="en-US" dirty="0"/>
              <a:t> connects nodes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27FE8-1745-C7D3-EB0F-5AD30172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448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2ABB-E01B-6BBC-49E6-054DCE17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hierarchy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60699-F675-F99B-F6C1-43949362A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363874" cy="4351338"/>
          </a:xfrm>
        </p:spPr>
        <p:txBody>
          <a:bodyPr>
            <a:normAutofit/>
          </a:bodyPr>
          <a:lstStyle/>
          <a:p>
            <a:r>
              <a:rPr lang="en-US" sz="2400" dirty="0"/>
              <a:t>Global GPU memory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>
                <a:sym typeface="Symbol" panose="05050102010706020507" pitchFamily="18" charset="2"/>
              </a:rPr>
              <a:t> 2 TB/s</a:t>
            </a:r>
          </a:p>
          <a:p>
            <a:r>
              <a:rPr lang="en-US" sz="2400" dirty="0" err="1">
                <a:sym typeface="Symbol" panose="05050102010706020507" pitchFamily="18" charset="2"/>
              </a:rPr>
              <a:t>NVLink</a:t>
            </a:r>
            <a:r>
              <a:rPr lang="en-US" sz="2400" dirty="0">
                <a:sym typeface="Symbol" panose="05050102010706020507" pitchFamily="18" charset="2"/>
              </a:rPr>
              <a:t>   100 GB/s each way per GPU pair</a:t>
            </a:r>
          </a:p>
          <a:p>
            <a:r>
              <a:rPr lang="en-US" sz="2400" dirty="0"/>
              <a:t>PCIe </a:t>
            </a:r>
            <a:r>
              <a:rPr lang="en-US" sz="2400" dirty="0">
                <a:sym typeface="Symbol" panose="05050102010706020507" pitchFamily="18" charset="2"/>
              </a:rPr>
              <a:t> 32 GB/s each way</a:t>
            </a:r>
          </a:p>
          <a:p>
            <a:r>
              <a:rPr lang="en-US" sz="2400" dirty="0"/>
              <a:t>Host memory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>
                <a:sym typeface="Symbol" panose="05050102010706020507" pitchFamily="18" charset="2"/>
              </a:rPr>
              <a:t> 300 GB/s</a:t>
            </a:r>
          </a:p>
          <a:p>
            <a:r>
              <a:rPr lang="en-US" sz="2400" dirty="0">
                <a:sym typeface="Symbol" panose="05050102010706020507" pitchFamily="18" charset="2"/>
              </a:rPr>
              <a:t>HDR </a:t>
            </a:r>
            <a:r>
              <a:rPr lang="en-US" sz="2400" dirty="0" err="1">
                <a:sym typeface="Symbol" panose="05050102010706020507" pitchFamily="18" charset="2"/>
              </a:rPr>
              <a:t>Infiniband</a:t>
            </a:r>
            <a:r>
              <a:rPr lang="en-US" sz="2400" dirty="0">
                <a:sym typeface="Symbol" panose="05050102010706020507" pitchFamily="18" charset="2"/>
              </a:rPr>
              <a:t>  25 GB/s each way per port</a:t>
            </a:r>
            <a:endParaRPr lang="LID4096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64213-7117-2E4C-EE74-E3B19614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30</a:t>
            </a:fld>
            <a:endParaRPr lang="LID4096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3199AB5-D408-A176-2B74-D1E9886E2CCE}"/>
              </a:ext>
            </a:extLst>
          </p:cNvPr>
          <p:cNvCxnSpPr>
            <a:cxnSpLocks/>
          </p:cNvCxnSpPr>
          <p:nvPr/>
        </p:nvCxnSpPr>
        <p:spPr>
          <a:xfrm flipH="1">
            <a:off x="6492079" y="2845855"/>
            <a:ext cx="3645883" cy="9369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CB181BC-3F7E-EE9D-9C9A-0F945DBCF1C5}"/>
              </a:ext>
            </a:extLst>
          </p:cNvPr>
          <p:cNvGrpSpPr/>
          <p:nvPr/>
        </p:nvGrpSpPr>
        <p:grpSpPr>
          <a:xfrm>
            <a:off x="4975853" y="1624545"/>
            <a:ext cx="3078210" cy="4136243"/>
            <a:chOff x="4782813" y="1624545"/>
            <a:chExt cx="3078210" cy="4136243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F940ADF-6D83-137A-7FDF-70B823BE7123}"/>
                </a:ext>
              </a:extLst>
            </p:cNvPr>
            <p:cNvGrpSpPr/>
            <p:nvPr/>
          </p:nvGrpSpPr>
          <p:grpSpPr>
            <a:xfrm>
              <a:off x="4782813" y="1624545"/>
              <a:ext cx="3078210" cy="4136243"/>
              <a:chOff x="7132474" y="1173131"/>
              <a:chExt cx="3078210" cy="413624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487CFDA-D563-F7F9-0568-71CBC684CD2A}"/>
                  </a:ext>
                </a:extLst>
              </p:cNvPr>
              <p:cNvSpPr/>
              <p:nvPr/>
            </p:nvSpPr>
            <p:spPr>
              <a:xfrm>
                <a:off x="7132474" y="1173131"/>
                <a:ext cx="3078210" cy="4136243"/>
              </a:xfrm>
              <a:prstGeom prst="rect">
                <a:avLst/>
              </a:prstGeom>
              <a:solidFill>
                <a:schemeClr val="bg1">
                  <a:lumMod val="85000"/>
                  <a:alpha val="3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3894EE8-2676-E994-D6EF-921381DB2AC1}"/>
                  </a:ext>
                </a:extLst>
              </p:cNvPr>
              <p:cNvCxnSpPr>
                <a:stCxn id="5" idx="3"/>
                <a:endCxn id="6" idx="1"/>
              </p:cNvCxnSpPr>
              <p:nvPr/>
            </p:nvCxnSpPr>
            <p:spPr>
              <a:xfrm>
                <a:off x="8035269" y="3373915"/>
                <a:ext cx="1226862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6E1EA95-28BB-873B-0290-D359DD58D4B3}"/>
                  </a:ext>
                </a:extLst>
              </p:cNvPr>
              <p:cNvCxnSpPr>
                <a:cxnSpLocks/>
                <a:stCxn id="5" idx="3"/>
                <a:endCxn id="7" idx="3"/>
              </p:cNvCxnSpPr>
              <p:nvPr/>
            </p:nvCxnSpPr>
            <p:spPr>
              <a:xfrm>
                <a:off x="8035269" y="3373915"/>
                <a:ext cx="0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976F6F89-5C46-BAC7-48A7-2283C0C27AC3}"/>
                  </a:ext>
                </a:extLst>
              </p:cNvPr>
              <p:cNvCxnSpPr>
                <a:cxnSpLocks/>
                <a:stCxn id="5" idx="3"/>
                <a:endCxn id="8" idx="1"/>
              </p:cNvCxnSpPr>
              <p:nvPr/>
            </p:nvCxnSpPr>
            <p:spPr>
              <a:xfrm>
                <a:off x="8035269" y="3373915"/>
                <a:ext cx="1226862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8FC63DF-E19A-824F-FC2C-CAEAA7EE5E54}"/>
                  </a:ext>
                </a:extLst>
              </p:cNvPr>
              <p:cNvCxnSpPr>
                <a:cxnSpLocks/>
                <a:stCxn id="6" idx="1"/>
                <a:endCxn id="8" idx="1"/>
              </p:cNvCxnSpPr>
              <p:nvPr/>
            </p:nvCxnSpPr>
            <p:spPr>
              <a:xfrm>
                <a:off x="9262131" y="3373915"/>
                <a:ext cx="0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E64989C-A3A7-338C-F695-2A7C96222721}"/>
                  </a:ext>
                </a:extLst>
              </p:cNvPr>
              <p:cNvCxnSpPr>
                <a:cxnSpLocks/>
                <a:stCxn id="7" idx="3"/>
                <a:endCxn id="6" idx="1"/>
              </p:cNvCxnSpPr>
              <p:nvPr/>
            </p:nvCxnSpPr>
            <p:spPr>
              <a:xfrm flipV="1">
                <a:off x="8035269" y="3373915"/>
                <a:ext cx="1226862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BE4B1A6-2F54-C5DE-E4C6-21702A24942A}"/>
                  </a:ext>
                </a:extLst>
              </p:cNvPr>
              <p:cNvCxnSpPr>
                <a:cxnSpLocks/>
                <a:stCxn id="7" idx="3"/>
                <a:endCxn id="8" idx="1"/>
              </p:cNvCxnSpPr>
              <p:nvPr/>
            </p:nvCxnSpPr>
            <p:spPr>
              <a:xfrm>
                <a:off x="8035269" y="4318051"/>
                <a:ext cx="1226862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D080A6-F087-DC45-BE6E-F5CA8A86AB44}"/>
                  </a:ext>
                </a:extLst>
              </p:cNvPr>
              <p:cNvSpPr txBox="1"/>
              <p:nvPr/>
            </p:nvSpPr>
            <p:spPr>
              <a:xfrm>
                <a:off x="8331145" y="1825625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CPU</a:t>
                </a:r>
                <a:endParaRPr lang="LID4096" dirty="0"/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44FC1C6E-D1AE-3B73-5875-36AACAD137AE}"/>
                  </a:ext>
                </a:extLst>
              </p:cNvPr>
              <p:cNvGrpSpPr/>
              <p:nvPr/>
            </p:nvGrpSpPr>
            <p:grpSpPr>
              <a:xfrm>
                <a:off x="7315200" y="2672576"/>
                <a:ext cx="720069" cy="886005"/>
                <a:chOff x="7315200" y="2672576"/>
                <a:chExt cx="720069" cy="886005"/>
              </a:xfrm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8EF782E-62A2-E513-750B-C05D84861619}"/>
                    </a:ext>
                  </a:extLst>
                </p:cNvPr>
                <p:cNvSpPr/>
                <p:nvPr/>
              </p:nvSpPr>
              <p:spPr>
                <a:xfrm>
                  <a:off x="7315200" y="2672576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48E1A7F-1AA9-D13E-C6F6-2481BD793572}"/>
                    </a:ext>
                  </a:extLst>
                </p:cNvPr>
                <p:cNvSpPr txBox="1"/>
                <p:nvPr/>
              </p:nvSpPr>
              <p:spPr>
                <a:xfrm>
                  <a:off x="7315200" y="3189249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0</a:t>
                  </a:r>
                  <a:endParaRPr lang="LID4096" baseline="-25000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5CE565C-5D50-CDEB-14EB-7B903F925039}"/>
                    </a:ext>
                  </a:extLst>
                </p:cNvPr>
                <p:cNvSpPr txBox="1"/>
                <p:nvPr/>
              </p:nvSpPr>
              <p:spPr>
                <a:xfrm>
                  <a:off x="7337502" y="2672576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6934E003-80EF-938C-E880-BD1E9C6AC043}"/>
                    </a:ext>
                  </a:extLst>
                </p:cNvPr>
                <p:cNvCxnSpPr>
                  <a:stCxn id="12" idx="2"/>
                  <a:endCxn id="5" idx="0"/>
                </p:cNvCxnSpPr>
                <p:nvPr/>
              </p:nvCxnSpPr>
              <p:spPr>
                <a:xfrm>
                  <a:off x="7672690" y="3041908"/>
                  <a:ext cx="2545" cy="147341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83A5641-9A46-2F27-703B-E12977E5C283}"/>
                  </a:ext>
                </a:extLst>
              </p:cNvPr>
              <p:cNvGrpSpPr/>
              <p:nvPr/>
            </p:nvGrpSpPr>
            <p:grpSpPr>
              <a:xfrm>
                <a:off x="9262131" y="2671440"/>
                <a:ext cx="730762" cy="887141"/>
                <a:chOff x="9262131" y="2671440"/>
                <a:chExt cx="730762" cy="887141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4B116CA8-B3FA-BC09-4477-1678E5881540}"/>
                    </a:ext>
                  </a:extLst>
                </p:cNvPr>
                <p:cNvSpPr/>
                <p:nvPr/>
              </p:nvSpPr>
              <p:spPr>
                <a:xfrm>
                  <a:off x="9292910" y="2671440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C7A6326-46DF-0050-2CE5-6A5264449A04}"/>
                    </a:ext>
                  </a:extLst>
                </p:cNvPr>
                <p:cNvSpPr txBox="1"/>
                <p:nvPr/>
              </p:nvSpPr>
              <p:spPr>
                <a:xfrm>
                  <a:off x="9262131" y="3189249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1</a:t>
                  </a:r>
                  <a:endParaRPr lang="LID4096" baseline="-25000" dirty="0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DA4247D-4107-C28C-B2D8-D753A8B4C453}"/>
                    </a:ext>
                  </a:extLst>
                </p:cNvPr>
                <p:cNvSpPr txBox="1"/>
                <p:nvPr/>
              </p:nvSpPr>
              <p:spPr>
                <a:xfrm>
                  <a:off x="9290824" y="2677642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529A86E-0038-E665-F9CC-5A52537FE1D5}"/>
                    </a:ext>
                  </a:extLst>
                </p:cNvPr>
                <p:cNvCxnSpPr>
                  <a:cxnSpLocks/>
                  <a:stCxn id="11" idx="2"/>
                  <a:endCxn id="6" idx="0"/>
                </p:cNvCxnSpPr>
                <p:nvPr/>
              </p:nvCxnSpPr>
              <p:spPr>
                <a:xfrm flipH="1">
                  <a:off x="9622166" y="3046974"/>
                  <a:ext cx="3846" cy="142275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04D655B6-50B7-5A95-6FFF-3AE21E24F1D7}"/>
                  </a:ext>
                </a:extLst>
              </p:cNvPr>
              <p:cNvGrpSpPr/>
              <p:nvPr/>
            </p:nvGrpSpPr>
            <p:grpSpPr>
              <a:xfrm>
                <a:off x="7315200" y="4133385"/>
                <a:ext cx="722285" cy="886005"/>
                <a:chOff x="7315200" y="4133385"/>
                <a:chExt cx="722285" cy="886005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1288CE00-6992-5C31-E04E-D7936A035388}"/>
                    </a:ext>
                  </a:extLst>
                </p:cNvPr>
                <p:cNvSpPr/>
                <p:nvPr/>
              </p:nvSpPr>
              <p:spPr>
                <a:xfrm>
                  <a:off x="7337502" y="4133385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7184EA9-D05A-A9CB-2CA9-91F5FF8F5B73}"/>
                    </a:ext>
                  </a:extLst>
                </p:cNvPr>
                <p:cNvSpPr txBox="1"/>
                <p:nvPr/>
              </p:nvSpPr>
              <p:spPr>
                <a:xfrm>
                  <a:off x="7315200" y="4133385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2</a:t>
                  </a:r>
                  <a:endParaRPr lang="LID4096" baseline="-25000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B45FC87-0FBB-8DE8-B419-A30CFB6613E3}"/>
                    </a:ext>
                  </a:extLst>
                </p:cNvPr>
                <p:cNvSpPr txBox="1"/>
                <p:nvPr/>
              </p:nvSpPr>
              <p:spPr>
                <a:xfrm>
                  <a:off x="7348653" y="4637654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2C42C23F-6CB8-451A-1EAA-CDE505825CA9}"/>
                    </a:ext>
                  </a:extLst>
                </p:cNvPr>
                <p:cNvCxnSpPr>
                  <a:cxnSpLocks/>
                  <a:stCxn id="7" idx="2"/>
                  <a:endCxn id="9" idx="0"/>
                </p:cNvCxnSpPr>
                <p:nvPr/>
              </p:nvCxnSpPr>
              <p:spPr>
                <a:xfrm>
                  <a:off x="7675235" y="4502717"/>
                  <a:ext cx="8606" cy="134937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8EC0F24-9F03-FCF8-02CF-0B364ABAFAE4}"/>
                  </a:ext>
                </a:extLst>
              </p:cNvPr>
              <p:cNvGrpSpPr/>
              <p:nvPr/>
            </p:nvGrpSpPr>
            <p:grpSpPr>
              <a:xfrm>
                <a:off x="9262131" y="4133385"/>
                <a:ext cx="746562" cy="886005"/>
                <a:chOff x="9262131" y="4133385"/>
                <a:chExt cx="746562" cy="886005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B0F67A46-7F49-C654-A2C5-7A161F847D0D}"/>
                    </a:ext>
                  </a:extLst>
                </p:cNvPr>
                <p:cNvSpPr/>
                <p:nvPr/>
              </p:nvSpPr>
              <p:spPr>
                <a:xfrm>
                  <a:off x="9308710" y="4133385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C33D96-E1D4-28D7-7FA8-11E98528D25A}"/>
                    </a:ext>
                  </a:extLst>
                </p:cNvPr>
                <p:cNvSpPr txBox="1"/>
                <p:nvPr/>
              </p:nvSpPr>
              <p:spPr>
                <a:xfrm>
                  <a:off x="9262131" y="4133385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3</a:t>
                  </a:r>
                  <a:endParaRPr lang="LID4096" baseline="-25000" dirty="0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A79843-494A-F40B-2802-F305CCE2E35B}"/>
                    </a:ext>
                  </a:extLst>
                </p:cNvPr>
                <p:cNvSpPr txBox="1"/>
                <p:nvPr/>
              </p:nvSpPr>
              <p:spPr>
                <a:xfrm>
                  <a:off x="9290824" y="4637654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CEAD8D83-9704-EC1E-E548-D09D257038E7}"/>
                    </a:ext>
                  </a:extLst>
                </p:cNvPr>
                <p:cNvCxnSpPr>
                  <a:cxnSpLocks/>
                  <a:stCxn id="8" idx="2"/>
                  <a:endCxn id="10" idx="0"/>
                </p:cNvCxnSpPr>
                <p:nvPr/>
              </p:nvCxnSpPr>
              <p:spPr>
                <a:xfrm>
                  <a:off x="9622166" y="4502717"/>
                  <a:ext cx="3846" cy="134937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E764BD8-871A-D43E-AEB7-BB2B291DD9DF}"/>
                  </a:ext>
                </a:extLst>
              </p:cNvPr>
              <p:cNvSpPr txBox="1"/>
              <p:nvPr/>
            </p:nvSpPr>
            <p:spPr>
              <a:xfrm>
                <a:off x="8331145" y="1179294"/>
                <a:ext cx="6422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RAM</a:t>
                </a:r>
                <a:endParaRPr lang="LID4096" dirty="0"/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3E037CE2-42CE-E5B1-80A7-562867093F1C}"/>
                  </a:ext>
                </a:extLst>
              </p:cNvPr>
              <p:cNvCxnSpPr>
                <a:cxnSpLocks/>
                <a:stCxn id="51" idx="2"/>
                <a:endCxn id="42" idx="0"/>
              </p:cNvCxnSpPr>
              <p:nvPr/>
            </p:nvCxnSpPr>
            <p:spPr>
              <a:xfrm flipH="1">
                <a:off x="8648700" y="1548626"/>
                <a:ext cx="3559" cy="27699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7E5F362A-D426-746C-D589-B05D831A9F13}"/>
                  </a:ext>
                </a:extLst>
              </p:cNvPr>
              <p:cNvCxnSpPr>
                <a:cxnSpLocks/>
                <a:endCxn id="42" idx="2"/>
              </p:cNvCxnSpPr>
              <p:nvPr/>
            </p:nvCxnSpPr>
            <p:spPr>
              <a:xfrm flipV="1">
                <a:off x="8648700" y="2194957"/>
                <a:ext cx="0" cy="1178957"/>
              </a:xfrm>
              <a:prstGeom prst="line">
                <a:avLst/>
              </a:prstGeom>
              <a:ln w="127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A43CA3D-F373-2846-2F0C-0B17761F455F}"/>
                </a:ext>
              </a:extLst>
            </p:cNvPr>
            <p:cNvSpPr txBox="1"/>
            <p:nvPr/>
          </p:nvSpPr>
          <p:spPr>
            <a:xfrm>
              <a:off x="5969460" y="2663339"/>
              <a:ext cx="65915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PCIe</a:t>
              </a:r>
              <a:endParaRPr lang="LID4096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08CED08-2DED-1D31-EC58-5443B8F78965}"/>
                </a:ext>
              </a:extLst>
            </p:cNvPr>
            <p:cNvSpPr txBox="1"/>
            <p:nvPr/>
          </p:nvSpPr>
          <p:spPr>
            <a:xfrm>
              <a:off x="5923968" y="4769463"/>
              <a:ext cx="8915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NVLink</a:t>
              </a:r>
              <a:endParaRPr lang="LID4096" dirty="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CCE4BD9-A7C7-95EB-B828-CFCFF1CDF547}"/>
              </a:ext>
            </a:extLst>
          </p:cNvPr>
          <p:cNvGrpSpPr/>
          <p:nvPr/>
        </p:nvGrpSpPr>
        <p:grpSpPr>
          <a:xfrm>
            <a:off x="8934253" y="1624544"/>
            <a:ext cx="3078210" cy="4136243"/>
            <a:chOff x="8428696" y="1624544"/>
            <a:chExt cx="3078210" cy="4136243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33C0FE1-F508-55F8-CA30-466C224287BC}"/>
                </a:ext>
              </a:extLst>
            </p:cNvPr>
            <p:cNvGrpSpPr/>
            <p:nvPr/>
          </p:nvGrpSpPr>
          <p:grpSpPr>
            <a:xfrm>
              <a:off x="8428696" y="1624544"/>
              <a:ext cx="3078210" cy="4136243"/>
              <a:chOff x="7132474" y="1173131"/>
              <a:chExt cx="3078210" cy="4136243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5A59B48-500F-A233-2BCF-4A1554F5871C}"/>
                  </a:ext>
                </a:extLst>
              </p:cNvPr>
              <p:cNvSpPr/>
              <p:nvPr/>
            </p:nvSpPr>
            <p:spPr>
              <a:xfrm>
                <a:off x="7132474" y="1173131"/>
                <a:ext cx="3078210" cy="4136243"/>
              </a:xfrm>
              <a:prstGeom prst="rect">
                <a:avLst/>
              </a:prstGeom>
              <a:solidFill>
                <a:schemeClr val="bg1">
                  <a:lumMod val="85000"/>
                  <a:alpha val="3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45E9E67-CBE3-E394-61BA-5EEA74D93E7D}"/>
                  </a:ext>
                </a:extLst>
              </p:cNvPr>
              <p:cNvCxnSpPr>
                <a:stCxn id="94" idx="3"/>
                <a:endCxn id="90" idx="1"/>
              </p:cNvCxnSpPr>
              <p:nvPr/>
            </p:nvCxnSpPr>
            <p:spPr>
              <a:xfrm>
                <a:off x="8035269" y="3373915"/>
                <a:ext cx="1226862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9BFB3E2-CB1E-AF11-80DB-D887A8993C61}"/>
                  </a:ext>
                </a:extLst>
              </p:cNvPr>
              <p:cNvCxnSpPr>
                <a:cxnSpLocks/>
                <a:stCxn id="94" idx="3"/>
                <a:endCxn id="86" idx="3"/>
              </p:cNvCxnSpPr>
              <p:nvPr/>
            </p:nvCxnSpPr>
            <p:spPr>
              <a:xfrm>
                <a:off x="8035269" y="3373915"/>
                <a:ext cx="0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1A4354E-1DF9-6473-DB3C-30BCC687D7BC}"/>
                  </a:ext>
                </a:extLst>
              </p:cNvPr>
              <p:cNvCxnSpPr>
                <a:cxnSpLocks/>
                <a:stCxn id="94" idx="3"/>
                <a:endCxn id="82" idx="1"/>
              </p:cNvCxnSpPr>
              <p:nvPr/>
            </p:nvCxnSpPr>
            <p:spPr>
              <a:xfrm>
                <a:off x="8035269" y="3373915"/>
                <a:ext cx="1226862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09EBA3A2-A3D6-040C-AF89-4C4F301EE4C8}"/>
                  </a:ext>
                </a:extLst>
              </p:cNvPr>
              <p:cNvCxnSpPr>
                <a:cxnSpLocks/>
                <a:stCxn id="90" idx="1"/>
                <a:endCxn id="82" idx="1"/>
              </p:cNvCxnSpPr>
              <p:nvPr/>
            </p:nvCxnSpPr>
            <p:spPr>
              <a:xfrm>
                <a:off x="9262131" y="3373915"/>
                <a:ext cx="0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067E2F4E-4A99-60FA-9FFC-BD0B213AEED0}"/>
                  </a:ext>
                </a:extLst>
              </p:cNvPr>
              <p:cNvCxnSpPr>
                <a:cxnSpLocks/>
                <a:stCxn id="86" idx="3"/>
                <a:endCxn id="90" idx="1"/>
              </p:cNvCxnSpPr>
              <p:nvPr/>
            </p:nvCxnSpPr>
            <p:spPr>
              <a:xfrm flipV="1">
                <a:off x="8035269" y="3373915"/>
                <a:ext cx="1226862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7395492-E76A-E076-E0F0-CC30B33607AB}"/>
                  </a:ext>
                </a:extLst>
              </p:cNvPr>
              <p:cNvCxnSpPr>
                <a:cxnSpLocks/>
                <a:stCxn id="86" idx="3"/>
                <a:endCxn id="82" idx="1"/>
              </p:cNvCxnSpPr>
              <p:nvPr/>
            </p:nvCxnSpPr>
            <p:spPr>
              <a:xfrm>
                <a:off x="8035269" y="4318051"/>
                <a:ext cx="1226862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82A7B87-2878-880B-83D4-0F786C9FE8A4}"/>
                  </a:ext>
                </a:extLst>
              </p:cNvPr>
              <p:cNvSpPr txBox="1"/>
              <p:nvPr/>
            </p:nvSpPr>
            <p:spPr>
              <a:xfrm>
                <a:off x="8331145" y="1825625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CPU</a:t>
                </a:r>
                <a:endParaRPr lang="LID4096" dirty="0"/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C3F9CFA9-B7C4-9A4E-F9FC-E9E8819E2670}"/>
                  </a:ext>
                </a:extLst>
              </p:cNvPr>
              <p:cNvGrpSpPr/>
              <p:nvPr/>
            </p:nvGrpSpPr>
            <p:grpSpPr>
              <a:xfrm>
                <a:off x="7315200" y="2672576"/>
                <a:ext cx="720069" cy="886005"/>
                <a:chOff x="7315200" y="2672576"/>
                <a:chExt cx="720069" cy="886005"/>
              </a:xfrm>
            </p:grpSpPr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0FF4C75B-C62A-BA71-B7BD-31B1EB9FD165}"/>
                    </a:ext>
                  </a:extLst>
                </p:cNvPr>
                <p:cNvSpPr/>
                <p:nvPr/>
              </p:nvSpPr>
              <p:spPr>
                <a:xfrm>
                  <a:off x="7315200" y="2672576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CCFE920-89AB-D1A4-9065-6F450915FA64}"/>
                    </a:ext>
                  </a:extLst>
                </p:cNvPr>
                <p:cNvSpPr txBox="1"/>
                <p:nvPr/>
              </p:nvSpPr>
              <p:spPr>
                <a:xfrm>
                  <a:off x="7315200" y="3189249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0</a:t>
                  </a:r>
                  <a:endParaRPr lang="LID4096" baseline="-25000" dirty="0"/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EC18AA70-DE52-6B02-8A42-8CA91A5511BA}"/>
                    </a:ext>
                  </a:extLst>
                </p:cNvPr>
                <p:cNvSpPr txBox="1"/>
                <p:nvPr/>
              </p:nvSpPr>
              <p:spPr>
                <a:xfrm>
                  <a:off x="7337502" y="2672576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B1CF15B8-4C9F-A78F-B25B-D569215ACB14}"/>
                    </a:ext>
                  </a:extLst>
                </p:cNvPr>
                <p:cNvCxnSpPr>
                  <a:stCxn id="95" idx="2"/>
                  <a:endCxn id="94" idx="0"/>
                </p:cNvCxnSpPr>
                <p:nvPr/>
              </p:nvCxnSpPr>
              <p:spPr>
                <a:xfrm>
                  <a:off x="7672690" y="3041908"/>
                  <a:ext cx="2545" cy="147341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17793684-7379-5A45-99F7-54A70962FB3B}"/>
                  </a:ext>
                </a:extLst>
              </p:cNvPr>
              <p:cNvGrpSpPr/>
              <p:nvPr/>
            </p:nvGrpSpPr>
            <p:grpSpPr>
              <a:xfrm>
                <a:off x="9262131" y="2671440"/>
                <a:ext cx="730762" cy="887141"/>
                <a:chOff x="9262131" y="2671440"/>
                <a:chExt cx="730762" cy="887141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0CE9FDB2-621B-2E9A-1544-C0B28693DD3A}"/>
                    </a:ext>
                  </a:extLst>
                </p:cNvPr>
                <p:cNvSpPr/>
                <p:nvPr/>
              </p:nvSpPr>
              <p:spPr>
                <a:xfrm>
                  <a:off x="9292910" y="2671440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4652690-18DD-82AF-4319-D21E5ED9AB6B}"/>
                    </a:ext>
                  </a:extLst>
                </p:cNvPr>
                <p:cNvSpPr txBox="1"/>
                <p:nvPr/>
              </p:nvSpPr>
              <p:spPr>
                <a:xfrm>
                  <a:off x="9262131" y="3189249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1</a:t>
                  </a:r>
                  <a:endParaRPr lang="LID4096" baseline="-25000" dirty="0"/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578103B6-7B12-1DD9-83BF-69C7F811A2C8}"/>
                    </a:ext>
                  </a:extLst>
                </p:cNvPr>
                <p:cNvSpPr txBox="1"/>
                <p:nvPr/>
              </p:nvSpPr>
              <p:spPr>
                <a:xfrm>
                  <a:off x="9290824" y="2677642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F3ABA18D-AADB-CEF1-7464-6347F9718E78}"/>
                    </a:ext>
                  </a:extLst>
                </p:cNvPr>
                <p:cNvCxnSpPr>
                  <a:cxnSpLocks/>
                  <a:stCxn id="91" idx="2"/>
                  <a:endCxn id="90" idx="0"/>
                </p:cNvCxnSpPr>
                <p:nvPr/>
              </p:nvCxnSpPr>
              <p:spPr>
                <a:xfrm flipH="1">
                  <a:off x="9622166" y="3046974"/>
                  <a:ext cx="3846" cy="142275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BEC1BD7C-3E41-3A22-7518-F46860A67D3E}"/>
                  </a:ext>
                </a:extLst>
              </p:cNvPr>
              <p:cNvGrpSpPr/>
              <p:nvPr/>
            </p:nvGrpSpPr>
            <p:grpSpPr>
              <a:xfrm>
                <a:off x="7315200" y="4133385"/>
                <a:ext cx="722285" cy="886005"/>
                <a:chOff x="7315200" y="4133385"/>
                <a:chExt cx="722285" cy="886005"/>
              </a:xfrm>
            </p:grpSpPr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3DF3ABA2-A750-0945-79E7-39C4CE120488}"/>
                    </a:ext>
                  </a:extLst>
                </p:cNvPr>
                <p:cNvSpPr/>
                <p:nvPr/>
              </p:nvSpPr>
              <p:spPr>
                <a:xfrm>
                  <a:off x="7337502" y="4133385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BB542027-C053-86A8-F67E-7022D3E5D94C}"/>
                    </a:ext>
                  </a:extLst>
                </p:cNvPr>
                <p:cNvSpPr txBox="1"/>
                <p:nvPr/>
              </p:nvSpPr>
              <p:spPr>
                <a:xfrm>
                  <a:off x="7315200" y="4133385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2</a:t>
                  </a:r>
                  <a:endParaRPr lang="LID4096" baseline="-25000" dirty="0"/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AB27343-E756-C4B0-4C5E-A9F982497ED5}"/>
                    </a:ext>
                  </a:extLst>
                </p:cNvPr>
                <p:cNvSpPr txBox="1"/>
                <p:nvPr/>
              </p:nvSpPr>
              <p:spPr>
                <a:xfrm>
                  <a:off x="7348653" y="4637654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02CAC5F9-C00B-31A3-3F79-3B48AFBEABC0}"/>
                    </a:ext>
                  </a:extLst>
                </p:cNvPr>
                <p:cNvCxnSpPr>
                  <a:cxnSpLocks/>
                  <a:stCxn id="86" idx="2"/>
                  <a:endCxn id="87" idx="0"/>
                </p:cNvCxnSpPr>
                <p:nvPr/>
              </p:nvCxnSpPr>
              <p:spPr>
                <a:xfrm>
                  <a:off x="7675235" y="4502717"/>
                  <a:ext cx="8606" cy="134937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F5791D21-5343-40CB-2862-37F414CABC77}"/>
                  </a:ext>
                </a:extLst>
              </p:cNvPr>
              <p:cNvGrpSpPr/>
              <p:nvPr/>
            </p:nvGrpSpPr>
            <p:grpSpPr>
              <a:xfrm>
                <a:off x="9262131" y="4133385"/>
                <a:ext cx="746562" cy="886005"/>
                <a:chOff x="9262131" y="4133385"/>
                <a:chExt cx="746562" cy="886005"/>
              </a:xfrm>
            </p:grpSpPr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13C5F1E0-CA02-9A78-8AA5-C98E7184E153}"/>
                    </a:ext>
                  </a:extLst>
                </p:cNvPr>
                <p:cNvSpPr/>
                <p:nvPr/>
              </p:nvSpPr>
              <p:spPr>
                <a:xfrm>
                  <a:off x="9308710" y="4133385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FAA03DE0-BA7F-4CFC-87AA-AC0EFF3D93F6}"/>
                    </a:ext>
                  </a:extLst>
                </p:cNvPr>
                <p:cNvSpPr txBox="1"/>
                <p:nvPr/>
              </p:nvSpPr>
              <p:spPr>
                <a:xfrm>
                  <a:off x="9262131" y="4133385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3</a:t>
                  </a:r>
                  <a:endParaRPr lang="LID4096" baseline="-25000" dirty="0"/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F845E91-04AF-1AEC-EA02-146C6C59B4A1}"/>
                    </a:ext>
                  </a:extLst>
                </p:cNvPr>
                <p:cNvSpPr txBox="1"/>
                <p:nvPr/>
              </p:nvSpPr>
              <p:spPr>
                <a:xfrm>
                  <a:off x="9290824" y="4637654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33018315-183E-D22A-BD76-ED0895005612}"/>
                    </a:ext>
                  </a:extLst>
                </p:cNvPr>
                <p:cNvCxnSpPr>
                  <a:cxnSpLocks/>
                  <a:stCxn id="82" idx="2"/>
                  <a:endCxn id="83" idx="0"/>
                </p:cNvCxnSpPr>
                <p:nvPr/>
              </p:nvCxnSpPr>
              <p:spPr>
                <a:xfrm>
                  <a:off x="9622166" y="4502717"/>
                  <a:ext cx="3846" cy="134937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6E370E1-560A-3198-FBCC-69CAD204167B}"/>
                  </a:ext>
                </a:extLst>
              </p:cNvPr>
              <p:cNvSpPr txBox="1"/>
              <p:nvPr/>
            </p:nvSpPr>
            <p:spPr>
              <a:xfrm>
                <a:off x="8331145" y="1179294"/>
                <a:ext cx="6422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RAM</a:t>
                </a:r>
                <a:endParaRPr lang="LID4096" dirty="0"/>
              </a:p>
            </p:txBody>
          </p: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08A8F70-2AB7-FFEE-26E4-7174FD94AFDB}"/>
                  </a:ext>
                </a:extLst>
              </p:cNvPr>
              <p:cNvCxnSpPr>
                <a:cxnSpLocks/>
                <a:stCxn id="79" idx="2"/>
                <a:endCxn id="74" idx="0"/>
              </p:cNvCxnSpPr>
              <p:nvPr/>
            </p:nvCxnSpPr>
            <p:spPr>
              <a:xfrm flipH="1">
                <a:off x="8648700" y="1548626"/>
                <a:ext cx="3559" cy="27699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8AEBCB0-6735-6B04-978D-09D59F35F63F}"/>
                  </a:ext>
                </a:extLst>
              </p:cNvPr>
              <p:cNvCxnSpPr>
                <a:cxnSpLocks/>
                <a:endCxn id="74" idx="2"/>
              </p:cNvCxnSpPr>
              <p:nvPr/>
            </p:nvCxnSpPr>
            <p:spPr>
              <a:xfrm flipV="1">
                <a:off x="8648700" y="2194957"/>
                <a:ext cx="0" cy="1178957"/>
              </a:xfrm>
              <a:prstGeom prst="line">
                <a:avLst/>
              </a:prstGeom>
              <a:ln w="127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B449A76-B523-F5C6-42C3-E496EE4BB5B6}"/>
                </a:ext>
              </a:extLst>
            </p:cNvPr>
            <p:cNvSpPr txBox="1"/>
            <p:nvPr/>
          </p:nvSpPr>
          <p:spPr>
            <a:xfrm>
              <a:off x="9606314" y="2699179"/>
              <a:ext cx="65915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PCIe</a:t>
              </a:r>
              <a:endParaRPr lang="LID4096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A1CEC29-3189-DBB2-0D6C-4F6F0333711C}"/>
                </a:ext>
              </a:extLst>
            </p:cNvPr>
            <p:cNvSpPr txBox="1"/>
            <p:nvPr/>
          </p:nvSpPr>
          <p:spPr>
            <a:xfrm>
              <a:off x="9560235" y="4769463"/>
              <a:ext cx="8915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NVLink</a:t>
              </a:r>
              <a:endParaRPr lang="LID4096" dirty="0"/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B49BB5E-2EAB-61D1-9767-777685426D91}"/>
              </a:ext>
            </a:extLst>
          </p:cNvPr>
          <p:cNvSpPr txBox="1"/>
          <p:nvPr/>
        </p:nvSpPr>
        <p:spPr>
          <a:xfrm>
            <a:off x="8165573" y="2646370"/>
            <a:ext cx="64633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HDR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9474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F6F0F-66D1-FA46-5FA4-75EBAA96F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A1529-69EC-55A0-F678-3FFE8A1A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Streaming Multiprocessor (SM)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BDB9A-1F2F-6839-9FA4-FD308110C6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4 Warp schedulers</a:t>
            </a:r>
          </a:p>
          <a:p>
            <a:r>
              <a:rPr lang="en-US" dirty="0"/>
              <a:t>Simple architecture</a:t>
            </a:r>
          </a:p>
          <a:p>
            <a:pPr lvl="1"/>
            <a:r>
              <a:rPr lang="en-US" dirty="0"/>
              <a:t>No out-of-order execution</a:t>
            </a:r>
          </a:p>
          <a:p>
            <a:pPr lvl="1"/>
            <a:r>
              <a:rPr lang="en-US" dirty="0"/>
              <a:t>No branch prediction</a:t>
            </a:r>
          </a:p>
          <a:p>
            <a:pPr lvl="1"/>
            <a:r>
              <a:rPr lang="en-US" dirty="0"/>
              <a:t>No sophisticated control flow</a:t>
            </a:r>
          </a:p>
          <a:p>
            <a:r>
              <a:rPr lang="en-US" dirty="0"/>
              <a:t>Pipelines for</a:t>
            </a:r>
          </a:p>
          <a:p>
            <a:pPr lvl="1"/>
            <a:r>
              <a:rPr lang="en-US" dirty="0"/>
              <a:t>FP32</a:t>
            </a:r>
          </a:p>
          <a:p>
            <a:pPr lvl="1"/>
            <a:r>
              <a:rPr lang="en-US" dirty="0"/>
              <a:t>FP64</a:t>
            </a:r>
          </a:p>
          <a:p>
            <a:pPr lvl="1"/>
            <a:r>
              <a:rPr lang="en-US" dirty="0"/>
              <a:t>INT</a:t>
            </a:r>
          </a:p>
          <a:p>
            <a:pPr lvl="1"/>
            <a:r>
              <a:rPr lang="en-US" dirty="0"/>
              <a:t>Tensor</a:t>
            </a:r>
          </a:p>
          <a:p>
            <a:pPr lvl="1"/>
            <a:r>
              <a:rPr lang="en-US" dirty="0"/>
              <a:t>LD/ST</a:t>
            </a:r>
          </a:p>
          <a:p>
            <a:r>
              <a:rPr lang="en-US" dirty="0"/>
              <a:t>Memory lanes for pipelines</a:t>
            </a:r>
          </a:p>
          <a:p>
            <a:r>
              <a:rPr lang="en-US" dirty="0"/>
              <a:t>4-byte registers (thread-private) </a:t>
            </a:r>
          </a:p>
          <a:p>
            <a:r>
              <a:rPr lang="en-US" dirty="0"/>
              <a:t>Block shared memory/L1 cache</a:t>
            </a:r>
          </a:p>
          <a:p>
            <a:r>
              <a:rPr lang="en-US" dirty="0"/>
              <a:t>Const/texture cache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07547-36C1-93E5-61C8-B0AA72BE7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504679"/>
          </a:xfrm>
        </p:spPr>
        <p:txBody>
          <a:bodyPr>
            <a:normAutofit/>
          </a:bodyPr>
          <a:lstStyle/>
          <a:p>
            <a:r>
              <a:rPr lang="en-US" sz="2000" dirty="0"/>
              <a:t>Warp-group instructions (NVIDIA H100+)</a:t>
            </a:r>
          </a:p>
          <a:p>
            <a:pPr lvl="1"/>
            <a:r>
              <a:rPr lang="en-US" sz="1800" dirty="0"/>
              <a:t>4 warps participate in tensor instruction</a:t>
            </a:r>
          </a:p>
          <a:p>
            <a:pPr lvl="1"/>
            <a:r>
              <a:rPr lang="en-US" sz="1800" dirty="0"/>
              <a:t>Accommodate larger tensor cores &amp; matrix tiles</a:t>
            </a:r>
            <a:endParaRPr lang="LID4096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E3C0-B23C-2977-44C3-29D43CC0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31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40F67-7CA1-B69F-D2F2-19F6B83F873F}"/>
              </a:ext>
            </a:extLst>
          </p:cNvPr>
          <p:cNvSpPr txBox="1"/>
          <p:nvPr/>
        </p:nvSpPr>
        <p:spPr>
          <a:xfrm>
            <a:off x="3581401" y="5850235"/>
            <a:ext cx="414895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Warp</a:t>
            </a:r>
          </a:p>
          <a:p>
            <a:pPr algn="ctr"/>
            <a:r>
              <a:rPr lang="en-US" dirty="0"/>
              <a:t>=</a:t>
            </a:r>
          </a:p>
          <a:p>
            <a:pPr algn="ctr"/>
            <a:r>
              <a:rPr lang="en-US" dirty="0"/>
              <a:t>32 threads, all execute same instruction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F1AA736-1C7E-033F-9C8D-BDF62B809C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077939" y="3429000"/>
              <a:ext cx="309756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781">
                      <a:extLst>
                        <a:ext uri="{9D8B030D-6E8A-4147-A177-3AD203B41FA5}">
                          <a16:colId xmlns:a16="http://schemas.microsoft.com/office/drawing/2014/main" val="4133480754"/>
                        </a:ext>
                      </a:extLst>
                    </a:gridCol>
                    <a:gridCol w="1548781">
                      <a:extLst>
                        <a:ext uri="{9D8B030D-6E8A-4147-A177-3AD203B41FA5}">
                          <a16:colId xmlns:a16="http://schemas.microsoft.com/office/drawing/2014/main" val="35737962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5833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FP16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19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BF16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76102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TF32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8529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832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7665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FP64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884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93017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F1AA736-1C7E-033F-9C8D-BDF62B809C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6663764"/>
                  </p:ext>
                </p:extLst>
              </p:nvPr>
            </p:nvGraphicFramePr>
            <p:xfrm>
              <a:off x="8077939" y="3429000"/>
              <a:ext cx="309756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781">
                      <a:extLst>
                        <a:ext uri="{9D8B030D-6E8A-4147-A177-3AD203B41FA5}">
                          <a16:colId xmlns:a16="http://schemas.microsoft.com/office/drawing/2014/main" val="4133480754"/>
                        </a:ext>
                      </a:extLst>
                    </a:gridCol>
                    <a:gridCol w="1548781">
                      <a:extLst>
                        <a:ext uri="{9D8B030D-6E8A-4147-A177-3AD203B41FA5}">
                          <a16:colId xmlns:a16="http://schemas.microsoft.com/office/drawing/2014/main" val="35737962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00787" t="-6557" r="-1575" b="-5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833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FP16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19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BF16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76102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TF32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8529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832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7665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FP64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884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93017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B4C82F3-A7A1-4D39-6E39-F7E3F80A5CB3}"/>
              </a:ext>
            </a:extLst>
          </p:cNvPr>
          <p:cNvSpPr txBox="1"/>
          <p:nvPr/>
        </p:nvSpPr>
        <p:spPr>
          <a:xfrm>
            <a:off x="8073603" y="3019781"/>
            <a:ext cx="2249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E.g., for NVIDIA A100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6106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6C4A-EB85-9CCF-CB7F-9E87F306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memory hierarchy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CA5262-3FD9-20CC-59CE-33C595B747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3073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376">
                  <a:extLst>
                    <a:ext uri="{9D8B030D-6E8A-4147-A177-3AD203B41FA5}">
                      <a16:colId xmlns:a16="http://schemas.microsoft.com/office/drawing/2014/main" val="2517813158"/>
                    </a:ext>
                  </a:extLst>
                </a:gridCol>
                <a:gridCol w="908824">
                  <a:extLst>
                    <a:ext uri="{9D8B030D-6E8A-4147-A177-3AD203B41FA5}">
                      <a16:colId xmlns:a16="http://schemas.microsoft.com/office/drawing/2014/main" val="39618381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36225247"/>
                    </a:ext>
                  </a:extLst>
                </a:gridCol>
                <a:gridCol w="2858429">
                  <a:extLst>
                    <a:ext uri="{9D8B030D-6E8A-4147-A177-3AD203B41FA5}">
                      <a16:colId xmlns:a16="http://schemas.microsoft.com/office/drawing/2014/main" val="3238779323"/>
                    </a:ext>
                  </a:extLst>
                </a:gridCol>
                <a:gridCol w="2191091">
                  <a:extLst>
                    <a:ext uri="{9D8B030D-6E8A-4147-A177-3AD203B41FA5}">
                      <a16:colId xmlns:a16="http://schemas.microsoft.com/office/drawing/2014/main" val="2213997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Managed by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latency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 (NVIDIA A100)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852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Registers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Compiler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1 cycle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 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 B per SM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593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Shared memory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 10-20 cycles</a:t>
                      </a:r>
                      <a:endParaRPr lang="LID4096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Up to 164 KB,</a:t>
                      </a:r>
                    </a:p>
                    <a:p>
                      <a:r>
                        <a:rPr lang="en-US" dirty="0"/>
                        <a:t>part of 192 KB</a:t>
                      </a:r>
                      <a:endParaRPr lang="LID4096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827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L1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»"/>
                      </a:pPr>
                      <a:r>
                        <a:rPr lang="en-US" dirty="0">
                          <a:sym typeface="Symbol" panose="05050102010706020507" pitchFamily="18" charset="2"/>
                        </a:rPr>
                        <a:t>30-40 cycles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07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Const/texture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 constant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KB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287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L2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GPU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 200 cycles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 MB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91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Global (HBM)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GPU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 400-800 cycles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 or 80 GB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21370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327CF-031E-487F-EA1D-42370EB8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32</a:t>
            </a:fld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FD653D6-4392-5B93-6C69-49103106438A}"/>
              </a:ext>
            </a:extLst>
          </p:cNvPr>
          <p:cNvGrpSpPr/>
          <p:nvPr/>
        </p:nvGrpSpPr>
        <p:grpSpPr>
          <a:xfrm>
            <a:off x="2475571" y="4846988"/>
            <a:ext cx="7240858" cy="866902"/>
            <a:chOff x="2475571" y="4846988"/>
            <a:chExt cx="7240858" cy="86690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CB5854-A0F4-8563-A99F-3BF92987C839}"/>
                </a:ext>
              </a:extLst>
            </p:cNvPr>
            <p:cNvSpPr txBox="1"/>
            <p:nvPr/>
          </p:nvSpPr>
          <p:spPr>
            <a:xfrm>
              <a:off x="2475571" y="5252225"/>
              <a:ext cx="6621877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Registers + shared memory </a:t>
              </a:r>
              <a:r>
                <a:rPr lang="en-US" sz="2400" dirty="0">
                  <a:sym typeface="Symbol" panose="05050102010706020507" pitchFamily="18" charset="2"/>
                </a:rPr>
                <a:t></a:t>
              </a:r>
              <a:r>
                <a:rPr lang="en-US" sz="2400" dirty="0"/>
                <a:t> threads per block</a:t>
              </a:r>
              <a:endParaRPr lang="LID4096" sz="2400" dirty="0"/>
            </a:p>
          </p:txBody>
        </p:sp>
        <p:pic>
          <p:nvPicPr>
            <p:cNvPr id="7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F7D1BADB-03A9-B40C-E095-FE32BEA14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4341" y="4846988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6978B2-BF35-EB32-9887-B83E3C32FC9B}"/>
              </a:ext>
            </a:extLst>
          </p:cNvPr>
          <p:cNvGrpSpPr/>
          <p:nvPr/>
        </p:nvGrpSpPr>
        <p:grpSpPr>
          <a:xfrm>
            <a:off x="1628078" y="5790199"/>
            <a:ext cx="5773681" cy="760032"/>
            <a:chOff x="1628078" y="5790199"/>
            <a:chExt cx="5773681" cy="7600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5746FC-5403-91EF-E683-170A4DB0A047}"/>
                </a:ext>
              </a:extLst>
            </p:cNvPr>
            <p:cNvSpPr txBox="1"/>
            <p:nvPr/>
          </p:nvSpPr>
          <p:spPr>
            <a:xfrm>
              <a:off x="1628078" y="6088566"/>
              <a:ext cx="549060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Latency hiding through oversubscription</a:t>
              </a:r>
              <a:endParaRPr lang="LID4096" sz="2400" dirty="0"/>
            </a:p>
          </p:txBody>
        </p:sp>
        <p:pic>
          <p:nvPicPr>
            <p:cNvPr id="10" name="Graphic 9" descr="Rocket with solid fill">
              <a:extLst>
                <a:ext uri="{FF2B5EF4-FFF2-40B4-BE49-F238E27FC236}">
                  <a16:creationId xmlns:a16="http://schemas.microsoft.com/office/drawing/2014/main" id="{8CD65584-63CE-4D12-E64E-23076AF241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35608" y="5790199"/>
              <a:ext cx="566151" cy="5661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020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3F25-99D4-B357-3E78-E061D253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&amp; compute capability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7131578-85ED-43F5-828C-A56DB1BC0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1748609"/>
              </p:ext>
            </p:extLst>
          </p:nvPr>
        </p:nvGraphicFramePr>
        <p:xfrm>
          <a:off x="511628" y="2032454"/>
          <a:ext cx="1116874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64292585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8767501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71623090"/>
                    </a:ext>
                  </a:extLst>
                </a:gridCol>
                <a:gridCol w="1199195">
                  <a:extLst>
                    <a:ext uri="{9D8B030D-6E8A-4147-A177-3AD203B41FA5}">
                      <a16:colId xmlns:a16="http://schemas.microsoft.com/office/drawing/2014/main" val="50273809"/>
                    </a:ext>
                  </a:extLst>
                </a:gridCol>
                <a:gridCol w="1764732">
                  <a:extLst>
                    <a:ext uri="{9D8B030D-6E8A-4147-A177-3AD203B41FA5}">
                      <a16:colId xmlns:a16="http://schemas.microsoft.com/office/drawing/2014/main" val="3495195430"/>
                    </a:ext>
                  </a:extLst>
                </a:gridCol>
                <a:gridCol w="1942390">
                  <a:extLst>
                    <a:ext uri="{9D8B030D-6E8A-4147-A177-3AD203B41FA5}">
                      <a16:colId xmlns:a16="http://schemas.microsoft.com/office/drawing/2014/main" val="2302704746"/>
                    </a:ext>
                  </a:extLst>
                </a:gridCol>
                <a:gridCol w="2169397">
                  <a:extLst>
                    <a:ext uri="{9D8B030D-6E8A-4147-A177-3AD203B41FA5}">
                      <a16:colId xmlns:a16="http://schemas.microsoft.com/office/drawing/2014/main" val="3033642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Architecture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 capability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NVLink</a:t>
                      </a:r>
                      <a:r>
                        <a:rPr lang="en-US" dirty="0"/>
                        <a:t> version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PCIe version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 frequency (GHz)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Boost frequency (GHz)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90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73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Volta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97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Ampere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5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Hopper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376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HGX B200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Blackwell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6.0+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69118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D5D90-0B86-0133-AF47-BBB6D3B2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76162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5BBC9-1D76-40AA-06E2-72BB96B26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memory architecture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90A6019-3020-9388-C706-743CF8F36C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326922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1322963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204274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0991377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1851521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059187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23911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HGX B200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487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Registers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 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 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 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 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 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 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64 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 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64 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 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294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Shared memory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164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228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228 KB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232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L1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04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L1 + shared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Separate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 KB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009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KB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95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L2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MB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MB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 MB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 MB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126 MB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5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Global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 GB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GB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 GB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 GB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 GB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90487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FA4BE-8463-E572-A8F2-A6051F65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34</a:t>
            </a:fld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0F3B05-69A5-7DD8-F266-C420EF4D8A93}"/>
              </a:ext>
            </a:extLst>
          </p:cNvPr>
          <p:cNvGrpSpPr/>
          <p:nvPr/>
        </p:nvGrpSpPr>
        <p:grpSpPr>
          <a:xfrm>
            <a:off x="2040674" y="5281960"/>
            <a:ext cx="8224104" cy="1084475"/>
            <a:chOff x="2040674" y="5281960"/>
            <a:chExt cx="8224104" cy="108447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BFEE05F-3ED5-C21C-E39D-CCEDDDB3D4EC}"/>
                </a:ext>
              </a:extLst>
            </p:cNvPr>
            <p:cNvSpPr txBox="1"/>
            <p:nvPr/>
          </p:nvSpPr>
          <p:spPr>
            <a:xfrm>
              <a:off x="2040674" y="5281960"/>
              <a:ext cx="7719164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Check cache size assumptions for kernels!</a:t>
              </a:r>
              <a:endParaRPr lang="LID4096" sz="3200" dirty="0"/>
            </a:p>
          </p:txBody>
        </p:sp>
        <p:pic>
          <p:nvPicPr>
            <p:cNvPr id="7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E695CA17-F322-576B-2E34-D8C9DF9EF2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72690" y="5574347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6423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5409-FED9-87E1-4A7C-28A71679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SMs</a:t>
            </a:r>
            <a:endParaRPr lang="LID4096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FDA9C8F-BA67-64BA-401C-1559E2F026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72028"/>
              </p:ext>
            </p:extLst>
          </p:nvPr>
        </p:nvGraphicFramePr>
        <p:xfrm>
          <a:off x="200722" y="1836776"/>
          <a:ext cx="1190950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946">
                  <a:extLst>
                    <a:ext uri="{9D8B030D-6E8A-4147-A177-3AD203B41FA5}">
                      <a16:colId xmlns:a16="http://schemas.microsoft.com/office/drawing/2014/main" val="1143062976"/>
                    </a:ext>
                  </a:extLst>
                </a:gridCol>
                <a:gridCol w="657922">
                  <a:extLst>
                    <a:ext uri="{9D8B030D-6E8A-4147-A177-3AD203B41FA5}">
                      <a16:colId xmlns:a16="http://schemas.microsoft.com/office/drawing/2014/main" val="2148649971"/>
                    </a:ext>
                  </a:extLst>
                </a:gridCol>
                <a:gridCol w="1047153">
                  <a:extLst>
                    <a:ext uri="{9D8B030D-6E8A-4147-A177-3AD203B41FA5}">
                      <a16:colId xmlns:a16="http://schemas.microsoft.com/office/drawing/2014/main" val="792951013"/>
                    </a:ext>
                  </a:extLst>
                </a:gridCol>
                <a:gridCol w="3234916">
                  <a:extLst>
                    <a:ext uri="{9D8B030D-6E8A-4147-A177-3AD203B41FA5}">
                      <a16:colId xmlns:a16="http://schemas.microsoft.com/office/drawing/2014/main" val="1480447786"/>
                    </a:ext>
                  </a:extLst>
                </a:gridCol>
                <a:gridCol w="4483055">
                  <a:extLst>
                    <a:ext uri="{9D8B030D-6E8A-4147-A177-3AD203B41FA5}">
                      <a16:colId xmlns:a16="http://schemas.microsoft.com/office/drawing/2014/main" val="1217986030"/>
                    </a:ext>
                  </a:extLst>
                </a:gridCol>
                <a:gridCol w="1605509">
                  <a:extLst>
                    <a:ext uri="{9D8B030D-6E8A-4147-A177-3AD203B41FA5}">
                      <a16:colId xmlns:a16="http://schemas.microsoft.com/office/drawing/2014/main" val="2182327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Cores per SM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Lanes (TF32/FP64/INT)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Tensor cores per SM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Tensor tile sizes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70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64/32/64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659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64/32/64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(mixed FP16/FP32)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936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64/32/64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(FP16, BF16, TF32, FP64)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8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83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128/64/64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(</a:t>
                      </a:r>
                      <a:r>
                        <a:rPr lang="en-US" b="1" dirty="0"/>
                        <a:t>FP8</a:t>
                      </a:r>
                      <a:r>
                        <a:rPr lang="en-US" dirty="0"/>
                        <a:t>, FP16, BF16, TF32, FP64)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64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16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074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B200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128/64/64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(</a:t>
                      </a:r>
                      <a:r>
                        <a:rPr lang="en-US" b="1" dirty="0"/>
                        <a:t>FP4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FP6</a:t>
                      </a:r>
                      <a:r>
                        <a:rPr lang="en-US" dirty="0"/>
                        <a:t>, FP8, FP16, BF16, TF32, FP64)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64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32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7384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2DDE4-E08E-5211-BF8E-4CD6C144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35</a:t>
            </a:fld>
            <a:endParaRPr lang="LID4096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A9BE9A-561D-D0A5-F935-B56B71236138}"/>
              </a:ext>
            </a:extLst>
          </p:cNvPr>
          <p:cNvGrpSpPr/>
          <p:nvPr/>
        </p:nvGrpSpPr>
        <p:grpSpPr>
          <a:xfrm>
            <a:off x="7939668" y="4061816"/>
            <a:ext cx="3679533" cy="1946470"/>
            <a:chOff x="7939668" y="4061816"/>
            <a:chExt cx="3679533" cy="194647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270868-E82D-EAD1-4CFA-38AAAA8D6D4F}"/>
                </a:ext>
              </a:extLst>
            </p:cNvPr>
            <p:cNvSpPr txBox="1"/>
            <p:nvPr/>
          </p:nvSpPr>
          <p:spPr>
            <a:xfrm>
              <a:off x="7939668" y="5084956"/>
              <a:ext cx="3679533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E.g., for H100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FP32 peak </a:t>
              </a:r>
              <a:r>
                <a:rPr lang="en-US" dirty="0">
                  <a:sym typeface="Symbol" panose="05050102010706020507" pitchFamily="18" charset="2"/>
                </a:rPr>
                <a:t> 60 TFLOP/s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ym typeface="Symbol" panose="05050102010706020507" pitchFamily="18" charset="2"/>
                </a:rPr>
                <a:t>FP8 tensor peak   2000 TFLOP/s</a:t>
              </a:r>
              <a:endParaRPr lang="LID4096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DB7DE55-89F7-BF7E-1D19-34ADBF54F922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8709102" y="4061816"/>
              <a:ext cx="1070333" cy="10231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75370D-7D2E-2DA2-F98F-11B7E8EA0694}"/>
              </a:ext>
            </a:extLst>
          </p:cNvPr>
          <p:cNvGrpSpPr/>
          <p:nvPr/>
        </p:nvGrpSpPr>
        <p:grpSpPr>
          <a:xfrm>
            <a:off x="2416467" y="4061816"/>
            <a:ext cx="4247125" cy="1914402"/>
            <a:chOff x="7939668" y="4093884"/>
            <a:chExt cx="4247125" cy="191440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46A7E2-0170-1D8C-8DC6-6AA282B3FA40}"/>
                </a:ext>
              </a:extLst>
            </p:cNvPr>
            <p:cNvSpPr txBox="1"/>
            <p:nvPr/>
          </p:nvSpPr>
          <p:spPr>
            <a:xfrm>
              <a:off x="7939668" y="5084956"/>
              <a:ext cx="4247125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32 lanes </a:t>
              </a:r>
              <a:r>
                <a:rPr lang="en-US" dirty="0">
                  <a:sym typeface="Symbol" panose="05050102010706020507" pitchFamily="18" charset="2"/>
                </a:rPr>
                <a:t></a:t>
              </a:r>
              <a:r>
                <a:rPr lang="en-US" dirty="0"/>
                <a:t> 1 warp instruction/cycle</a:t>
              </a:r>
              <a:endParaRPr lang="en-US" dirty="0">
                <a:sym typeface="Symbol" panose="05050102010706020507" pitchFamily="18" charset="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64 lanes </a:t>
              </a:r>
              <a:r>
                <a:rPr lang="en-US" dirty="0">
                  <a:sym typeface="Symbol" panose="05050102010706020507" pitchFamily="18" charset="2"/>
                </a:rPr>
                <a:t></a:t>
              </a:r>
              <a:r>
                <a:rPr lang="en-US" dirty="0"/>
                <a:t> 2 warp instructions/cycle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ym typeface="Symbol" panose="05050102010706020507" pitchFamily="18" charset="2"/>
                </a:rPr>
                <a:t>128 lanes </a:t>
              </a:r>
              <a:r>
                <a:rPr lang="en-US" dirty="0"/>
                <a:t> 4 warp instructions/cycle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588CAC0-F643-0DE2-07C9-B2383978DF65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9671455" y="4093884"/>
              <a:ext cx="391776" cy="9910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853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C62E-1C3F-F3B0-2C5D-414B12D1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NVLink</a:t>
            </a:r>
            <a:r>
              <a:rPr lang="en-US" dirty="0"/>
              <a:t>/</a:t>
            </a:r>
            <a:r>
              <a:rPr lang="en-US" dirty="0" err="1"/>
              <a:t>NVSwitch</a:t>
            </a:r>
            <a:r>
              <a:rPr lang="en-US" dirty="0"/>
              <a:t> &amp; PCIe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A228F26-1D8B-CA33-9439-C3D8DB288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2309018"/>
              </p:ext>
            </p:extLst>
          </p:nvPr>
        </p:nvGraphicFramePr>
        <p:xfrm>
          <a:off x="1491475" y="1937137"/>
          <a:ext cx="920905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93">
                  <a:extLst>
                    <a:ext uri="{9D8B030D-6E8A-4147-A177-3AD203B41FA5}">
                      <a16:colId xmlns:a16="http://schemas.microsoft.com/office/drawing/2014/main" val="721391912"/>
                    </a:ext>
                  </a:extLst>
                </a:gridCol>
                <a:gridCol w="1584548">
                  <a:extLst>
                    <a:ext uri="{9D8B030D-6E8A-4147-A177-3AD203B41FA5}">
                      <a16:colId xmlns:a16="http://schemas.microsoft.com/office/drawing/2014/main" val="1987130790"/>
                    </a:ext>
                  </a:extLst>
                </a:gridCol>
                <a:gridCol w="3229116">
                  <a:extLst>
                    <a:ext uri="{9D8B030D-6E8A-4147-A177-3AD203B41FA5}">
                      <a16:colId xmlns:a16="http://schemas.microsoft.com/office/drawing/2014/main" val="3476773505"/>
                    </a:ext>
                  </a:extLst>
                </a:gridCol>
                <a:gridCol w="3256993">
                  <a:extLst>
                    <a:ext uri="{9D8B030D-6E8A-4147-A177-3AD203B41FA5}">
                      <a16:colId xmlns:a16="http://schemas.microsoft.com/office/drawing/2014/main" val="1790982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Links/GPU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GPU-GPU bandwidth (GB/s)</a:t>
                      </a:r>
                      <a:br>
                        <a:rPr lang="en-US" dirty="0"/>
                      </a:br>
                      <a:r>
                        <a:rPr lang="en-US" dirty="0"/>
                        <a:t>each way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PCIe bandwidth (GB/s)</a:t>
                      </a:r>
                      <a:br>
                        <a:rPr lang="en-US" dirty="0"/>
                      </a:br>
                      <a:r>
                        <a:rPr lang="en-US" dirty="0"/>
                        <a:t>each way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80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to 40 (non-uniform)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252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 (non-uniform)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430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97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514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B200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62895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DFE7B-6E92-A45C-D71B-D151B733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87503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D352-F1AE-BB23-324F-4AB9EFD45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software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E9A51-9F74-4BCC-5F7F-F70226971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memory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increase tile size</a:t>
            </a:r>
          </a:p>
          <a:p>
            <a:r>
              <a:rPr lang="en-US" dirty="0"/>
              <a:t>More L2 cache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ensure L2 locality</a:t>
            </a:r>
          </a:p>
          <a:p>
            <a:r>
              <a:rPr lang="en-US" dirty="0"/>
              <a:t>Tensor cores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exploit mixed precision</a:t>
            </a:r>
          </a:p>
          <a:p>
            <a:r>
              <a:rPr lang="en-US" dirty="0"/>
              <a:t>More instruction level parallelism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occupancy can decrease</a:t>
            </a:r>
          </a:p>
          <a:p>
            <a:r>
              <a:rPr lang="en-US" dirty="0"/>
              <a:t>Overlap memory transfer and computation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AB467-80B9-EAFD-87B0-6600B907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37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F0402-951C-D71C-B422-165CE2CF2B87}"/>
              </a:ext>
            </a:extLst>
          </p:cNvPr>
          <p:cNvSpPr txBox="1"/>
          <p:nvPr/>
        </p:nvSpPr>
        <p:spPr>
          <a:xfrm>
            <a:off x="4348976" y="4928839"/>
            <a:ext cx="20697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800" dirty="0"/>
              <a:t>Profile!</a:t>
            </a:r>
            <a:endParaRPr lang="LID4096" sz="4800" dirty="0"/>
          </a:p>
        </p:txBody>
      </p:sp>
    </p:spTree>
    <p:extLst>
      <p:ext uri="{BB962C8B-B14F-4D97-AF65-F5344CB8AC3E}">
        <p14:creationId xmlns:p14="http://schemas.microsoft.com/office/powerpoint/2010/main" val="384754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72AA-9494-55B0-3590-EA81A3C7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conventions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20FC5-F6A4-41FF-41B6-46821BD2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GB = gigabytes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F75D5-1F21-CD5D-19E2-591551BE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7888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3894</TotalTime>
  <Words>2072</Words>
  <Application>Microsoft Office PowerPoint</Application>
  <PresentationFormat>Widescreen</PresentationFormat>
  <Paragraphs>613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Cambria Math</vt:lpstr>
      <vt:lpstr>Symbol</vt:lpstr>
      <vt:lpstr>Office Theme</vt:lpstr>
      <vt:lpstr>GPU programming</vt:lpstr>
      <vt:lpstr>PowerPoint Presentation</vt:lpstr>
      <vt:lpstr>PowerPoint Presentation</vt:lpstr>
      <vt:lpstr>Typographical conventions</vt:lpstr>
      <vt:lpstr>What do GPUs look like?</vt:lpstr>
      <vt:lpstr>Host-device model</vt:lpstr>
      <vt:lpstr>Offload model</vt:lpstr>
      <vt:lpstr>Host-device model implications</vt:lpstr>
      <vt:lpstr>GPU hardware</vt:lpstr>
      <vt:lpstr>Terminology crosswalk</vt:lpstr>
      <vt:lpstr>Compute unit execution model</vt:lpstr>
      <vt:lpstr>Compute unit</vt:lpstr>
      <vt:lpstr>Matrix accelerators</vt:lpstr>
      <vt:lpstr>Multiple compute units</vt:lpstr>
      <vt:lpstr>Memory hierarchy</vt:lpstr>
      <vt:lpstr>Multiple GPUs/node, multiple nodes</vt:lpstr>
      <vt:lpstr>Bandwidth hierarchy</vt:lpstr>
      <vt:lpstr>Programming models</vt:lpstr>
      <vt:lpstr>How to express GPU work?</vt:lpstr>
      <vt:lpstr>Memory management</vt:lpstr>
      <vt:lpstr>Kernels</vt:lpstr>
      <vt:lpstr>Threads, blocks &amp; grid</vt:lpstr>
      <vt:lpstr>Streaming Multiprocessors &amp; blocks</vt:lpstr>
      <vt:lpstr>Synchronization</vt:lpstr>
      <vt:lpstr>Inquiry functions &amp; configuration</vt:lpstr>
      <vt:lpstr>Performance considerations</vt:lpstr>
      <vt:lpstr>Evolution</vt:lpstr>
      <vt:lpstr>Multiple GPUs/node, multiple nodes</vt:lpstr>
      <vt:lpstr>Multiple GPUs/node, multiple nodes</vt:lpstr>
      <vt:lpstr>Bandwidth hierarchy</vt:lpstr>
      <vt:lpstr>NVIDIA Streaming Multiprocessor (SM)</vt:lpstr>
      <vt:lpstr>NVIDIA memory hierarchy</vt:lpstr>
      <vt:lpstr>Architecture &amp; compute capability</vt:lpstr>
      <vt:lpstr>NVIDIA memory architecture</vt:lpstr>
      <vt:lpstr>NVIDIA SMs</vt:lpstr>
      <vt:lpstr>NVLink/NVSwitch &amp; PCIe</vt:lpstr>
      <vt:lpstr>Impact on software</vt:lpstr>
      <vt:lpstr>Unit conventions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Geert Jan Bex</dc:creator>
  <cp:lastModifiedBy>Geert Jan Bex</cp:lastModifiedBy>
  <cp:revision>60</cp:revision>
  <dcterms:created xsi:type="dcterms:W3CDTF">2025-01-17T10:10:41Z</dcterms:created>
  <dcterms:modified xsi:type="dcterms:W3CDTF">2026-08-09T11:30:54Z</dcterms:modified>
</cp:coreProperties>
</file>