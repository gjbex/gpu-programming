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7" r:id="rId2"/>
    <p:sldId id="355" r:id="rId3"/>
    <p:sldId id="357" r:id="rId4"/>
    <p:sldId id="348" r:id="rId5"/>
    <p:sldId id="359" r:id="rId6"/>
    <p:sldId id="363" r:id="rId7"/>
    <p:sldId id="380" r:id="rId8"/>
    <p:sldId id="364" r:id="rId9"/>
    <p:sldId id="374" r:id="rId10"/>
    <p:sldId id="360" r:id="rId11"/>
    <p:sldId id="361" r:id="rId12"/>
    <p:sldId id="362" r:id="rId13"/>
    <p:sldId id="372" r:id="rId14"/>
    <p:sldId id="368" r:id="rId15"/>
    <p:sldId id="366" r:id="rId16"/>
    <p:sldId id="376" r:id="rId17"/>
    <p:sldId id="375" r:id="rId18"/>
    <p:sldId id="379" r:id="rId19"/>
    <p:sldId id="381" r:id="rId20"/>
    <p:sldId id="382" r:id="rId21"/>
    <p:sldId id="383" r:id="rId22"/>
    <p:sldId id="384" r:id="rId23"/>
    <p:sldId id="385" r:id="rId24"/>
    <p:sldId id="386" r:id="rId25"/>
    <p:sldId id="387" r:id="rId26"/>
    <p:sldId id="388" r:id="rId27"/>
    <p:sldId id="373" r:id="rId28"/>
    <p:sldId id="378" r:id="rId29"/>
    <p:sldId id="367" r:id="rId30"/>
    <p:sldId id="370" r:id="rId31"/>
    <p:sldId id="377" r:id="rId32"/>
    <p:sldId id="371" r:id="rId33"/>
    <p:sldId id="389" r:id="rId34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9AB0FB-8713-41BE-A0ED-74E55CAC7DAA}" v="1" dt="2025-11-03T12:53:01.5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7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F3ED9F1C-8CBC-4187-814C-78BF1965CBEE}"/>
    <pc:docChg chg="custSel modSld">
      <pc:chgData name="Geert Jan Bex" userId="b602d378c858ceb4" providerId="LiveId" clId="{F3ED9F1C-8CBC-4187-814C-78BF1965CBEE}" dt="2025-11-03T12:53:25.071" v="5" actId="1076"/>
      <pc:docMkLst>
        <pc:docMk/>
      </pc:docMkLst>
      <pc:sldChg chg="addSp delSp modSp mod">
        <pc:chgData name="Geert Jan Bex" userId="b602d378c858ceb4" providerId="LiveId" clId="{F3ED9F1C-8CBC-4187-814C-78BF1965CBEE}" dt="2025-11-03T12:53:25.071" v="5" actId="1076"/>
        <pc:sldMkLst>
          <pc:docMk/>
          <pc:sldMk cId="695502024" sldId="257"/>
        </pc:sldMkLst>
        <pc:picChg chg="del">
          <ac:chgData name="Geert Jan Bex" userId="b602d378c858ceb4" providerId="LiveId" clId="{F3ED9F1C-8CBC-4187-814C-78BF1965CBEE}" dt="2025-11-03T12:53:05.492" v="3" actId="478"/>
          <ac:picMkLst>
            <pc:docMk/>
            <pc:sldMk cId="695502024" sldId="257"/>
            <ac:picMk id="5" creationId="{728BE29A-27A3-AC41-EAC1-DA88C291BB39}"/>
          </ac:picMkLst>
        </pc:picChg>
        <pc:picChg chg="add mod">
          <ac:chgData name="Geert Jan Bex" userId="b602d378c858ceb4" providerId="LiveId" clId="{F3ED9F1C-8CBC-4187-814C-78BF1965CBEE}" dt="2025-11-03T12:53:25.071" v="5" actId="1076"/>
          <ac:picMkLst>
            <pc:docMk/>
            <pc:sldMk cId="695502024" sldId="257"/>
            <ac:picMk id="9" creationId="{7CCF5E5B-78F2-5787-8B30-ABBD2AC6FAA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C644CB-8FFF-4F59-B04D-9A1D2A5DB720}" type="datetimeFigureOut">
              <a:rPr lang="LID4096" smtClean="0"/>
              <a:t>08/06/2026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B56DA1-3D99-4D19-9FEB-5AC9318F79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3418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495A0-BC49-8BC7-1E67-C4B11669D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900E4-3B6F-DF8D-A7E9-E87ACA05A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996B0-26F5-65C2-4CAF-CF343A6F4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C7A01-813B-4B59-A1CC-F2D63921E46A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FB615-95FB-1537-3191-B298AB7C3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110DC-31BC-7B20-17FF-31063505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10446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8CFE0-2AC0-20ED-73B0-DFEFBB291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99922-9839-DC11-7C1D-ECADEB76E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E9A3D-7BDD-6410-DA6F-FEFCD2B18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C8B8A-B2CE-4D78-88A4-476B2363B71E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A90FE-55A1-7B15-FD37-1BCA33A25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7E73B-D033-E0BF-6482-AD60F16D5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7084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239B-0275-2624-DB81-0073ABD42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DA172-6B82-EE0F-2416-127BEF687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CA1B6-427A-6E7C-2AFA-D1EAEBCD9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AB553-EE67-480E-BCE3-F64D7D51D294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4012E-CDF7-D679-B514-2CBC536D9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33E4-6D54-38AB-E9B4-2F51C2812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924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1B74F-C018-95A8-027A-3FF46422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DA37D-E9D6-3DCD-59DF-8AF936E5B5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DF64B-0394-0D71-631C-C785F759B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08D6A4-379D-4A0E-2836-A41BD4B4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70038-A599-4345-BE24-96A4E06BF8E3}" type="datetime1">
              <a:rPr lang="LID4096" smtClean="0"/>
              <a:t>08/06/2026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53563-6A2D-1248-28AA-B6430C38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9FB0A-1310-A96A-1402-36A73BD65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5645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8611B-B5B0-EDFB-DE7F-36186440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BDBDB-270E-7F86-324F-E5275BDCA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95170-0ECD-519A-4581-6EE194EA89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6B4056-2B27-C5AB-9540-BAFE7B9801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B4B51-DA67-08D5-D585-5B63693657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C0D61-D66B-66F0-9E7A-3BFE464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719F7-59BE-4FD1-8AC5-F7BFCCA290D7}" type="datetime1">
              <a:rPr lang="LID4096" smtClean="0"/>
              <a:t>08/06/2026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755B6F-9C13-8619-447D-D1CD0CD5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1414A0-6B8B-80E9-8AEB-4B2F55F32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4082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E8F80-DF2C-02C9-F9CE-30DC0A66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896BA8-AF4F-D72D-E98D-EA94266F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93A37-6A61-4F10-A100-9676ACB86039}" type="datetime1">
              <a:rPr lang="LID4096" smtClean="0"/>
              <a:t>08/06/2026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3BF2A7-B010-2894-CC55-E9E63E8F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EC4B5-0741-2E3F-9A78-1C1E2C317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4990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8C7838-3BAB-A1C5-8CAF-67D592D70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3F7F9-09CC-4C21-BDB8-90E2F1A013BD}" type="datetime1">
              <a:rPr lang="LID4096" smtClean="0"/>
              <a:t>08/06/2026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2E5432-C801-692F-D338-B4F350075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32DF7-8080-EE34-A83E-73135A5F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9706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AF1D7-A6D5-40B8-8824-60E6BBAD2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2DC19-502C-19DB-E622-A545A647C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BCAF2B-BDF8-72C4-8F9D-B0496957F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A98AF-1D79-A6B0-0497-39201954B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66AE6-E2E5-4774-8434-34F2AD9BDDCE}" type="datetime1">
              <a:rPr lang="LID4096" smtClean="0"/>
              <a:t>08/06/2026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7578A-D2CE-562B-B989-7A69F4C63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916E7-788A-E49E-6DE8-14A3030F6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9826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6504-E5EE-54C4-AE3A-30ED4173A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762CFE-64BD-F4E1-68C3-4B0B8476AA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219B84-962A-EE60-E472-B2D374CDA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B64168-CB93-11C4-544E-0B50C3480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E2CCE-BBFE-4BEC-9002-70F26B158681}" type="datetime1">
              <a:rPr lang="LID4096" smtClean="0"/>
              <a:t>08/06/2026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69202-8A06-0672-D078-63EC07001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8DC89-2294-2048-F46C-FCDE7846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6285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E5A5-8380-474E-9718-DD7F07E6E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302E5-27E2-6CFC-0B4D-DBC49A14C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5411E-6EB2-31BA-A950-D24D1E98C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A7740-B6F2-4CC5-9AD0-B161B943DB10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D62B9-6717-ADE5-539C-1612B0F9F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9D565-4095-C862-96BC-DFBD2667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6415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4EFB7-D5E7-4262-8070-ADB45C08CB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6F322-17F0-953A-FA92-92DF253EF0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79FCB-D52F-974B-EE82-54AA1D31B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4B025-8F26-4EDF-B991-413B82D6446E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135FE-97EA-1624-7547-B5ADF59F8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64BE-0E81-3731-6FFD-F28281E70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3357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23FA6B-4030-DE44-2291-F89E77FD7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04096-10C6-4F5D-CB62-BDE1AE79C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C22DB-A27F-EE11-EAEA-3A48DED31A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95C0FD-7BB7-48C9-86F3-9771767F1BC3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D8504-FCB1-8947-3439-E301FE05D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93685-9ED8-B0C8-595B-0FD604216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9070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gjbex/GPU-programming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sv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sv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GPU programming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B74C2-95F1-B7A1-BE28-4F677A74F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</a:t>
            </a:fld>
            <a:endParaRPr lang="LID4096"/>
          </a:p>
        </p:txBody>
      </p:sp>
      <p:pic>
        <p:nvPicPr>
          <p:cNvPr id="9" name="Picture 8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7CCF5E5B-78F2-5787-8B30-ABBD2AC6FA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313" y="318938"/>
            <a:ext cx="4234543" cy="1643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914096" y="5445224"/>
            <a:ext cx="100038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https://github.com/gjbex/GPU-programming</a:t>
            </a:r>
            <a:r>
              <a:rPr lang="en-US" sz="4000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4748FA-3DAD-887F-51C8-0A0B7D38DA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70AEBC-58DC-06FC-AE67-813A2E7C9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Good practice:</a:t>
            </a:r>
          </a:p>
          <a:p>
            <a:r>
              <a:rPr lang="en-US" dirty="0"/>
              <a:t>Bad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Performance boost:</a:t>
            </a:r>
          </a:p>
          <a:p>
            <a:r>
              <a:rPr lang="en-US" dirty="0"/>
              <a:t>Warning: </a:t>
            </a:r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4</a:t>
            </a:fld>
            <a:endParaRPr lang="nl-BE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F0B1C861-027C-AE93-1BCB-962F1DBAB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6709" y="2848092"/>
            <a:ext cx="566151" cy="58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9955A620-341D-09A8-65FD-6BB630BAC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5303" y="3289451"/>
            <a:ext cx="724200" cy="72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 descr="Warning with solid fill">
            <a:extLst>
              <a:ext uri="{FF2B5EF4-FFF2-40B4-BE49-F238E27FC236}">
                <a16:creationId xmlns:a16="http://schemas.microsoft.com/office/drawing/2014/main" id="{024A877E-0481-E081-DA6C-323BCC25DA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87197" y="4365888"/>
            <a:ext cx="648072" cy="648072"/>
          </a:xfrm>
          <a:prstGeom prst="rect">
            <a:avLst/>
          </a:prstGeom>
        </p:spPr>
      </p:pic>
      <p:pic>
        <p:nvPicPr>
          <p:cNvPr id="11" name="Graphic 10" descr="Thumbs up sign with solid fill">
            <a:extLst>
              <a:ext uri="{FF2B5EF4-FFF2-40B4-BE49-F238E27FC236}">
                <a16:creationId xmlns:a16="http://schemas.microsoft.com/office/drawing/2014/main" id="{CE1CDE01-821E-6748-0DC3-4FDB15D60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60247" y="1646238"/>
            <a:ext cx="724200" cy="724200"/>
          </a:xfrm>
          <a:prstGeom prst="rect">
            <a:avLst/>
          </a:prstGeom>
        </p:spPr>
      </p:pic>
      <p:pic>
        <p:nvPicPr>
          <p:cNvPr id="13" name="Graphic 12" descr="Thumbs Down with solid fill">
            <a:extLst>
              <a:ext uri="{FF2B5EF4-FFF2-40B4-BE49-F238E27FC236}">
                <a16:creationId xmlns:a16="http://schemas.microsoft.com/office/drawing/2014/main" id="{0BE55C85-E7E5-B333-4889-9C023DF918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60246" y="2305252"/>
            <a:ext cx="724201" cy="724201"/>
          </a:xfrm>
          <a:prstGeom prst="rect">
            <a:avLst/>
          </a:prstGeom>
        </p:spPr>
      </p:pic>
      <p:pic>
        <p:nvPicPr>
          <p:cNvPr id="10" name="Graphic 9" descr="Rocket with solid fill">
            <a:extLst>
              <a:ext uri="{FF2B5EF4-FFF2-40B4-BE49-F238E27FC236}">
                <a16:creationId xmlns:a16="http://schemas.microsoft.com/office/drawing/2014/main" id="{63E5ED3A-26B6-FB90-588A-730D06437C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35303" y="3951218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239CD-4A90-8A38-5C6B-8C62A9EC5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GPUs look like?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5B60C2-C9B7-C579-121D-ED18F0109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AE949-B6B6-179D-598F-375BC8846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610914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C7A5A-BB00-A8FA-A189-C6B736277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AACE9-CA0E-5422-7CB4-1CE3A154D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node has</a:t>
            </a:r>
          </a:p>
          <a:p>
            <a:pPr lvl="1"/>
            <a:r>
              <a:rPr lang="en-US" dirty="0"/>
              <a:t>1 or more CPUs</a:t>
            </a:r>
          </a:p>
          <a:p>
            <a:pPr lvl="1"/>
            <a:r>
              <a:rPr lang="en-US" dirty="0"/>
              <a:t>Volatile memory: RAM</a:t>
            </a:r>
          </a:p>
          <a:p>
            <a:pPr lvl="1"/>
            <a:r>
              <a:rPr lang="en-US" dirty="0"/>
              <a:t>PCIe bus with</a:t>
            </a:r>
          </a:p>
          <a:p>
            <a:pPr lvl="2"/>
            <a:r>
              <a:rPr lang="en-US" dirty="0"/>
              <a:t>1 or more GPUs</a:t>
            </a:r>
          </a:p>
          <a:p>
            <a:pPr lvl="2"/>
            <a:endParaRPr lang="en-US" dirty="0"/>
          </a:p>
          <a:p>
            <a:r>
              <a:rPr lang="en-US" dirty="0"/>
              <a:t>Application</a:t>
            </a:r>
          </a:p>
          <a:p>
            <a:pPr lvl="1"/>
            <a:r>
              <a:rPr lang="en-US" dirty="0"/>
              <a:t>Runs on host</a:t>
            </a:r>
          </a:p>
          <a:p>
            <a:pPr lvl="1"/>
            <a:r>
              <a:rPr lang="en-US" dirty="0"/>
              <a:t>Offloads computations to device(s)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0748A0-5547-95D5-F136-AC3F281F5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6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1C384E5-E542-19A8-F5A0-2AB315B80468}"/>
              </a:ext>
            </a:extLst>
          </p:cNvPr>
          <p:cNvGrpSpPr/>
          <p:nvPr/>
        </p:nvGrpSpPr>
        <p:grpSpPr>
          <a:xfrm>
            <a:off x="5649686" y="2383971"/>
            <a:ext cx="1107329" cy="576943"/>
            <a:chOff x="5649686" y="2383971"/>
            <a:chExt cx="1107329" cy="576943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B62ADAAC-4B14-C887-97C9-72FE9F4232FE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26FA8E-A03C-EF77-37A5-DBC5080BEC48}"/>
                </a:ext>
              </a:extLst>
            </p:cNvPr>
            <p:cNvSpPr txBox="1"/>
            <p:nvPr/>
          </p:nvSpPr>
          <p:spPr>
            <a:xfrm>
              <a:off x="6096000" y="2495828"/>
              <a:ext cx="6610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Host</a:t>
              </a:r>
              <a:endParaRPr lang="LID4096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770EC82-91F8-C1C5-3CDD-0B8E0AF0E62E}"/>
              </a:ext>
            </a:extLst>
          </p:cNvPr>
          <p:cNvGrpSpPr/>
          <p:nvPr/>
        </p:nvGrpSpPr>
        <p:grpSpPr>
          <a:xfrm>
            <a:off x="5715000" y="3429000"/>
            <a:ext cx="1560465" cy="576943"/>
            <a:chOff x="5649686" y="2383971"/>
            <a:chExt cx="1560465" cy="576943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C4FBA4E1-010F-3C68-B67A-ED692BD39C5C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A36B339-9E3C-8A11-89DE-E648C30B3E65}"/>
                </a:ext>
              </a:extLst>
            </p:cNvPr>
            <p:cNvSpPr txBox="1"/>
            <p:nvPr/>
          </p:nvSpPr>
          <p:spPr>
            <a:xfrm>
              <a:off x="6096000" y="2495828"/>
              <a:ext cx="11141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Device(s)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2592409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9BAA3-2584-996F-71D0-9B1D50644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Offload model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96562D-2474-E073-3912-3230E3946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</a:t>
            </a:fld>
            <a:endParaRPr lang="LID4096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3A536-CEFF-6E94-A45A-42F94351F670}"/>
              </a:ext>
            </a:extLst>
          </p:cNvPr>
          <p:cNvCxnSpPr>
            <a:cxnSpLocks/>
          </p:cNvCxnSpPr>
          <p:nvPr/>
        </p:nvCxnSpPr>
        <p:spPr>
          <a:xfrm>
            <a:off x="2693023" y="4622183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4342EBF-F609-0E3E-93A4-E7C1AFC20DA7}"/>
              </a:ext>
            </a:extLst>
          </p:cNvPr>
          <p:cNvCxnSpPr>
            <a:cxnSpLocks/>
          </p:cNvCxnSpPr>
          <p:nvPr/>
        </p:nvCxnSpPr>
        <p:spPr>
          <a:xfrm>
            <a:off x="2693023" y="3980019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56F5031-350B-2D65-6CDA-40214C715887}"/>
              </a:ext>
            </a:extLst>
          </p:cNvPr>
          <p:cNvCxnSpPr>
            <a:cxnSpLocks/>
          </p:cNvCxnSpPr>
          <p:nvPr/>
        </p:nvCxnSpPr>
        <p:spPr>
          <a:xfrm>
            <a:off x="2693023" y="3337856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FCF2C0-9B6A-C37A-2D82-CB28D9A20AD1}"/>
              </a:ext>
            </a:extLst>
          </p:cNvPr>
          <p:cNvCxnSpPr>
            <a:cxnSpLocks/>
          </p:cNvCxnSpPr>
          <p:nvPr/>
        </p:nvCxnSpPr>
        <p:spPr>
          <a:xfrm>
            <a:off x="2693022" y="2695693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2FD1D72-BC72-A5A1-DEB5-7D2F21D9EE69}"/>
              </a:ext>
            </a:extLst>
          </p:cNvPr>
          <p:cNvSpPr/>
          <p:nvPr/>
        </p:nvSpPr>
        <p:spPr>
          <a:xfrm>
            <a:off x="4036743" y="3443104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DC976F4-84A9-6B98-8818-ADDCC6CE2B37}"/>
              </a:ext>
            </a:extLst>
          </p:cNvPr>
          <p:cNvSpPr/>
          <p:nvPr/>
        </p:nvSpPr>
        <p:spPr>
          <a:xfrm>
            <a:off x="4902821" y="4097196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1EBD221-F4F8-02C6-BFA2-350FC7F41788}"/>
              </a:ext>
            </a:extLst>
          </p:cNvPr>
          <p:cNvSpPr/>
          <p:nvPr/>
        </p:nvSpPr>
        <p:spPr>
          <a:xfrm>
            <a:off x="4944497" y="2806738"/>
            <a:ext cx="57243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F647E394-EC37-20C2-3071-92B2B71A7D50}"/>
              </a:ext>
            </a:extLst>
          </p:cNvPr>
          <p:cNvSpPr/>
          <p:nvPr/>
        </p:nvSpPr>
        <p:spPr>
          <a:xfrm>
            <a:off x="6463998" y="3443104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A8EDD89-F21A-A894-11C6-C1D3A1DE0A35}"/>
              </a:ext>
            </a:extLst>
          </p:cNvPr>
          <p:cNvSpPr/>
          <p:nvPr/>
        </p:nvSpPr>
        <p:spPr>
          <a:xfrm>
            <a:off x="7357023" y="4097196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B05D9C00-D5B1-B150-DA2D-E0E0C132E972}"/>
              </a:ext>
            </a:extLst>
          </p:cNvPr>
          <p:cNvSpPr/>
          <p:nvPr/>
        </p:nvSpPr>
        <p:spPr>
          <a:xfrm>
            <a:off x="7399497" y="2806738"/>
            <a:ext cx="57243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A43FFD93-25D3-ECCE-5C65-7B0DC1F8F808}"/>
              </a:ext>
            </a:extLst>
          </p:cNvPr>
          <p:cNvSpPr/>
          <p:nvPr/>
        </p:nvSpPr>
        <p:spPr>
          <a:xfrm>
            <a:off x="2797356" y="2806738"/>
            <a:ext cx="264574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1F064B8-574A-935C-552B-061F1630ED60}"/>
              </a:ext>
            </a:extLst>
          </p:cNvPr>
          <p:cNvSpPr txBox="1"/>
          <p:nvPr/>
        </p:nvSpPr>
        <p:spPr>
          <a:xfrm>
            <a:off x="1784195" y="2832415"/>
            <a:ext cx="661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Host</a:t>
            </a:r>
            <a:endParaRPr lang="LID4096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B62D446-2AF3-4531-2310-7E2EC181B490}"/>
              </a:ext>
            </a:extLst>
          </p:cNvPr>
          <p:cNvSpPr txBox="1"/>
          <p:nvPr/>
        </p:nvSpPr>
        <p:spPr>
          <a:xfrm>
            <a:off x="1784195" y="3453162"/>
            <a:ext cx="949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r>
              <a:rPr lang="en-US" baseline="-25000" dirty="0"/>
              <a:t>0</a:t>
            </a:r>
            <a:endParaRPr lang="LID4096" baseline="-25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96217A7-F18C-952A-53B9-D85BAA03C5A8}"/>
              </a:ext>
            </a:extLst>
          </p:cNvPr>
          <p:cNvSpPr txBox="1"/>
          <p:nvPr/>
        </p:nvSpPr>
        <p:spPr>
          <a:xfrm>
            <a:off x="1784195" y="4180634"/>
            <a:ext cx="949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r>
              <a:rPr lang="en-US" baseline="-25000" dirty="0"/>
              <a:t>1</a:t>
            </a:r>
            <a:endParaRPr lang="LID4096" baseline="-25000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5FD86EBB-6412-EAC4-0293-F2351575AFC6}"/>
              </a:ext>
            </a:extLst>
          </p:cNvPr>
          <p:cNvGrpSpPr/>
          <p:nvPr/>
        </p:nvGrpSpPr>
        <p:grpSpPr>
          <a:xfrm>
            <a:off x="3169063" y="2806738"/>
            <a:ext cx="713678" cy="1048955"/>
            <a:chOff x="3169063" y="2806738"/>
            <a:chExt cx="713678" cy="1048955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E30BE0F1-E9E6-4040-C88F-DC95DEE7512B}"/>
                </a:ext>
              </a:extLst>
            </p:cNvPr>
            <p:cNvSpPr/>
            <p:nvPr/>
          </p:nvSpPr>
          <p:spPr>
            <a:xfrm>
              <a:off x="3169063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8BE331AA-43EE-7F1E-0EB7-0ACBCBB4122A}"/>
                </a:ext>
              </a:extLst>
            </p:cNvPr>
            <p:cNvSpPr/>
            <p:nvPr/>
          </p:nvSpPr>
          <p:spPr>
            <a:xfrm>
              <a:off x="3169063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7BA6531-7665-63D6-A1FB-29131EB06777}"/>
                </a:ext>
              </a:extLst>
            </p:cNvPr>
            <p:cNvCxnSpPr>
              <a:cxnSpLocks/>
            </p:cNvCxnSpPr>
            <p:nvPr/>
          </p:nvCxnSpPr>
          <p:spPr>
            <a:xfrm>
              <a:off x="3525902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D049E47-B468-84CC-92A6-7AA268B759A7}"/>
              </a:ext>
            </a:extLst>
          </p:cNvPr>
          <p:cNvGrpSpPr/>
          <p:nvPr/>
        </p:nvGrpSpPr>
        <p:grpSpPr>
          <a:xfrm>
            <a:off x="5640663" y="2806738"/>
            <a:ext cx="713678" cy="1048955"/>
            <a:chOff x="5640663" y="2806738"/>
            <a:chExt cx="713678" cy="1048955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4800363-249A-82A8-80AD-138AF28708B9}"/>
                </a:ext>
              </a:extLst>
            </p:cNvPr>
            <p:cNvSpPr/>
            <p:nvPr/>
          </p:nvSpPr>
          <p:spPr>
            <a:xfrm>
              <a:off x="5640663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63F823BB-1C94-9394-B532-273271B6F2AA}"/>
                </a:ext>
              </a:extLst>
            </p:cNvPr>
            <p:cNvSpPr/>
            <p:nvPr/>
          </p:nvSpPr>
          <p:spPr>
            <a:xfrm>
              <a:off x="5640663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1E6EADDE-B9E8-FCBC-0CC5-44D87C8457D2}"/>
                </a:ext>
              </a:extLst>
            </p:cNvPr>
            <p:cNvCxnSpPr>
              <a:cxnSpLocks/>
            </p:cNvCxnSpPr>
            <p:nvPr/>
          </p:nvCxnSpPr>
          <p:spPr>
            <a:xfrm>
              <a:off x="5997502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22ADFF4-A7D5-E5F7-0B18-A1523BC85E4C}"/>
              </a:ext>
            </a:extLst>
          </p:cNvPr>
          <p:cNvGrpSpPr/>
          <p:nvPr/>
        </p:nvGrpSpPr>
        <p:grpSpPr>
          <a:xfrm>
            <a:off x="8212874" y="2806738"/>
            <a:ext cx="713678" cy="1048955"/>
            <a:chOff x="8212874" y="2806738"/>
            <a:chExt cx="713678" cy="1048955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3059E29E-1E54-17DC-86DE-EEA94E974345}"/>
                </a:ext>
              </a:extLst>
            </p:cNvPr>
            <p:cNvSpPr/>
            <p:nvPr/>
          </p:nvSpPr>
          <p:spPr>
            <a:xfrm>
              <a:off x="8212874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472FB46E-FE5D-F7E7-A788-6952A709E017}"/>
                </a:ext>
              </a:extLst>
            </p:cNvPr>
            <p:cNvSpPr/>
            <p:nvPr/>
          </p:nvSpPr>
          <p:spPr>
            <a:xfrm>
              <a:off x="8212874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6079AF66-68EE-F813-3C9C-8A75AAC9DB78}"/>
                </a:ext>
              </a:extLst>
            </p:cNvPr>
            <p:cNvCxnSpPr>
              <a:cxnSpLocks/>
            </p:cNvCxnSpPr>
            <p:nvPr/>
          </p:nvCxnSpPr>
          <p:spPr>
            <a:xfrm>
              <a:off x="8569713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88114AE-D043-D64F-9F05-5F6E4DDA2948}"/>
              </a:ext>
            </a:extLst>
          </p:cNvPr>
          <p:cNvGrpSpPr/>
          <p:nvPr/>
        </p:nvGrpSpPr>
        <p:grpSpPr>
          <a:xfrm>
            <a:off x="4036744" y="2806738"/>
            <a:ext cx="733714" cy="1703047"/>
            <a:chOff x="4036744" y="2806738"/>
            <a:chExt cx="733714" cy="1703047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E7D0DEBD-8C75-9E72-C69A-1D41C34594C4}"/>
                </a:ext>
              </a:extLst>
            </p:cNvPr>
            <p:cNvSpPr/>
            <p:nvPr/>
          </p:nvSpPr>
          <p:spPr>
            <a:xfrm>
              <a:off x="4036744" y="4097196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17FA62BE-D6A5-9EC9-32AE-44546D678E8D}"/>
                </a:ext>
              </a:extLst>
            </p:cNvPr>
            <p:cNvSpPr/>
            <p:nvPr/>
          </p:nvSpPr>
          <p:spPr>
            <a:xfrm>
              <a:off x="4056780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D0F9B607-823A-859B-36E6-C7109BBCCA8D}"/>
                </a:ext>
              </a:extLst>
            </p:cNvPr>
            <p:cNvCxnSpPr>
              <a:cxnSpLocks/>
            </p:cNvCxnSpPr>
            <p:nvPr/>
          </p:nvCxnSpPr>
          <p:spPr>
            <a:xfrm>
              <a:off x="4413619" y="2983114"/>
              <a:ext cx="0" cy="1320376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574FF04-B2C9-6B45-536B-503F941E3C2C}"/>
              </a:ext>
            </a:extLst>
          </p:cNvPr>
          <p:cNvGrpSpPr/>
          <p:nvPr/>
        </p:nvGrpSpPr>
        <p:grpSpPr>
          <a:xfrm>
            <a:off x="6514186" y="2806738"/>
            <a:ext cx="713678" cy="1703047"/>
            <a:chOff x="6514186" y="2806738"/>
            <a:chExt cx="713678" cy="1703047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3FD859FA-5880-6774-8D27-8B6540301580}"/>
                </a:ext>
              </a:extLst>
            </p:cNvPr>
            <p:cNvSpPr/>
            <p:nvPr/>
          </p:nvSpPr>
          <p:spPr>
            <a:xfrm>
              <a:off x="6514186" y="4097196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6D8691F2-8079-1FC1-DC9C-266016F0C754}"/>
                </a:ext>
              </a:extLst>
            </p:cNvPr>
            <p:cNvSpPr/>
            <p:nvPr/>
          </p:nvSpPr>
          <p:spPr>
            <a:xfrm>
              <a:off x="6514186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C03277CD-7E1E-01BC-532F-903F9DF5D5F8}"/>
                </a:ext>
              </a:extLst>
            </p:cNvPr>
            <p:cNvCxnSpPr>
              <a:cxnSpLocks/>
            </p:cNvCxnSpPr>
            <p:nvPr/>
          </p:nvCxnSpPr>
          <p:spPr>
            <a:xfrm>
              <a:off x="6871025" y="2983114"/>
              <a:ext cx="0" cy="1320376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A2444B1B-857A-F932-E07C-88D7BA0159EE}"/>
              </a:ext>
            </a:extLst>
          </p:cNvPr>
          <p:cNvSpPr txBox="1"/>
          <p:nvPr/>
        </p:nvSpPr>
        <p:spPr>
          <a:xfrm>
            <a:off x="9324038" y="3270918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ym typeface="Symbol" panose="05050102010706020507" pitchFamily="18" charset="2"/>
              </a:rPr>
              <a:t></a:t>
            </a:r>
            <a:endParaRPr lang="LID4096" sz="3200" b="1" dirty="0"/>
          </a:p>
        </p:txBody>
      </p:sp>
    </p:spTree>
    <p:extLst>
      <p:ext uri="{BB962C8B-B14F-4D97-AF65-F5344CB8AC3E}">
        <p14:creationId xmlns:p14="http://schemas.microsoft.com/office/powerpoint/2010/main" val="1713044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4" grpId="0" animBg="1"/>
      <p:bldP spid="25" grpId="0" animBg="1"/>
      <p:bldP spid="26" grpId="0" animBg="1"/>
      <p:bldP spid="29" grpId="0" animBg="1"/>
      <p:bldP spid="4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41FB9-B329-65CF-97C6-B02E71CF0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 implications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DA86A2-8D93-970A-134B-F521A8891A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Explicit data transfer between host and device</a:t>
            </a:r>
          </a:p>
          <a:p>
            <a:r>
              <a:rPr lang="en-US" dirty="0"/>
              <a:t>Explicit synchronization</a:t>
            </a:r>
          </a:p>
          <a:p>
            <a:pPr lvl="1"/>
            <a:r>
              <a:rPr lang="en-US" dirty="0"/>
              <a:t>Avoid race conditions</a:t>
            </a:r>
          </a:p>
          <a:p>
            <a:r>
              <a:rPr lang="en-US" dirty="0"/>
              <a:t>Interconnect latency/bandwidth</a:t>
            </a:r>
          </a:p>
          <a:p>
            <a:pPr lvl="1"/>
            <a:r>
              <a:rPr lang="en-US" dirty="0"/>
              <a:t>Potential performance bottleneck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44E565-AADA-0294-F7F4-B095F759A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2D213C-BB3D-F3CA-351A-D76E1F24DF1F}"/>
              </a:ext>
            </a:extLst>
          </p:cNvPr>
          <p:cNvSpPr txBox="1"/>
          <p:nvPr/>
        </p:nvSpPr>
        <p:spPr>
          <a:xfrm>
            <a:off x="2932771" y="4705815"/>
            <a:ext cx="5849037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Hardware details matter</a:t>
            </a:r>
            <a:r>
              <a:rPr lang="en-US" sz="3200" dirty="0">
                <a:sym typeface="Symbol" panose="05050102010706020507" pitchFamily="18" charset="2"/>
              </a:rPr>
              <a:t> a lot!</a:t>
            </a:r>
            <a:endParaRPr lang="LID4096" sz="3200" dirty="0"/>
          </a:p>
        </p:txBody>
      </p:sp>
    </p:spTree>
    <p:extLst>
      <p:ext uri="{BB962C8B-B14F-4D97-AF65-F5344CB8AC3E}">
        <p14:creationId xmlns:p14="http://schemas.microsoft.com/office/powerpoint/2010/main" val="107556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Electronic circuit board">
            <a:extLst>
              <a:ext uri="{FF2B5EF4-FFF2-40B4-BE49-F238E27FC236}">
                <a16:creationId xmlns:a16="http://schemas.microsoft.com/office/drawing/2014/main" id="{C29C3DE4-E022-9448-D014-F63D95702C3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714CFB5C-EB10-4A02-3BD2-60706DC9D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GPU hardware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504F1AE-CC81-FDCF-E4A4-CFBFEEEDA2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57F1CB-18FA-659E-6530-B17C8C405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9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8561442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07FD0-C943-411C-6710-2F8B2D12A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Streaming Multiprocessor (SM)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4CEF8-DE8E-BDF0-7D6E-2C079FB12E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4 Warp schedulers</a:t>
            </a:r>
          </a:p>
          <a:p>
            <a:r>
              <a:rPr lang="en-US" dirty="0"/>
              <a:t>Simple architecture</a:t>
            </a:r>
          </a:p>
          <a:p>
            <a:pPr lvl="1"/>
            <a:r>
              <a:rPr lang="en-US" dirty="0"/>
              <a:t>No out-of-order execution</a:t>
            </a:r>
          </a:p>
          <a:p>
            <a:pPr lvl="1"/>
            <a:r>
              <a:rPr lang="en-US" dirty="0"/>
              <a:t>No branch prediction</a:t>
            </a:r>
          </a:p>
          <a:p>
            <a:pPr lvl="1"/>
            <a:r>
              <a:rPr lang="en-US" dirty="0"/>
              <a:t>No sophisticated control flow</a:t>
            </a:r>
          </a:p>
          <a:p>
            <a:r>
              <a:rPr lang="en-US" dirty="0"/>
              <a:t>Pipelines for</a:t>
            </a:r>
          </a:p>
          <a:p>
            <a:pPr lvl="1"/>
            <a:r>
              <a:rPr lang="en-US" dirty="0"/>
              <a:t>FP32</a:t>
            </a:r>
          </a:p>
          <a:p>
            <a:pPr lvl="1"/>
            <a:r>
              <a:rPr lang="en-US" dirty="0"/>
              <a:t>FP64</a:t>
            </a:r>
          </a:p>
          <a:p>
            <a:pPr lvl="1"/>
            <a:r>
              <a:rPr lang="en-US" dirty="0"/>
              <a:t>INT</a:t>
            </a:r>
          </a:p>
          <a:p>
            <a:pPr lvl="1"/>
            <a:r>
              <a:rPr lang="en-US" dirty="0"/>
              <a:t>Tensor</a:t>
            </a:r>
          </a:p>
          <a:p>
            <a:pPr lvl="1"/>
            <a:r>
              <a:rPr lang="en-US" dirty="0"/>
              <a:t>LD/ST</a:t>
            </a:r>
          </a:p>
          <a:p>
            <a:r>
              <a:rPr lang="en-US" dirty="0"/>
              <a:t>Memory lanes for pipelines</a:t>
            </a:r>
          </a:p>
          <a:p>
            <a:r>
              <a:rPr lang="en-US" dirty="0"/>
              <a:t>4-byte registers (thread-private) </a:t>
            </a:r>
          </a:p>
          <a:p>
            <a:r>
              <a:rPr lang="en-US" dirty="0"/>
              <a:t>Block shared memory/L1 cache</a:t>
            </a:r>
          </a:p>
          <a:p>
            <a:r>
              <a:rPr lang="en-US" dirty="0"/>
              <a:t>Const/texture cache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6768A8-BEC1-3A5A-9109-13B5BD0FC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10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563D86-2E14-75E2-D09F-662DEB9EBB52}"/>
              </a:ext>
            </a:extLst>
          </p:cNvPr>
          <p:cNvSpPr txBox="1"/>
          <p:nvPr/>
        </p:nvSpPr>
        <p:spPr>
          <a:xfrm>
            <a:off x="6096000" y="3263978"/>
            <a:ext cx="4148956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Warp</a:t>
            </a:r>
          </a:p>
          <a:p>
            <a:pPr algn="ctr"/>
            <a:r>
              <a:rPr lang="en-US" dirty="0"/>
              <a:t>=</a:t>
            </a:r>
          </a:p>
          <a:p>
            <a:pPr algn="ctr"/>
            <a:r>
              <a:rPr lang="en-US" dirty="0"/>
              <a:t>32 threads, all execute same instruction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358642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2AA9E-31EA-3F47-05AF-BEBF363A1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hardware execution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8033F-C9D0-0C94-9DEA-B9DD9E5077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SIMT: </a:t>
            </a:r>
            <a:r>
              <a:rPr lang="en-US" b="1" dirty="0"/>
              <a:t>S</a:t>
            </a:r>
            <a:r>
              <a:rPr lang="en-US" dirty="0"/>
              <a:t>ingle </a:t>
            </a:r>
            <a:r>
              <a:rPr lang="en-US" b="1" dirty="0"/>
              <a:t>I</a:t>
            </a:r>
            <a:r>
              <a:rPr lang="en-US" dirty="0"/>
              <a:t>nstruction, </a:t>
            </a:r>
            <a:r>
              <a:rPr lang="en-US" b="1" dirty="0"/>
              <a:t>M</a:t>
            </a:r>
            <a:r>
              <a:rPr lang="en-US" dirty="0"/>
              <a:t>ultiple </a:t>
            </a:r>
            <a:r>
              <a:rPr lang="en-US" b="1" dirty="0"/>
              <a:t>T</a:t>
            </a:r>
            <a:r>
              <a:rPr lang="en-US" dirty="0"/>
              <a:t>hreads</a:t>
            </a:r>
          </a:p>
          <a:p>
            <a:r>
              <a:rPr lang="en-US" dirty="0"/>
              <a:t>threads grouped in subgroups</a:t>
            </a:r>
          </a:p>
          <a:p>
            <a:pPr lvl="1"/>
            <a:r>
              <a:rPr lang="en-US" dirty="0"/>
              <a:t>NVIDIA: warp = 32 threads</a:t>
            </a:r>
          </a:p>
          <a:p>
            <a:pPr lvl="1"/>
            <a:r>
              <a:rPr lang="en-US" dirty="0"/>
              <a:t>AMD: wavefront</a:t>
            </a:r>
          </a:p>
          <a:p>
            <a:pPr lvl="2"/>
            <a:r>
              <a:rPr lang="en-US" dirty="0"/>
              <a:t>Instinct/CDNA = 64 threads</a:t>
            </a:r>
          </a:p>
          <a:p>
            <a:pPr lvl="2"/>
            <a:r>
              <a:rPr lang="en-US" dirty="0"/>
              <a:t>Radeon/RDNA = 32 threads</a:t>
            </a:r>
          </a:p>
          <a:p>
            <a:r>
              <a:rPr lang="en-US" dirty="0"/>
              <a:t>Threads in subgroup execute same instruction on different data</a:t>
            </a:r>
          </a:p>
          <a:p>
            <a:endParaRPr lang="en-US" dirty="0"/>
          </a:p>
          <a:p>
            <a:r>
              <a:rPr lang="en-US" dirty="0"/>
              <a:t>Warp-group instructions (H100+)</a:t>
            </a:r>
          </a:p>
          <a:p>
            <a:pPr lvl="1"/>
            <a:r>
              <a:rPr lang="en-US" dirty="0"/>
              <a:t>4 warps participate in tensor instruction</a:t>
            </a:r>
          </a:p>
          <a:p>
            <a:pPr lvl="1"/>
            <a:r>
              <a:rPr lang="en-US" dirty="0"/>
              <a:t>Accommodate larger tensor cores &amp; matrix tiles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4335AB-22E1-E8B6-8BDC-22C7F0EEA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26494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40BB1-FA2D-4DC3-8ADF-79210BEF4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Branching on GPUs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DC754-16F6-B932-BEBD-9C17F13073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Cheap </a:t>
            </a:r>
            <a:r>
              <a:rPr lang="en-US" b="1" i="1" dirty="0">
                <a:solidFill>
                  <a:srgbClr val="FF0000"/>
                </a:solidFill>
              </a:rPr>
              <a:t>if threads in subgroup agree</a:t>
            </a:r>
          </a:p>
          <a:p>
            <a:r>
              <a:rPr lang="en-US" dirty="0"/>
              <a:t>Divergence leads to</a:t>
            </a:r>
          </a:p>
          <a:p>
            <a:pPr lvl="1"/>
            <a:r>
              <a:rPr lang="en-US" dirty="0"/>
              <a:t>Masking of inactive threads</a:t>
            </a:r>
          </a:p>
          <a:p>
            <a:pPr lvl="1"/>
            <a:r>
              <a:rPr lang="en-US" dirty="0"/>
              <a:t>Execution of both paths</a:t>
            </a:r>
          </a:p>
          <a:p>
            <a:r>
              <a:rPr lang="en-US" dirty="0"/>
              <a:t>Try to avoid branching</a:t>
            </a:r>
          </a:p>
          <a:p>
            <a:pPr lvl="1"/>
            <a:r>
              <a:rPr lang="en-US" dirty="0"/>
              <a:t>Code structure</a:t>
            </a:r>
          </a:p>
          <a:p>
            <a:pPr lvl="1"/>
            <a:r>
              <a:rPr lang="en-US" dirty="0"/>
              <a:t>Data layout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D3EA32-CC91-FE8B-E3C3-01BD39080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12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7D3F10-6961-0438-15B9-FC9B9F611403}"/>
              </a:ext>
            </a:extLst>
          </p:cNvPr>
          <p:cNvGrpSpPr/>
          <p:nvPr/>
        </p:nvGrpSpPr>
        <p:grpSpPr>
          <a:xfrm>
            <a:off x="6096000" y="2420043"/>
            <a:ext cx="3886200" cy="1008957"/>
            <a:chOff x="6096000" y="2420043"/>
            <a:chExt cx="3886200" cy="100895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C49E860-E75C-82D4-EEE7-8087C14F720A}"/>
                </a:ext>
              </a:extLst>
            </p:cNvPr>
            <p:cNvSpPr txBox="1"/>
            <p:nvPr/>
          </p:nvSpPr>
          <p:spPr>
            <a:xfrm>
              <a:off x="6096000" y="2905780"/>
              <a:ext cx="33335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</a:t>
              </a:r>
              <a:r>
                <a:rPr lang="en-US" sz="2800" dirty="0"/>
                <a:t> performance loss</a:t>
              </a:r>
              <a:endParaRPr lang="LID4096" sz="2800" dirty="0"/>
            </a:p>
          </p:txBody>
        </p:sp>
        <p:pic>
          <p:nvPicPr>
            <p:cNvPr id="6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D55DAA7A-EC03-CDCF-954A-387B1507CD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90112" y="2420043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5B462C1C-0D96-5D62-86AE-3355C2A3B9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" y="54725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C0CC3B5-1A61-A2FB-6B8A-A197C45F62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52400" y="53943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EB3B722-88B6-1476-EDB0-07C4DBB19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52400" y="62872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7E69FCA2-3B1C-973C-483F-B260B05A7C3E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LID4096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fld id="{9C7CE217-4467-4B8D-A735-B008FA7C4816}" type="slidenum">
              <a:rPr lang="LID4096" smtClean="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12</a:t>
            </a:fld>
            <a:endParaRPr lang="LID4096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9851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747C1-0E9D-1305-65C7-523715CD1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Tensor cores</a:t>
            </a:r>
            <a:endParaRPr lang="LID4096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Computed as many small tiles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LID4096" dirty="0"/>
              </a:p>
              <a:p>
                <a:pPr lvl="1"/>
                <a:r>
                  <a:rPr lang="en-US" dirty="0"/>
                  <a:t>C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Tile size depends on</a:t>
                </a:r>
              </a:p>
              <a:p>
                <a:pPr lvl="1"/>
                <a:r>
                  <a:rPr lang="en-US" dirty="0"/>
                  <a:t>Type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i="1" dirty="0"/>
              </a:p>
              <a:p>
                <a:pPr lvl="1"/>
                <a:r>
                  <a:rPr lang="en-US" dirty="0"/>
                  <a:t>Compute capability</a:t>
                </a:r>
              </a:p>
              <a:p>
                <a:r>
                  <a:rPr lang="en-US" dirty="0"/>
                  <a:t>Performance: tensor core TFLOP/s &gt;&gt; CUDA core TFLOP/s</a:t>
                </a:r>
                <a:endParaRPr lang="LID4096" dirty="0"/>
              </a:p>
              <a:p>
                <a:pPr lvl="1"/>
                <a:endParaRPr lang="LID4096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  <a:blipFill>
                <a:blip r:embed="rId2"/>
                <a:stretch>
                  <a:fillRect l="-1043" t="-4022" b="-255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C0179-8216-00A2-1A08-909EDD851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13</a:t>
            </a:fld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/>
              <p:nvPr/>
            </p:nvSpPr>
            <p:spPr>
              <a:xfrm>
                <a:off x="2065674" y="1870075"/>
                <a:ext cx="7916526" cy="53091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+=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800" dirty="0"/>
                  <a:t> where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sup>
                    </m:sSup>
                  </m:oMath>
                </a14:m>
                <a:r>
                  <a:rPr lang="en-US" sz="2800" dirty="0"/>
                  <a:t>, B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endParaRPr lang="LID4096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674" y="1870075"/>
                <a:ext cx="7916526" cy="530915"/>
              </a:xfrm>
              <a:prstGeom prst="rect">
                <a:avLst/>
              </a:prstGeom>
              <a:blipFill>
                <a:blip r:embed="rId3"/>
                <a:stretch>
                  <a:fillRect t="-10112" b="-2921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0765057"/>
                  </p:ext>
                </p:extLst>
              </p:nvPr>
            </p:nvGraphicFramePr>
            <p:xfrm>
              <a:off x="6416287" y="3252780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𝒎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𝒌</m:t>
                                </m:r>
                              </m:oMath>
                            </m:oMathPara>
                          </a14:m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0765057"/>
                  </p:ext>
                </p:extLst>
              </p:nvPr>
            </p:nvGraphicFramePr>
            <p:xfrm>
              <a:off x="6416287" y="3252780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blipFill>
                          <a:blip r:embed="rId4"/>
                          <a:stretch>
                            <a:fillRect l="-100787" t="-6557" r="-1575" b="-5262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B4C82F3-A7A1-4D39-6E39-F7E3F80A5CB3}"/>
              </a:ext>
            </a:extLst>
          </p:cNvPr>
          <p:cNvSpPr txBox="1"/>
          <p:nvPr/>
        </p:nvSpPr>
        <p:spPr>
          <a:xfrm>
            <a:off x="6411951" y="2843561"/>
            <a:ext cx="1491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E.g., for A100</a:t>
            </a:r>
            <a:endParaRPr lang="LID4096" dirty="0"/>
          </a:p>
        </p:txBody>
      </p:sp>
      <p:pic>
        <p:nvPicPr>
          <p:cNvPr id="8" name="Graphic 7" descr="Rocket with solid fill">
            <a:extLst>
              <a:ext uri="{FF2B5EF4-FFF2-40B4-BE49-F238E27FC236}">
                <a16:creationId xmlns:a16="http://schemas.microsoft.com/office/drawing/2014/main" id="{300B133E-172B-593E-E3F3-9D2EE607B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982200" y="5417430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395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F17E9-5C15-395B-1A43-78BF45879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SMs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10A4EA-D1B0-B9F7-062D-2CFC54882F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GPU has many Streaming Multiprocessors</a:t>
            </a:r>
          </a:p>
          <a:p>
            <a:pPr lvl="1"/>
            <a:r>
              <a:rPr lang="en-US" dirty="0"/>
              <a:t>E.g., NVIDIA A100: 108</a:t>
            </a:r>
          </a:p>
          <a:p>
            <a:r>
              <a:rPr lang="en-US" dirty="0"/>
              <a:t>Share</a:t>
            </a:r>
          </a:p>
          <a:p>
            <a:pPr lvl="1"/>
            <a:r>
              <a:rPr lang="en-US" dirty="0"/>
              <a:t>L2 cache</a:t>
            </a:r>
          </a:p>
          <a:p>
            <a:pPr lvl="1"/>
            <a:r>
              <a:rPr lang="en-US" dirty="0"/>
              <a:t>Global (GPU) memory</a:t>
            </a:r>
          </a:p>
          <a:p>
            <a:endParaRPr lang="en-US" dirty="0"/>
          </a:p>
          <a:p>
            <a:r>
              <a:rPr lang="en-US" dirty="0"/>
              <a:t>NVIDIA A100 peak FP32 throughput:</a:t>
            </a:r>
            <a:br>
              <a:rPr lang="en-US" dirty="0"/>
            </a:br>
            <a:r>
              <a:rPr lang="en-US" dirty="0"/>
              <a:t>64 FP32 instructions/SM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number SMs = 6,912 FLOP/cycle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E08B94-8A77-9227-ECA1-7E71062A3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14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BA53254-B65D-D76C-D56B-AF7B0CA5AC61}"/>
              </a:ext>
            </a:extLst>
          </p:cNvPr>
          <p:cNvGrpSpPr/>
          <p:nvPr/>
        </p:nvGrpSpPr>
        <p:grpSpPr>
          <a:xfrm>
            <a:off x="6096000" y="5331337"/>
            <a:ext cx="4083859" cy="935319"/>
            <a:chOff x="4092498" y="4734412"/>
            <a:chExt cx="4083859" cy="93531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1A396AD-374B-302B-913D-1701B47E26CB}"/>
                </a:ext>
              </a:extLst>
            </p:cNvPr>
            <p:cNvSpPr txBox="1"/>
            <p:nvPr/>
          </p:nvSpPr>
          <p:spPr>
            <a:xfrm>
              <a:off x="4092498" y="5084956"/>
              <a:ext cx="380078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Massive parallelism!</a:t>
              </a:r>
              <a:endParaRPr lang="LID4096" sz="3200" dirty="0"/>
            </a:p>
          </p:txBody>
        </p:sp>
        <p:pic>
          <p:nvPicPr>
            <p:cNvPr id="6" name="Graphic 5" descr="Rocket with solid fill">
              <a:extLst>
                <a:ext uri="{FF2B5EF4-FFF2-40B4-BE49-F238E27FC236}">
                  <a16:creationId xmlns:a16="http://schemas.microsoft.com/office/drawing/2014/main" id="{DD2AA5ED-9C9A-E540-1EAE-BE62F5F2F9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610206" y="4734412"/>
              <a:ext cx="566151" cy="5661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86952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56C4A-EB85-9CCF-CB7F-9E87F3068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memory hierarchy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07CA5262-3FD9-20CC-59CE-33C595B747B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69963829"/>
              </p:ext>
            </p:extLst>
          </p:nvPr>
        </p:nvGraphicFramePr>
        <p:xfrm>
          <a:off x="838200" y="1825625"/>
          <a:ext cx="1030732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6376">
                  <a:extLst>
                    <a:ext uri="{9D8B030D-6E8A-4147-A177-3AD203B41FA5}">
                      <a16:colId xmlns:a16="http://schemas.microsoft.com/office/drawing/2014/main" val="2517813158"/>
                    </a:ext>
                  </a:extLst>
                </a:gridCol>
                <a:gridCol w="908824">
                  <a:extLst>
                    <a:ext uri="{9D8B030D-6E8A-4147-A177-3AD203B41FA5}">
                      <a16:colId xmlns:a16="http://schemas.microsoft.com/office/drawing/2014/main" val="3961838178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136225247"/>
                    </a:ext>
                  </a:extLst>
                </a:gridCol>
                <a:gridCol w="2858429">
                  <a:extLst>
                    <a:ext uri="{9D8B030D-6E8A-4147-A177-3AD203B41FA5}">
                      <a16:colId xmlns:a16="http://schemas.microsoft.com/office/drawing/2014/main" val="3238779323"/>
                    </a:ext>
                  </a:extLst>
                </a:gridCol>
                <a:gridCol w="2191091">
                  <a:extLst>
                    <a:ext uri="{9D8B030D-6E8A-4147-A177-3AD203B41FA5}">
                      <a16:colId xmlns:a16="http://schemas.microsoft.com/office/drawing/2014/main" val="22139970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Scope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Managed by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 latency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Size (NVIDIA A100)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5852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Thread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Compiler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1 cycle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256 K </a:t>
                      </a:r>
                      <a:r>
                        <a:rPr lang="en-US">
                          <a:sym typeface="Symbol" panose="05050102010706020507" pitchFamily="18" charset="2"/>
                        </a:rPr>
                        <a:t> 4 B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per SM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6593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Block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10-20 cycles</a:t>
                      </a:r>
                      <a:endParaRPr lang="LID4096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dirty="0"/>
                        <a:t>Up to 164 KB,</a:t>
                      </a:r>
                    </a:p>
                    <a:p>
                      <a:r>
                        <a:rPr lang="en-US" dirty="0"/>
                        <a:t>part of 192 KB</a:t>
                      </a:r>
                      <a:endParaRPr lang="LID4096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18271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Symbol" panose="05050102010706020507" pitchFamily="18" charset="2"/>
                        <a:buChar char="»"/>
                      </a:pPr>
                      <a:r>
                        <a:rPr lang="en-US" dirty="0">
                          <a:sym typeface="Symbol" panose="05050102010706020507" pitchFamily="18" charset="2"/>
                        </a:rPr>
                        <a:t>30-40 cycles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072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Const/texture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constant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7287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200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29109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 (HBM)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400-800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or 80 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621370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B327CF-031E-487F-EA1D-42370EB8D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15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FD653D6-4392-5B93-6C69-49103106438A}"/>
              </a:ext>
            </a:extLst>
          </p:cNvPr>
          <p:cNvGrpSpPr/>
          <p:nvPr/>
        </p:nvGrpSpPr>
        <p:grpSpPr>
          <a:xfrm>
            <a:off x="2475571" y="4846988"/>
            <a:ext cx="7240858" cy="866902"/>
            <a:chOff x="2475571" y="4846988"/>
            <a:chExt cx="7240858" cy="86690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4CB5854-A0F4-8563-A99F-3BF92987C839}"/>
                </a:ext>
              </a:extLst>
            </p:cNvPr>
            <p:cNvSpPr txBox="1"/>
            <p:nvPr/>
          </p:nvSpPr>
          <p:spPr>
            <a:xfrm>
              <a:off x="2475571" y="5252225"/>
              <a:ext cx="662187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Registers + shared memory </a:t>
              </a:r>
              <a:r>
                <a:rPr lang="en-US" sz="2400" dirty="0">
                  <a:sym typeface="Symbol" panose="05050102010706020507" pitchFamily="18" charset="2"/>
                </a:rPr>
                <a:t></a:t>
              </a:r>
              <a:r>
                <a:rPr lang="en-US" sz="2400" dirty="0"/>
                <a:t> threads per block</a:t>
              </a:r>
              <a:endParaRPr lang="LID4096" sz="24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F7D1BADB-03A9-B40C-E095-FE32BEA144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24341" y="4846988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86978B2-BF35-EB32-9887-B83E3C32FC9B}"/>
              </a:ext>
            </a:extLst>
          </p:cNvPr>
          <p:cNvGrpSpPr/>
          <p:nvPr/>
        </p:nvGrpSpPr>
        <p:grpSpPr>
          <a:xfrm>
            <a:off x="1628078" y="5790199"/>
            <a:ext cx="5773681" cy="760032"/>
            <a:chOff x="1628078" y="5790199"/>
            <a:chExt cx="5773681" cy="7600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B5746FC-5403-91EF-E683-170A4DB0A047}"/>
                </a:ext>
              </a:extLst>
            </p:cNvPr>
            <p:cNvSpPr txBox="1"/>
            <p:nvPr/>
          </p:nvSpPr>
          <p:spPr>
            <a:xfrm>
              <a:off x="1628078" y="6088566"/>
              <a:ext cx="5490606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Latency hiding through oversubscription</a:t>
              </a:r>
              <a:endParaRPr lang="LID4096" sz="2400" dirty="0"/>
            </a:p>
          </p:txBody>
        </p:sp>
        <p:pic>
          <p:nvPicPr>
            <p:cNvPr id="10" name="Graphic 9" descr="Rocket with solid fill">
              <a:extLst>
                <a:ext uri="{FF2B5EF4-FFF2-40B4-BE49-F238E27FC236}">
                  <a16:creationId xmlns:a16="http://schemas.microsoft.com/office/drawing/2014/main" id="{8CD65584-63CE-4D12-E64E-23076AF241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835608" y="5790199"/>
              <a:ext cx="566151" cy="5661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2173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F96C5-A876-3DD4-D2FD-58EEB334D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GPUs/node, multiple nodes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35BD87-529A-324B-14D5-F1C2C09EF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Typically, 4 GPUs/node (A100)</a:t>
            </a:r>
          </a:p>
          <a:p>
            <a:pPr lvl="1"/>
            <a:r>
              <a:rPr lang="en-US" dirty="0" err="1"/>
              <a:t>NVLink</a:t>
            </a:r>
            <a:endParaRPr lang="en-US" dirty="0"/>
          </a:p>
          <a:p>
            <a:pPr lvl="2"/>
            <a:r>
              <a:rPr lang="en-US" dirty="0"/>
              <a:t>Direct connection between all GPUs</a:t>
            </a:r>
          </a:p>
          <a:p>
            <a:pPr lvl="2"/>
            <a:r>
              <a:rPr lang="en-US" dirty="0"/>
              <a:t>12 </a:t>
            </a:r>
            <a:r>
              <a:rPr lang="en-US" dirty="0" err="1"/>
              <a:t>NVLink</a:t>
            </a:r>
            <a:r>
              <a:rPr lang="en-US" dirty="0"/>
              <a:t> lanes/GPU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4 lanes to each GPU</a:t>
            </a:r>
          </a:p>
          <a:p>
            <a:pPr lvl="2"/>
            <a:r>
              <a:rPr lang="en-US" dirty="0"/>
              <a:t>50 GB/s/lane (bi-directional)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200 GB/s between GPUs (100 GB/s each way)</a:t>
            </a:r>
          </a:p>
          <a:p>
            <a:pPr lvl="1"/>
            <a:r>
              <a:rPr lang="en-US" dirty="0"/>
              <a:t>PCIe connection to host</a:t>
            </a:r>
          </a:p>
          <a:p>
            <a:r>
              <a:rPr lang="en-US" dirty="0"/>
              <a:t>NVIDIA </a:t>
            </a:r>
            <a:r>
              <a:rPr lang="en-US" dirty="0" err="1"/>
              <a:t>Infiniband</a:t>
            </a:r>
            <a:r>
              <a:rPr lang="en-US" dirty="0"/>
              <a:t> connects nodes</a:t>
            </a: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A27FE8-1745-C7D3-EB0F-5AD301721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77807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D2ABB-E01B-6BBC-49E6-054DCE171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Bandwidth hierarchy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60699-F675-F99B-F6C1-43949362A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4363874" cy="4351338"/>
          </a:xfrm>
        </p:spPr>
        <p:txBody>
          <a:bodyPr>
            <a:normAutofit/>
          </a:bodyPr>
          <a:lstStyle/>
          <a:p>
            <a:r>
              <a:rPr lang="en-US" sz="2400" dirty="0"/>
              <a:t>Global GPU memory</a:t>
            </a:r>
            <a:br>
              <a:rPr lang="en-US" sz="2400" dirty="0"/>
            </a:br>
            <a:r>
              <a:rPr lang="en-US" sz="2400" dirty="0"/>
              <a:t>    </a:t>
            </a:r>
            <a:r>
              <a:rPr lang="en-US" sz="2400" dirty="0">
                <a:sym typeface="Symbol" panose="05050102010706020507" pitchFamily="18" charset="2"/>
              </a:rPr>
              <a:t> 2 TB/s</a:t>
            </a:r>
          </a:p>
          <a:p>
            <a:r>
              <a:rPr lang="en-US" sz="2400" dirty="0" err="1">
                <a:sym typeface="Symbol" panose="05050102010706020507" pitchFamily="18" charset="2"/>
              </a:rPr>
              <a:t>NVLink</a:t>
            </a:r>
            <a:r>
              <a:rPr lang="en-US" sz="2400" dirty="0">
                <a:sym typeface="Symbol" panose="05050102010706020507" pitchFamily="18" charset="2"/>
              </a:rPr>
              <a:t>   100 GB/s each way per GPU pair</a:t>
            </a:r>
          </a:p>
          <a:p>
            <a:r>
              <a:rPr lang="en-US" sz="2400" dirty="0"/>
              <a:t>PCIe </a:t>
            </a:r>
            <a:r>
              <a:rPr lang="en-US" sz="2400" dirty="0">
                <a:sym typeface="Symbol" panose="05050102010706020507" pitchFamily="18" charset="2"/>
              </a:rPr>
              <a:t> 32 GB/s each way</a:t>
            </a:r>
          </a:p>
          <a:p>
            <a:r>
              <a:rPr lang="en-US" sz="2400" dirty="0"/>
              <a:t>Host memory</a:t>
            </a:r>
            <a:br>
              <a:rPr lang="en-US" sz="2400" dirty="0"/>
            </a:br>
            <a:r>
              <a:rPr lang="en-US" sz="2400" dirty="0"/>
              <a:t>    </a:t>
            </a:r>
            <a:r>
              <a:rPr lang="en-US" sz="2400" dirty="0">
                <a:sym typeface="Symbol" panose="05050102010706020507" pitchFamily="18" charset="2"/>
              </a:rPr>
              <a:t> 300 GB/s</a:t>
            </a:r>
          </a:p>
          <a:p>
            <a:r>
              <a:rPr lang="en-US" sz="2400" dirty="0">
                <a:sym typeface="Symbol" panose="05050102010706020507" pitchFamily="18" charset="2"/>
              </a:rPr>
              <a:t>HDR </a:t>
            </a:r>
            <a:r>
              <a:rPr lang="en-US" sz="2400" dirty="0" err="1">
                <a:sym typeface="Symbol" panose="05050102010706020507" pitchFamily="18" charset="2"/>
              </a:rPr>
              <a:t>Infiniband</a:t>
            </a:r>
            <a:r>
              <a:rPr lang="en-US" sz="2400" dirty="0">
                <a:sym typeface="Symbol" panose="05050102010706020507" pitchFamily="18" charset="2"/>
              </a:rPr>
              <a:t>  25 GB/s each way per port</a:t>
            </a:r>
            <a:endParaRPr lang="LID4096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A64213-7117-2E4C-EE74-E3B19614C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17</a:t>
            </a:fld>
            <a:endParaRPr lang="LID4096"/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3199AB5-D408-A176-2B74-D1E9886E2CCE}"/>
              </a:ext>
            </a:extLst>
          </p:cNvPr>
          <p:cNvCxnSpPr>
            <a:cxnSpLocks/>
          </p:cNvCxnSpPr>
          <p:nvPr/>
        </p:nvCxnSpPr>
        <p:spPr>
          <a:xfrm flipH="1">
            <a:off x="6492079" y="2845855"/>
            <a:ext cx="3645883" cy="9369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8CB181BC-3F7E-EE9D-9C9A-0F945DBCF1C5}"/>
              </a:ext>
            </a:extLst>
          </p:cNvPr>
          <p:cNvGrpSpPr/>
          <p:nvPr/>
        </p:nvGrpSpPr>
        <p:grpSpPr>
          <a:xfrm>
            <a:off x="4975853" y="1624545"/>
            <a:ext cx="3078210" cy="4136243"/>
            <a:chOff x="4782813" y="1624545"/>
            <a:chExt cx="3078210" cy="4136243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7F940ADF-6D83-137A-7FDF-70B823BE7123}"/>
                </a:ext>
              </a:extLst>
            </p:cNvPr>
            <p:cNvGrpSpPr/>
            <p:nvPr/>
          </p:nvGrpSpPr>
          <p:grpSpPr>
            <a:xfrm>
              <a:off x="4782813" y="1624545"/>
              <a:ext cx="3078210" cy="4136243"/>
              <a:chOff x="7132474" y="1173131"/>
              <a:chExt cx="3078210" cy="413624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0487CFDA-D563-F7F9-0568-71CBC684CD2A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13894EE8-2676-E994-D6EF-921381DB2AC1}"/>
                  </a:ext>
                </a:extLst>
              </p:cNvPr>
              <p:cNvCxnSpPr>
                <a:stCxn id="5" idx="3"/>
                <a:endCxn id="6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96E1EA95-28BB-873B-0290-D359DD58D4B3}"/>
                  </a:ext>
                </a:extLst>
              </p:cNvPr>
              <p:cNvCxnSpPr>
                <a:cxnSpLocks/>
                <a:stCxn id="5" idx="3"/>
                <a:endCxn id="7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976F6F89-5C46-BAC7-48A7-2283C0C27AC3}"/>
                  </a:ext>
                </a:extLst>
              </p:cNvPr>
              <p:cNvCxnSpPr>
                <a:cxnSpLocks/>
                <a:stCxn id="5" idx="3"/>
                <a:endCxn id="8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8FC63DF-E19A-824F-FC2C-CAEAA7EE5E54}"/>
                  </a:ext>
                </a:extLst>
              </p:cNvPr>
              <p:cNvCxnSpPr>
                <a:cxnSpLocks/>
                <a:stCxn id="6" idx="1"/>
                <a:endCxn id="8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6E64989C-A3A7-338C-F695-2A7C96222721}"/>
                  </a:ext>
                </a:extLst>
              </p:cNvPr>
              <p:cNvCxnSpPr>
                <a:cxnSpLocks/>
                <a:stCxn id="7" idx="3"/>
                <a:endCxn id="6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FBE4B1A6-2F54-C5DE-E4C6-21702A24942A}"/>
                  </a:ext>
                </a:extLst>
              </p:cNvPr>
              <p:cNvCxnSpPr>
                <a:cxnSpLocks/>
                <a:stCxn id="7" idx="3"/>
                <a:endCxn id="8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6D080A6-F087-DC45-BE6E-F5CA8A86AB4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44FC1C6E-D1AE-3B73-5875-36AACAD137AE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68EF782E-62A2-E513-750B-C05D84861619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748E1A7F-1AA9-D13E-C6F6-2481BD793572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5CE565C-5D50-CDEB-14EB-7B903F925039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6934E003-80EF-938C-E880-BD1E9C6AC043}"/>
                    </a:ext>
                  </a:extLst>
                </p:cNvPr>
                <p:cNvCxnSpPr>
                  <a:stCxn id="12" idx="2"/>
                  <a:endCxn id="5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B83A5641-9A46-2F27-703B-E12977E5C283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4B116CA8-B3FA-BC09-4477-1678E5881540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C7A6326-46DF-0050-2CE5-6A5264449A04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DA4247D-4107-C28C-B2D8-D753A8B4C453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7529A86E-0038-E665-F9CC-5A52537FE1D5}"/>
                    </a:ext>
                  </a:extLst>
                </p:cNvPr>
                <p:cNvCxnSpPr>
                  <a:cxnSpLocks/>
                  <a:stCxn id="11" idx="2"/>
                  <a:endCxn id="6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04D655B6-50B7-5A95-6FFF-3AE21E24F1D7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1288CE00-6992-5C31-E04E-D7936A0353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7184EA9-D05A-A9CB-2CA9-91F5FF8F5B73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B45FC87-0FBB-8DE8-B419-A30CFB6613E3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2C42C23F-6CB8-451A-1EAA-CDE505825CA9}"/>
                    </a:ext>
                  </a:extLst>
                </p:cNvPr>
                <p:cNvCxnSpPr>
                  <a:cxnSpLocks/>
                  <a:stCxn id="7" idx="2"/>
                  <a:endCxn id="9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B8EC0F24-9F03-FCF8-02CF-0B364ABAFAE4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B0F67A46-7F49-C654-A2C5-7A161F847D0D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BC33D96-E1D4-28D7-7FA8-11E98528D25A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2A79843-494A-F40B-2802-F305CCE2E35B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CEAD8D83-9704-EC1E-E548-D09D257038E7}"/>
                    </a:ext>
                  </a:extLst>
                </p:cNvPr>
                <p:cNvCxnSpPr>
                  <a:cxnSpLocks/>
                  <a:stCxn id="8" idx="2"/>
                  <a:endCxn id="10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E764BD8-871A-D43E-AEB7-BB2B291DD9DF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3E037CE2-42CE-E5B1-80A7-562867093F1C}"/>
                  </a:ext>
                </a:extLst>
              </p:cNvPr>
              <p:cNvCxnSpPr>
                <a:cxnSpLocks/>
                <a:stCxn id="51" idx="2"/>
                <a:endCxn id="42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7E5F362A-D426-746C-D589-B05D831A9F13}"/>
                  </a:ext>
                </a:extLst>
              </p:cNvPr>
              <p:cNvCxnSpPr>
                <a:cxnSpLocks/>
                <a:endCxn id="42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DA43CA3D-F373-2846-2F0C-0B17761F455F}"/>
                </a:ext>
              </a:extLst>
            </p:cNvPr>
            <p:cNvSpPr txBox="1"/>
            <p:nvPr/>
          </p:nvSpPr>
          <p:spPr>
            <a:xfrm>
              <a:off x="5969460" y="266333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A08CED08-2DED-1D31-EC58-5443B8F78965}"/>
                </a:ext>
              </a:extLst>
            </p:cNvPr>
            <p:cNvSpPr txBox="1"/>
            <p:nvPr/>
          </p:nvSpPr>
          <p:spPr>
            <a:xfrm>
              <a:off x="5923968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1CCE4BD9-A7C7-95EB-B828-CFCFF1CDF547}"/>
              </a:ext>
            </a:extLst>
          </p:cNvPr>
          <p:cNvGrpSpPr/>
          <p:nvPr/>
        </p:nvGrpSpPr>
        <p:grpSpPr>
          <a:xfrm>
            <a:off x="8934253" y="1624544"/>
            <a:ext cx="3078210" cy="4136243"/>
            <a:chOff x="8428696" y="1624544"/>
            <a:chExt cx="3078210" cy="413624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E33C0FE1-F508-55F8-CA30-466C224287BC}"/>
                </a:ext>
              </a:extLst>
            </p:cNvPr>
            <p:cNvGrpSpPr/>
            <p:nvPr/>
          </p:nvGrpSpPr>
          <p:grpSpPr>
            <a:xfrm>
              <a:off x="8428696" y="1624544"/>
              <a:ext cx="3078210" cy="4136243"/>
              <a:chOff x="7132474" y="1173131"/>
              <a:chExt cx="3078210" cy="4136243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C5A59B48-500F-A233-2BCF-4A1554F5871C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D45E9E67-CBE3-E394-61BA-5EEA74D93E7D}"/>
                  </a:ext>
                </a:extLst>
              </p:cNvPr>
              <p:cNvCxnSpPr>
                <a:stCxn id="94" idx="3"/>
                <a:endCxn id="90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A9BFB3E2-CB1E-AF11-80DB-D887A8993C61}"/>
                  </a:ext>
                </a:extLst>
              </p:cNvPr>
              <p:cNvCxnSpPr>
                <a:cxnSpLocks/>
                <a:stCxn id="94" idx="3"/>
                <a:endCxn id="86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A1A4354E-1DF9-6473-DB3C-30BCC687D7BC}"/>
                  </a:ext>
                </a:extLst>
              </p:cNvPr>
              <p:cNvCxnSpPr>
                <a:cxnSpLocks/>
                <a:stCxn id="94" idx="3"/>
                <a:endCxn id="82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09EBA3A2-A3D6-040C-AF89-4C4F301EE4C8}"/>
                  </a:ext>
                </a:extLst>
              </p:cNvPr>
              <p:cNvCxnSpPr>
                <a:cxnSpLocks/>
                <a:stCxn id="90" idx="1"/>
                <a:endCxn id="82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067E2F4E-4A99-60FA-9FFC-BD0B213AEED0}"/>
                  </a:ext>
                </a:extLst>
              </p:cNvPr>
              <p:cNvCxnSpPr>
                <a:cxnSpLocks/>
                <a:stCxn id="86" idx="3"/>
                <a:endCxn id="90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C7395492-E76A-E076-E0F0-CC30B33607AB}"/>
                  </a:ext>
                </a:extLst>
              </p:cNvPr>
              <p:cNvCxnSpPr>
                <a:cxnSpLocks/>
                <a:stCxn id="86" idx="3"/>
                <a:endCxn id="82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82A7B87-2878-880B-83D4-0F786C9FE8A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75" name="Group 74">
                <a:extLst>
                  <a:ext uri="{FF2B5EF4-FFF2-40B4-BE49-F238E27FC236}">
                    <a16:creationId xmlns:a16="http://schemas.microsoft.com/office/drawing/2014/main" id="{C3F9CFA9-B7C4-9A4E-F9FC-E9E8819E2670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0FF4C75B-C62A-BA71-B7BD-31B1EB9FD165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5CCFE920-89AB-D1A4-9065-6F450915FA64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EC18AA70-DE52-6B02-8A42-8CA91A5511BA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6" name="Straight Connector 95">
                  <a:extLst>
                    <a:ext uri="{FF2B5EF4-FFF2-40B4-BE49-F238E27FC236}">
                      <a16:creationId xmlns:a16="http://schemas.microsoft.com/office/drawing/2014/main" id="{B1CF15B8-4C9F-A78F-B25B-D569215ACB14}"/>
                    </a:ext>
                  </a:extLst>
                </p:cNvPr>
                <p:cNvCxnSpPr>
                  <a:stCxn id="95" idx="2"/>
                  <a:endCxn id="94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17793684-7379-5A45-99F7-54A70962FB3B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93" name="Rectangle 92">
                  <a:extLst>
                    <a:ext uri="{FF2B5EF4-FFF2-40B4-BE49-F238E27FC236}">
                      <a16:creationId xmlns:a16="http://schemas.microsoft.com/office/drawing/2014/main" id="{0CE9FDB2-621B-2E9A-1544-C0B28693DD3A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64652690-18DD-82AF-4319-D21E5ED9AB6B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578103B6-7B12-1DD9-83BF-69C7F811A2C8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F3ABA18D-AADB-CEF1-7464-6347F9718E78}"/>
                    </a:ext>
                  </a:extLst>
                </p:cNvPr>
                <p:cNvCxnSpPr>
                  <a:cxnSpLocks/>
                  <a:stCxn id="91" idx="2"/>
                  <a:endCxn id="90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BEC1BD7C-3E41-3A22-7518-F46860A67D3E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3DF3ABA2-A750-0945-79E7-39C4CE1204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BB542027-C053-86A8-F67E-7022D3E5D94C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1AB27343-E756-C4B0-4C5E-A9F982497ED5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02CAC5F9-C00B-31A3-3F79-3B48AFBEABC0}"/>
                    </a:ext>
                  </a:extLst>
                </p:cNvPr>
                <p:cNvCxnSpPr>
                  <a:cxnSpLocks/>
                  <a:stCxn id="86" idx="2"/>
                  <a:endCxn id="87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8" name="Group 77">
                <a:extLst>
                  <a:ext uri="{FF2B5EF4-FFF2-40B4-BE49-F238E27FC236}">
                    <a16:creationId xmlns:a16="http://schemas.microsoft.com/office/drawing/2014/main" id="{F5791D21-5343-40CB-2862-37F414CABC77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13C5F1E0-CA02-9A78-8AA5-C98E7184E153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FAA03DE0-BA7F-4CFC-87AA-AC0EFF3D93F6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DF845E91-04AF-1AEC-EA02-146C6C59B4A1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33018315-183E-D22A-BD76-ED0895005612}"/>
                    </a:ext>
                  </a:extLst>
                </p:cNvPr>
                <p:cNvCxnSpPr>
                  <a:cxnSpLocks/>
                  <a:stCxn id="82" idx="2"/>
                  <a:endCxn id="83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26E370E1-560A-3198-FBCC-69CAD204167B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E08A8F70-2AB7-FFEE-26E4-7174FD94AFDB}"/>
                  </a:ext>
                </a:extLst>
              </p:cNvPr>
              <p:cNvCxnSpPr>
                <a:cxnSpLocks/>
                <a:stCxn id="79" idx="2"/>
                <a:endCxn id="74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E8AEBCB0-6735-6B04-978D-09D59F35F63F}"/>
                  </a:ext>
                </a:extLst>
              </p:cNvPr>
              <p:cNvCxnSpPr>
                <a:cxnSpLocks/>
                <a:endCxn id="74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1B449A76-B523-F5C6-42C3-E496EE4BB5B6}"/>
                </a:ext>
              </a:extLst>
            </p:cNvPr>
            <p:cNvSpPr txBox="1"/>
            <p:nvPr/>
          </p:nvSpPr>
          <p:spPr>
            <a:xfrm>
              <a:off x="9606314" y="269917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1A1CEC29-3189-DBB2-0D6C-4F6F0333711C}"/>
                </a:ext>
              </a:extLst>
            </p:cNvPr>
            <p:cNvSpPr txBox="1"/>
            <p:nvPr/>
          </p:nvSpPr>
          <p:spPr>
            <a:xfrm>
              <a:off x="9560235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sp>
        <p:nvSpPr>
          <p:cNvPr id="105" name="TextBox 104">
            <a:extLst>
              <a:ext uri="{FF2B5EF4-FFF2-40B4-BE49-F238E27FC236}">
                <a16:creationId xmlns:a16="http://schemas.microsoft.com/office/drawing/2014/main" id="{6B49BB5E-2EAB-61D1-9767-777685426D91}"/>
              </a:ext>
            </a:extLst>
          </p:cNvPr>
          <p:cNvSpPr txBox="1"/>
          <p:nvPr/>
        </p:nvSpPr>
        <p:spPr>
          <a:xfrm>
            <a:off x="8165573" y="2646370"/>
            <a:ext cx="64633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HDR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911890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Students using laptop in a classroom">
            <a:extLst>
              <a:ext uri="{FF2B5EF4-FFF2-40B4-BE49-F238E27FC236}">
                <a16:creationId xmlns:a16="http://schemas.microsoft.com/office/drawing/2014/main" id="{FF86261F-786E-1AB1-CC8A-890A7FC5CCC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85" b="6046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00FD67C-B545-6C66-6A2C-C8516C12F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Programming model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3F430D-B79F-AAD6-F212-4C5F072090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2703CB-11BA-E9C8-04E1-06F275224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18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5595630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DF88D-1995-138C-C0EB-BFEC86F49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GPUs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6E328E-88B8-927E-FBAA-F29A2F09C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CUDA on NVIDIA/HIP on AMD</a:t>
            </a:r>
          </a:p>
          <a:p>
            <a:r>
              <a:rPr lang="en-US" dirty="0"/>
              <a:t>C/C++/Fortran + OpenMP 5.x</a:t>
            </a:r>
          </a:p>
          <a:p>
            <a:r>
              <a:rPr lang="en-US" dirty="0"/>
              <a:t>C/C++/Fortran + </a:t>
            </a:r>
            <a:r>
              <a:rPr lang="en-US" dirty="0" err="1"/>
              <a:t>OpenACC</a:t>
            </a:r>
            <a:endParaRPr lang="en-US" dirty="0"/>
          </a:p>
          <a:p>
            <a:r>
              <a:rPr lang="en-US" dirty="0"/>
              <a:t>SYCL</a:t>
            </a:r>
          </a:p>
          <a:p>
            <a:r>
              <a:rPr lang="en-US" dirty="0"/>
              <a:t>C++ + </a:t>
            </a:r>
            <a:r>
              <a:rPr lang="en-US" dirty="0" err="1"/>
              <a:t>Kokkos</a:t>
            </a:r>
            <a:endParaRPr lang="en-US" dirty="0"/>
          </a:p>
          <a:p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A1CE0-4625-38F4-D9AD-2170EACDE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29256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391EF-EEB1-AFF9-5B2D-8B440F8C8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B817F-26E2-C7CB-1E53-43F8F418CA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Explicit memory management</a:t>
            </a:r>
          </a:p>
          <a:p>
            <a:pPr lvl="1"/>
            <a:r>
              <a:rPr lang="en-US" dirty="0"/>
              <a:t>Memory allocation/deallocation</a:t>
            </a:r>
          </a:p>
          <a:p>
            <a:pPr lvl="1"/>
            <a:r>
              <a:rPr lang="en-US" dirty="0"/>
              <a:t>Host versus device addresses</a:t>
            </a:r>
          </a:p>
          <a:p>
            <a:pPr lvl="1"/>
            <a:r>
              <a:rPr lang="en-US" dirty="0"/>
              <a:t>Explicit  copy</a:t>
            </a:r>
          </a:p>
          <a:p>
            <a:pPr lvl="2"/>
            <a:r>
              <a:rPr lang="en-US" dirty="0"/>
              <a:t>Host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device</a:t>
            </a:r>
          </a:p>
          <a:p>
            <a:pPr lvl="2"/>
            <a:r>
              <a:rPr lang="en-US" dirty="0"/>
              <a:t>Device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host</a:t>
            </a:r>
          </a:p>
          <a:p>
            <a:pPr lvl="2"/>
            <a:r>
              <a:rPr lang="en-US" dirty="0"/>
              <a:t>Device </a:t>
            </a:r>
            <a:r>
              <a:rPr lang="en-US" dirty="0">
                <a:sym typeface="Symbol" panose="05050102010706020507" pitchFamily="18" charset="2"/>
              </a:rPr>
              <a:t>  </a:t>
            </a:r>
            <a:r>
              <a:rPr lang="en-US" dirty="0"/>
              <a:t>device</a:t>
            </a:r>
          </a:p>
          <a:p>
            <a:pPr lvl="1"/>
            <a:r>
              <a:rPr lang="en-US" dirty="0"/>
              <a:t>Explicit synchronization</a:t>
            </a:r>
          </a:p>
          <a:p>
            <a:pPr lvl="1"/>
            <a:endParaRPr lang="en-US" dirty="0"/>
          </a:p>
          <a:p>
            <a:r>
              <a:rPr lang="en-US" dirty="0"/>
              <a:t>Unified memory management</a:t>
            </a:r>
          </a:p>
          <a:p>
            <a:pPr lvl="1"/>
            <a:r>
              <a:rPr lang="en-US" dirty="0"/>
              <a:t>Memory allocation/deallocation </a:t>
            </a:r>
          </a:p>
          <a:p>
            <a:pPr lvl="1"/>
            <a:r>
              <a:rPr lang="en-US" dirty="0"/>
              <a:t>Single address space</a:t>
            </a:r>
          </a:p>
          <a:p>
            <a:pPr lvl="1"/>
            <a:r>
              <a:rPr lang="en-US" dirty="0"/>
              <a:t>Implicit data migration (page fault/page copy)</a:t>
            </a:r>
          </a:p>
          <a:p>
            <a:pPr lvl="1"/>
            <a:r>
              <a:rPr lang="en-US" dirty="0"/>
              <a:t>Explicit synchronization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F11E45-D9D7-63B2-C5B2-A13362ACE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20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14C8C51-005A-E816-0028-1975AD996416}"/>
              </a:ext>
            </a:extLst>
          </p:cNvPr>
          <p:cNvGrpSpPr/>
          <p:nvPr/>
        </p:nvGrpSpPr>
        <p:grpSpPr>
          <a:xfrm>
            <a:off x="6779941" y="1913153"/>
            <a:ext cx="4252047" cy="1304651"/>
            <a:chOff x="6779941" y="1913153"/>
            <a:chExt cx="4252047" cy="130465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F8DFDE5-FCDC-D39C-6B04-C5032D0E27F2}"/>
                </a:ext>
              </a:extLst>
            </p:cNvPr>
            <p:cNvSpPr txBox="1"/>
            <p:nvPr/>
          </p:nvSpPr>
          <p:spPr>
            <a:xfrm>
              <a:off x="6779941" y="2263697"/>
              <a:ext cx="3968972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More control, potentially</a:t>
              </a:r>
              <a:br>
                <a:rPr lang="en-US" sz="2800" dirty="0"/>
              </a:br>
              <a:r>
                <a:rPr lang="en-US" sz="2800" dirty="0"/>
                <a:t>better performance</a:t>
              </a:r>
              <a:endParaRPr lang="LID4096" sz="2800" dirty="0"/>
            </a:p>
          </p:txBody>
        </p:sp>
        <p:pic>
          <p:nvPicPr>
            <p:cNvPr id="6" name="Graphic 5" descr="Rocket with solid fill">
              <a:extLst>
                <a:ext uri="{FF2B5EF4-FFF2-40B4-BE49-F238E27FC236}">
                  <a16:creationId xmlns:a16="http://schemas.microsoft.com/office/drawing/2014/main" id="{1281FDEE-B2B2-29B4-0ED3-FE2935BE34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465837" y="1913153"/>
              <a:ext cx="566151" cy="566151"/>
            </a:xfrm>
            <a:prstGeom prst="rect">
              <a:avLst/>
            </a:prstGeom>
          </p:spPr>
        </p:pic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A8F5C80-A544-0FC0-1FB4-9858900E196E}"/>
              </a:ext>
            </a:extLst>
          </p:cNvPr>
          <p:cNvSpPr/>
          <p:nvPr/>
        </p:nvSpPr>
        <p:spPr>
          <a:xfrm>
            <a:off x="1550019" y="5754030"/>
            <a:ext cx="2977375" cy="312233"/>
          </a:xfrm>
          <a:prstGeom prst="roundRect">
            <a:avLst/>
          </a:prstGeom>
          <a:solidFill>
            <a:srgbClr val="FF0000">
              <a:alpha val="44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7A8C194-A20D-DCC5-2FD5-6F69B174B5F1}"/>
              </a:ext>
            </a:extLst>
          </p:cNvPr>
          <p:cNvSpPr/>
          <p:nvPr/>
        </p:nvSpPr>
        <p:spPr>
          <a:xfrm>
            <a:off x="1550019" y="4847064"/>
            <a:ext cx="3980986" cy="312233"/>
          </a:xfrm>
          <a:prstGeom prst="roundRect">
            <a:avLst/>
          </a:prstGeom>
          <a:solidFill>
            <a:srgbClr val="FF0000">
              <a:alpha val="44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103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8" grpId="0" animBg="1"/>
      <p:bldP spid="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48696-EA69-E8AE-40A9-A2004506A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Kernels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D77004-8124-4D6E-E36F-1209E6361D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compiled for device</a:t>
            </a:r>
          </a:p>
          <a:p>
            <a:r>
              <a:rPr lang="en-US" dirty="0"/>
              <a:t>Operate on data in device memory</a:t>
            </a:r>
          </a:p>
          <a:p>
            <a:r>
              <a:rPr lang="en-US" dirty="0"/>
              <a:t>Launched from host, run on device</a:t>
            </a:r>
          </a:p>
          <a:p>
            <a:r>
              <a:rPr lang="en-US" dirty="0"/>
              <a:t>Configuration in 1D, 2D, 3D</a:t>
            </a:r>
          </a:p>
          <a:p>
            <a:pPr lvl="1"/>
            <a:r>
              <a:rPr lang="en-US" dirty="0"/>
              <a:t>Threads per block</a:t>
            </a:r>
          </a:p>
          <a:p>
            <a:pPr lvl="1"/>
            <a:r>
              <a:rPr lang="en-US" dirty="0"/>
              <a:t>Blocks per grid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B3E7D-EA0E-521D-E510-CB84A1062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91175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EA096-D73D-ED03-CCBE-D336DD66C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Threads, blocks &amp; grid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C62B7-9A58-92C8-3563-77C90ECEE6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Threads per block:</a:t>
            </a:r>
            <a:br>
              <a:rPr lang="en-US" dirty="0"/>
            </a:br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y-dimension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z-dimension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1024</a:t>
            </a:r>
          </a:p>
          <a:p>
            <a:pPr lvl="1"/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1,024</a:t>
            </a:r>
          </a:p>
          <a:p>
            <a:pPr lvl="1"/>
            <a:r>
              <a:rPr lang="en-US" dirty="0"/>
              <a:t>y-dimension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1,024</a:t>
            </a:r>
          </a:p>
          <a:p>
            <a:pPr lvl="1"/>
            <a:r>
              <a:rPr lang="en-US" dirty="0"/>
              <a:t>z-dimension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64</a:t>
            </a:r>
          </a:p>
          <a:p>
            <a:r>
              <a:rPr lang="en-US" dirty="0"/>
              <a:t>Blocks per grid</a:t>
            </a:r>
          </a:p>
          <a:p>
            <a:pPr lvl="1"/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 2</a:t>
            </a:r>
            <a:r>
              <a:rPr lang="en-US" baseline="30000" dirty="0">
                <a:sym typeface="Symbol" panose="05050102010706020507" pitchFamily="18" charset="2"/>
              </a:rPr>
              <a:t>31</a:t>
            </a:r>
            <a:r>
              <a:rPr lang="en-US" dirty="0">
                <a:sym typeface="Symbol" panose="05050102010706020507" pitchFamily="18" charset="2"/>
              </a:rPr>
              <a:t> - 1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y-dimension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 65,535</a:t>
            </a:r>
            <a:endParaRPr lang="LID4096" dirty="0"/>
          </a:p>
          <a:p>
            <a:pPr lvl="1"/>
            <a:r>
              <a:rPr lang="en-US" dirty="0">
                <a:sym typeface="Symbol" panose="05050102010706020507" pitchFamily="18" charset="2"/>
              </a:rPr>
              <a:t>z-dimension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 65,535</a:t>
            </a:r>
            <a:endParaRPr lang="LID4096" dirty="0"/>
          </a:p>
          <a:p>
            <a:pPr lvl="1"/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32F50D-05B3-12AE-EDE0-8B5847481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7168FA-A0D1-4E05-7F96-8766767DE9A9}"/>
              </a:ext>
            </a:extLst>
          </p:cNvPr>
          <p:cNvSpPr txBox="1"/>
          <p:nvPr/>
        </p:nvSpPr>
        <p:spPr>
          <a:xfrm>
            <a:off x="7318244" y="1121376"/>
            <a:ext cx="390055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Warp is 32 threads,</a:t>
            </a:r>
            <a:br>
              <a:rPr lang="en-US" sz="2400" dirty="0"/>
            </a:br>
            <a:r>
              <a:rPr lang="en-US" sz="2400" dirty="0"/>
              <a:t>warp-group is 4 </a:t>
            </a:r>
            <a:r>
              <a:rPr lang="en-US" sz="2400" dirty="0">
                <a:sym typeface="Symbol" panose="05050102010706020507" pitchFamily="18" charset="2"/>
              </a:rPr>
              <a:t></a:t>
            </a:r>
            <a:r>
              <a:rPr lang="en-US" sz="2400" dirty="0"/>
              <a:t> 32 threads</a:t>
            </a:r>
            <a:endParaRPr lang="LID4096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FBC48-332E-E420-8179-70BE41B3A500}"/>
              </a:ext>
            </a:extLst>
          </p:cNvPr>
          <p:cNvSpPr txBox="1"/>
          <p:nvPr/>
        </p:nvSpPr>
        <p:spPr>
          <a:xfrm>
            <a:off x="5474379" y="3548138"/>
            <a:ext cx="5041893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Kernel can 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Thread indices, thread dimensions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Block indices, block dimension</a:t>
            </a:r>
          </a:p>
          <a:p>
            <a:r>
              <a:rPr lang="en-US" sz="2400" dirty="0"/>
              <a:t>                </a:t>
            </a:r>
            <a:r>
              <a:rPr lang="LID4096" sz="2400" dirty="0">
                <a:sym typeface="Symbol" panose="05050102010706020507" pitchFamily="18" charset="2"/>
              </a:rPr>
              <a:t></a:t>
            </a:r>
            <a:r>
              <a:rPr lang="en-US" sz="2400" dirty="0">
                <a:sym typeface="Symbol" panose="05050102010706020507" pitchFamily="18" charset="2"/>
              </a:rPr>
              <a:t> differentiate work/thread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14896B-B657-57EC-27A1-95D7A4CB5E62}"/>
              </a:ext>
            </a:extLst>
          </p:cNvPr>
          <p:cNvSpPr txBox="1"/>
          <p:nvPr/>
        </p:nvSpPr>
        <p:spPr>
          <a:xfrm>
            <a:off x="4834099" y="5525353"/>
            <a:ext cx="372198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Numbers for NVIDIA H100,</a:t>
            </a:r>
            <a:br>
              <a:rPr lang="en-US" sz="2400" dirty="0"/>
            </a:br>
            <a:r>
              <a:rPr lang="en-US" sz="2400" dirty="0"/>
              <a:t>query the device!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45356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05B0C-8D40-37D5-DABA-4ADAAC5EB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Streaming Multiprocessors &amp; blocks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106440-60D1-D558-CAC1-4A97DB4B4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All threads in block execute on same SM</a:t>
            </a:r>
          </a:p>
          <a:p>
            <a:pPr lvl="1"/>
            <a:r>
              <a:rPr lang="en-US" dirty="0"/>
              <a:t>Can be synchronized</a:t>
            </a:r>
          </a:p>
          <a:p>
            <a:pPr lvl="1"/>
            <a:r>
              <a:rPr lang="en-US" dirty="0"/>
              <a:t>Can use shared memory</a:t>
            </a:r>
          </a:p>
          <a:p>
            <a:r>
              <a:rPr lang="en-US" dirty="0"/>
              <a:t>Multiple blocks assigned to SM</a:t>
            </a:r>
          </a:p>
          <a:p>
            <a:pPr lvl="1"/>
            <a:r>
              <a:rPr lang="en-US" dirty="0"/>
              <a:t>Depends on registers, shared memory/L1 cache availability</a:t>
            </a:r>
          </a:p>
          <a:p>
            <a:r>
              <a:rPr lang="en-US" dirty="0"/>
              <a:t>Threads grouped in warps</a:t>
            </a:r>
          </a:p>
          <a:p>
            <a:pPr lvl="1"/>
            <a:r>
              <a:rPr lang="en-US" dirty="0"/>
              <a:t>At most 32 warps</a:t>
            </a:r>
          </a:p>
          <a:p>
            <a:r>
              <a:rPr lang="en-US" dirty="0"/>
              <a:t>4 warp schedulers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4 warp instructions/cycle</a:t>
            </a:r>
          </a:p>
          <a:p>
            <a:pPr lvl="1"/>
            <a:r>
              <a:rPr lang="en-US" dirty="0"/>
              <a:t>Need not belong to same block</a:t>
            </a:r>
          </a:p>
          <a:p>
            <a:pPr lvl="1"/>
            <a:r>
              <a:rPr lang="en-US" dirty="0"/>
              <a:t>Picked from ready warps</a:t>
            </a:r>
          </a:p>
          <a:p>
            <a:r>
              <a:rPr lang="en-US" dirty="0"/>
              <a:t>Stalled warps: waiting for</a:t>
            </a:r>
          </a:p>
          <a:p>
            <a:pPr lvl="1"/>
            <a:r>
              <a:rPr lang="en-US" dirty="0"/>
              <a:t>Memory</a:t>
            </a:r>
          </a:p>
          <a:p>
            <a:pPr lvl="1"/>
            <a:r>
              <a:rPr lang="en-US" dirty="0"/>
              <a:t>Synchronization</a:t>
            </a:r>
          </a:p>
          <a:p>
            <a:pPr lvl="1"/>
            <a:r>
              <a:rPr lang="en-US" dirty="0"/>
              <a:t>Long-latency instructions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8B01CB-089B-D630-7714-60EA23CC8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23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CF56C6-C514-0767-9AE7-AD28DA95BEDD}"/>
              </a:ext>
            </a:extLst>
          </p:cNvPr>
          <p:cNvSpPr txBox="1"/>
          <p:nvPr/>
        </p:nvSpPr>
        <p:spPr>
          <a:xfrm>
            <a:off x="5128977" y="5185317"/>
            <a:ext cx="6071149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Many threads/blocks </a:t>
            </a:r>
            <a:r>
              <a:rPr lang="en-US" sz="2800" dirty="0">
                <a:sym typeface="Symbol" panose="05050102010706020507" pitchFamily="18" charset="2"/>
              </a:rPr>
              <a:t></a:t>
            </a:r>
            <a:r>
              <a:rPr lang="en-US" sz="2800" dirty="0"/>
              <a:t> latency hiding</a:t>
            </a:r>
            <a:endParaRPr lang="LID4096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2471BA-612A-2249-05CC-EEA67CEED1CB}"/>
              </a:ext>
            </a:extLst>
          </p:cNvPr>
          <p:cNvSpPr txBox="1"/>
          <p:nvPr/>
        </p:nvSpPr>
        <p:spPr>
          <a:xfrm>
            <a:off x="7842770" y="1870075"/>
            <a:ext cx="372198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Numbers for NVIDIA H100,</a:t>
            </a:r>
            <a:br>
              <a:rPr lang="en-US" sz="2400" dirty="0"/>
            </a:br>
            <a:r>
              <a:rPr lang="en-US" sz="2400" dirty="0"/>
              <a:t>query the device!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559347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BBCB4-A529-4B3D-D4EE-49F32CB59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Synchronization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85230-8347-06D5-3A57-7E8915ADD2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Memory copy can be asynchronous</a:t>
            </a:r>
          </a:p>
          <a:p>
            <a:r>
              <a:rPr lang="en-US" dirty="0"/>
              <a:t>Kernel execution can be asynchronous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Synchronization levels</a:t>
            </a:r>
          </a:p>
          <a:p>
            <a:pPr lvl="1"/>
            <a:r>
              <a:rPr lang="en-US" dirty="0"/>
              <a:t>Subgroup: implicit lockstep execution </a:t>
            </a:r>
            <a:r>
              <a:rPr lang="en-US" dirty="0">
                <a:sym typeface="Symbol" panose="05050102010706020507" pitchFamily="18" charset="2"/>
              </a:rPr>
              <a:t></a:t>
            </a:r>
            <a:r>
              <a:rPr lang="en-US" dirty="0"/>
              <a:t> synchronization</a:t>
            </a:r>
          </a:p>
          <a:p>
            <a:pPr lvl="1"/>
            <a:r>
              <a:rPr lang="en-US" dirty="0"/>
              <a:t>Block: explicit sync statement</a:t>
            </a:r>
          </a:p>
          <a:p>
            <a:pPr lvl="1"/>
            <a:r>
              <a:rPr lang="en-US" dirty="0"/>
              <a:t>Cluster (NVIDIA H100+): cluster boundaries</a:t>
            </a:r>
          </a:p>
          <a:p>
            <a:pPr lvl="1"/>
            <a:r>
              <a:rPr lang="en-US" dirty="0"/>
              <a:t>Grid: cooperative group kernel (all blocks must fit on GPU)</a:t>
            </a:r>
          </a:p>
          <a:p>
            <a:pPr lvl="1"/>
            <a:r>
              <a:rPr lang="en-US" dirty="0"/>
              <a:t>GPU: kernel boundaries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87FFB-3A03-E069-E4AA-9C4059DAC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24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46878D-522A-B3B0-27F7-A815A1F88B7F}"/>
              </a:ext>
            </a:extLst>
          </p:cNvPr>
          <p:cNvGrpSpPr/>
          <p:nvPr/>
        </p:nvGrpSpPr>
        <p:grpSpPr>
          <a:xfrm>
            <a:off x="7527073" y="1646238"/>
            <a:ext cx="3214594" cy="1384995"/>
            <a:chOff x="7527073" y="1646238"/>
            <a:chExt cx="3214594" cy="1384995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F43F0313-7396-D067-6680-E646931792A5}"/>
                </a:ext>
              </a:extLst>
            </p:cNvPr>
            <p:cNvSpPr/>
            <p:nvPr/>
          </p:nvSpPr>
          <p:spPr>
            <a:xfrm>
              <a:off x="7527073" y="1825625"/>
              <a:ext cx="256478" cy="928726"/>
            </a:xfrm>
            <a:prstGeom prst="rightBrac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6D176BF-1871-94F8-FB46-CAD4259435FF}"/>
                </a:ext>
              </a:extLst>
            </p:cNvPr>
            <p:cNvSpPr txBox="1"/>
            <p:nvPr/>
          </p:nvSpPr>
          <p:spPr>
            <a:xfrm>
              <a:off x="8040030" y="1646238"/>
              <a:ext cx="2701637" cy="13849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Overlapping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800" dirty="0"/>
                <a:t>Data transfers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800" dirty="0"/>
                <a:t>Computations</a:t>
              </a:r>
              <a:endParaRPr lang="LID4096" sz="2800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AEA321-42F4-7F62-ABCD-201555F810F6}"/>
              </a:ext>
            </a:extLst>
          </p:cNvPr>
          <p:cNvGrpSpPr/>
          <p:nvPr/>
        </p:nvGrpSpPr>
        <p:grpSpPr>
          <a:xfrm>
            <a:off x="1708346" y="2926796"/>
            <a:ext cx="8775307" cy="878368"/>
            <a:chOff x="1773044" y="3106199"/>
            <a:chExt cx="8775307" cy="87836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CD7E8B2-D7B1-8BD1-D1C5-ED04AF65A815}"/>
                </a:ext>
              </a:extLst>
            </p:cNvPr>
            <p:cNvSpPr txBox="1"/>
            <p:nvPr/>
          </p:nvSpPr>
          <p:spPr>
            <a:xfrm>
              <a:off x="1773044" y="3461347"/>
              <a:ext cx="8347157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 Explicit synchronization to avoid race conditions!!!</a:t>
              </a:r>
              <a:endParaRPr lang="LID4096" sz="2800" dirty="0"/>
            </a:p>
          </p:txBody>
        </p:sp>
        <p:pic>
          <p:nvPicPr>
            <p:cNvPr id="9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506B6F1-7855-4508-7BF1-730067A1AF5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2200" y="3106199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624807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B7936-C090-F858-BD1F-1EB30FE88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Inquiry functions &amp; configuration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21B5C-32DD-B7A8-1D41-5FA4AFB8B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capability</a:t>
            </a:r>
          </a:p>
          <a:p>
            <a:r>
              <a:rPr lang="en-US" dirty="0"/>
              <a:t>Hardware limits</a:t>
            </a:r>
          </a:p>
          <a:p>
            <a:pPr lvl="1"/>
            <a:r>
              <a:rPr lang="en-US" dirty="0"/>
              <a:t>Number of devices</a:t>
            </a:r>
          </a:p>
          <a:p>
            <a:pPr lvl="1"/>
            <a:r>
              <a:rPr lang="en-US" dirty="0"/>
              <a:t>Maximum number of threads/block &amp; dimension</a:t>
            </a:r>
          </a:p>
          <a:p>
            <a:pPr lvl="1"/>
            <a:r>
              <a:rPr lang="en-US" dirty="0"/>
              <a:t>Memory/cache sizes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0D35AD-53DE-1064-C959-BCDACAD29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3685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3FA56-E009-6CB8-6AF8-A1994D6EE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considerations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C827A8-40C3-53E0-F891-513A349647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Avoid warp divergence (beware of branching)!</a:t>
            </a:r>
          </a:p>
          <a:p>
            <a:r>
              <a:rPr lang="en-US" dirty="0"/>
              <a:t>Ensure threads have enough work</a:t>
            </a:r>
          </a:p>
          <a:p>
            <a:r>
              <a:rPr lang="en-US" dirty="0"/>
              <a:t>Increase arithmetic intensity</a:t>
            </a:r>
          </a:p>
          <a:p>
            <a:r>
              <a:rPr lang="en-US" dirty="0"/>
              <a:t>Number of threads/block </a:t>
            </a:r>
            <a:r>
              <a:rPr lang="en-US" dirty="0">
                <a:sym typeface="Symbol" panose="05050102010706020507" pitchFamily="18" charset="2"/>
              </a:rPr>
              <a:t></a:t>
            </a:r>
            <a:r>
              <a:rPr lang="en-US" dirty="0"/>
              <a:t> registers/shared memory</a:t>
            </a:r>
          </a:p>
          <a:p>
            <a:pPr lvl="1"/>
            <a:r>
              <a:rPr lang="en-US" dirty="0"/>
              <a:t>Ensure sufficient occupancy</a:t>
            </a:r>
          </a:p>
          <a:p>
            <a:r>
              <a:rPr lang="en-US" dirty="0"/>
              <a:t>Exploit data locality (shared memory/L2 cache)</a:t>
            </a:r>
          </a:p>
          <a:p>
            <a:r>
              <a:rPr lang="en-US" dirty="0"/>
              <a:t>Minimize host-device memory transfers and synchronization</a:t>
            </a:r>
          </a:p>
          <a:p>
            <a:r>
              <a:rPr lang="en-US" dirty="0"/>
              <a:t>Memory access matters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data access coalescing</a:t>
            </a:r>
          </a:p>
          <a:p>
            <a:pPr lvl="1"/>
            <a:r>
              <a:rPr lang="en-US" dirty="0"/>
              <a:t>Accommodate 128-byte memory transactions</a:t>
            </a:r>
          </a:p>
          <a:p>
            <a:pPr lvl="1"/>
            <a:r>
              <a:rPr lang="en-US" dirty="0"/>
              <a:t>Warp should access consecutive addresses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 </a:t>
            </a:r>
            <a:r>
              <a:rPr lang="en-US" b="1" dirty="0">
                <a:solidFill>
                  <a:srgbClr val="C00000"/>
                </a:solidFill>
              </a:rPr>
              <a:t>grid-</a:t>
            </a:r>
            <a:r>
              <a:rPr lang="en-US" b="1" dirty="0" err="1">
                <a:solidFill>
                  <a:srgbClr val="C00000"/>
                </a:solidFill>
              </a:rPr>
              <a:t>strided</a:t>
            </a:r>
            <a:r>
              <a:rPr lang="en-US" b="1" dirty="0">
                <a:solidFill>
                  <a:srgbClr val="C00000"/>
                </a:solidFill>
              </a:rPr>
              <a:t> loops</a:t>
            </a:r>
            <a:r>
              <a:rPr lang="en-US" dirty="0"/>
              <a:t> to distribute work</a:t>
            </a:r>
          </a:p>
          <a:p>
            <a:pPr lvl="1"/>
            <a:r>
              <a:rPr lang="en-US" dirty="0"/>
              <a:t>Data should be aligned</a:t>
            </a:r>
          </a:p>
          <a:p>
            <a:pPr lvl="1"/>
            <a:r>
              <a:rPr lang="en-US" dirty="0"/>
              <a:t>Data layout </a:t>
            </a:r>
            <a:r>
              <a:rPr lang="en-US" dirty="0">
                <a:sym typeface="Symbol" panose="05050102010706020507" pitchFamily="18" charset="2"/>
              </a:rPr>
              <a:t></a:t>
            </a:r>
            <a:r>
              <a:rPr lang="en-US" dirty="0"/>
              <a:t> thread access pattern (e.g., </a:t>
            </a:r>
            <a:r>
              <a:rPr lang="en-US" dirty="0" err="1"/>
              <a:t>SoA</a:t>
            </a:r>
            <a:r>
              <a:rPr lang="en-US" dirty="0"/>
              <a:t> vs. </a:t>
            </a:r>
            <a:r>
              <a:rPr lang="en-US" dirty="0" err="1"/>
              <a:t>AoS</a:t>
            </a:r>
            <a:r>
              <a:rPr lang="en-US" dirty="0"/>
              <a:t>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CEDA03-7DD6-BA46-FB39-F3E23432F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26</a:t>
            </a:fld>
            <a:endParaRPr lang="LID4096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4BF42C1-663C-C1F1-5D36-61AA6BA95191}"/>
              </a:ext>
            </a:extLst>
          </p:cNvPr>
          <p:cNvGrpSpPr/>
          <p:nvPr/>
        </p:nvGrpSpPr>
        <p:grpSpPr>
          <a:xfrm>
            <a:off x="6770914" y="5059688"/>
            <a:ext cx="4379321" cy="1384995"/>
            <a:chOff x="7532914" y="4189164"/>
            <a:chExt cx="4379321" cy="138499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A09B20F-7C5A-42B1-4415-C2E9C5C20FAC}"/>
                </a:ext>
              </a:extLst>
            </p:cNvPr>
            <p:cNvSpPr txBox="1"/>
            <p:nvPr/>
          </p:nvSpPr>
          <p:spPr>
            <a:xfrm>
              <a:off x="8686800" y="4189164"/>
              <a:ext cx="3225435" cy="13849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Note: opposite of</a:t>
              </a:r>
              <a:br>
                <a:rPr lang="en-US" sz="2800" dirty="0"/>
              </a:br>
              <a:r>
                <a:rPr lang="en-US" sz="2800" dirty="0"/>
                <a:t>CPU multithreading</a:t>
              </a:r>
              <a:br>
                <a:rPr lang="en-US" sz="2800" dirty="0"/>
              </a:br>
              <a:r>
                <a:rPr lang="en-US" sz="2800" dirty="0"/>
                <a:t>wisdom!</a:t>
              </a:r>
              <a:endParaRPr lang="LID4096" sz="2800" dirty="0"/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4AA095A8-D128-0A01-CEFC-39BEA7C168EB}"/>
                </a:ext>
              </a:extLst>
            </p:cNvPr>
            <p:cNvCxnSpPr>
              <a:cxnSpLocks/>
              <a:stCxn id="5" idx="1"/>
            </p:cNvCxnSpPr>
            <p:nvPr/>
          </p:nvCxnSpPr>
          <p:spPr>
            <a:xfrm flipH="1" flipV="1">
              <a:off x="7532914" y="4430486"/>
              <a:ext cx="1153886" cy="45117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3280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992708-8D79-176E-38CC-589BED2943D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6C7144-E333-12CD-C8AE-77952E967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Evolution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953A11-375D-6A87-5C1C-E6EA6EA882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18DF06-2AF4-9A81-B02C-A85CD77FF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27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521118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F3F25-99D4-B357-3E78-E061D253F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&amp; compute capability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F7131578-85ED-43F5-828C-A56DB1BC07F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1748609"/>
              </p:ext>
            </p:extLst>
          </p:nvPr>
        </p:nvGraphicFramePr>
        <p:xfrm>
          <a:off x="511628" y="2032454"/>
          <a:ext cx="11168743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364292585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87675014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671623090"/>
                    </a:ext>
                  </a:extLst>
                </a:gridCol>
                <a:gridCol w="1199195">
                  <a:extLst>
                    <a:ext uri="{9D8B030D-6E8A-4147-A177-3AD203B41FA5}">
                      <a16:colId xmlns:a16="http://schemas.microsoft.com/office/drawing/2014/main" val="50273809"/>
                    </a:ext>
                  </a:extLst>
                </a:gridCol>
                <a:gridCol w="1764732">
                  <a:extLst>
                    <a:ext uri="{9D8B030D-6E8A-4147-A177-3AD203B41FA5}">
                      <a16:colId xmlns:a16="http://schemas.microsoft.com/office/drawing/2014/main" val="3495195430"/>
                    </a:ext>
                  </a:extLst>
                </a:gridCol>
                <a:gridCol w="1942390">
                  <a:extLst>
                    <a:ext uri="{9D8B030D-6E8A-4147-A177-3AD203B41FA5}">
                      <a16:colId xmlns:a16="http://schemas.microsoft.com/office/drawing/2014/main" val="2302704746"/>
                    </a:ext>
                  </a:extLst>
                </a:gridCol>
                <a:gridCol w="2169397">
                  <a:extLst>
                    <a:ext uri="{9D8B030D-6E8A-4147-A177-3AD203B41FA5}">
                      <a16:colId xmlns:a16="http://schemas.microsoft.com/office/drawing/2014/main" val="30336423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Architecture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Compute capability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NVLink</a:t>
                      </a:r>
                      <a:r>
                        <a:rPr lang="en-US" dirty="0"/>
                        <a:t> version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version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Base frequency (GHz)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Boost frequency (GHz)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59099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1.33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2273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Volta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1.20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1.53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27971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Ampere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0.77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1.41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6525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Hopper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1.67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1.83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13760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HGX 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Blackwell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6.0+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869118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1D5D90-0B86-0133-AF47-BBB6D3B2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376162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5BBC9-1D76-40AA-06E2-72BB96B26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memory architecture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90A6019-3020-9388-C706-743CF8F36CB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6944672"/>
              </p:ext>
            </p:extLst>
          </p:nvPr>
        </p:nvGraphicFramePr>
        <p:xfrm>
          <a:off x="838200" y="1825625"/>
          <a:ext cx="105156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313229632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32042742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50991377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31851521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90591877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6239115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HGX B200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487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256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256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22948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96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164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228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 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8232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9047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+ shared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Separate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192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256-288 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70093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957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 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 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126 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158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 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 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 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 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180 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904878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FA4BE-8463-E572-A8F2-A6051F654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29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B0F3B05-69A5-7DD8-F266-C420EF4D8A93}"/>
              </a:ext>
            </a:extLst>
          </p:cNvPr>
          <p:cNvGrpSpPr/>
          <p:nvPr/>
        </p:nvGrpSpPr>
        <p:grpSpPr>
          <a:xfrm>
            <a:off x="2040674" y="5281960"/>
            <a:ext cx="8224104" cy="1084475"/>
            <a:chOff x="2040674" y="5281960"/>
            <a:chExt cx="8224104" cy="108447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BFEE05F-3ED5-C21C-E39D-CCEDDDB3D4EC}"/>
                </a:ext>
              </a:extLst>
            </p:cNvPr>
            <p:cNvSpPr txBox="1"/>
            <p:nvPr/>
          </p:nvSpPr>
          <p:spPr>
            <a:xfrm>
              <a:off x="2040674" y="5281960"/>
              <a:ext cx="771916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Check cache size assumptions for kernels!</a:t>
              </a:r>
              <a:endParaRPr lang="LID4096" sz="32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E695CA17-F322-576B-2E34-D8C9DF9EF2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72690" y="5574347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664232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D5409-FED9-87E1-4A7C-28A716797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SMs</a:t>
            </a:r>
            <a:endParaRPr lang="LID4096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FDA9C8F-BA67-64BA-401C-1559E2F0269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7172028"/>
              </p:ext>
            </p:extLst>
          </p:nvPr>
        </p:nvGraphicFramePr>
        <p:xfrm>
          <a:off x="200722" y="1836776"/>
          <a:ext cx="11909501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946">
                  <a:extLst>
                    <a:ext uri="{9D8B030D-6E8A-4147-A177-3AD203B41FA5}">
                      <a16:colId xmlns:a16="http://schemas.microsoft.com/office/drawing/2014/main" val="1143062976"/>
                    </a:ext>
                  </a:extLst>
                </a:gridCol>
                <a:gridCol w="657922">
                  <a:extLst>
                    <a:ext uri="{9D8B030D-6E8A-4147-A177-3AD203B41FA5}">
                      <a16:colId xmlns:a16="http://schemas.microsoft.com/office/drawing/2014/main" val="2148649971"/>
                    </a:ext>
                  </a:extLst>
                </a:gridCol>
                <a:gridCol w="1047153">
                  <a:extLst>
                    <a:ext uri="{9D8B030D-6E8A-4147-A177-3AD203B41FA5}">
                      <a16:colId xmlns:a16="http://schemas.microsoft.com/office/drawing/2014/main" val="792951013"/>
                    </a:ext>
                  </a:extLst>
                </a:gridCol>
                <a:gridCol w="3234916">
                  <a:extLst>
                    <a:ext uri="{9D8B030D-6E8A-4147-A177-3AD203B41FA5}">
                      <a16:colId xmlns:a16="http://schemas.microsoft.com/office/drawing/2014/main" val="1480447786"/>
                    </a:ext>
                  </a:extLst>
                </a:gridCol>
                <a:gridCol w="4483055">
                  <a:extLst>
                    <a:ext uri="{9D8B030D-6E8A-4147-A177-3AD203B41FA5}">
                      <a16:colId xmlns:a16="http://schemas.microsoft.com/office/drawing/2014/main" val="1217986030"/>
                    </a:ext>
                  </a:extLst>
                </a:gridCol>
                <a:gridCol w="1605509">
                  <a:extLst>
                    <a:ext uri="{9D8B030D-6E8A-4147-A177-3AD203B41FA5}">
                      <a16:colId xmlns:a16="http://schemas.microsoft.com/office/drawing/2014/main" val="21823273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Lanes (TF32/FP64/INT)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tile sizes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1705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8659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(mixed FP16/FP32)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8936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783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132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FP8</a:t>
                      </a:r>
                      <a:r>
                        <a:rPr lang="en-US" dirty="0"/>
                        <a:t>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16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1074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148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FP4</a:t>
                      </a:r>
                      <a:r>
                        <a:rPr lang="en-US" dirty="0"/>
                        <a:t>, </a:t>
                      </a:r>
                      <a:r>
                        <a:rPr lang="en-US" b="1" dirty="0"/>
                        <a:t>FP6</a:t>
                      </a:r>
                      <a:r>
                        <a:rPr lang="en-US" dirty="0"/>
                        <a:t>, FP8,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77384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2DDE4-E08E-5211-BF8E-4CD6C1449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30</a:t>
            </a:fld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BA9BE9A-561D-D0A5-F935-B56B71236138}"/>
              </a:ext>
            </a:extLst>
          </p:cNvPr>
          <p:cNvGrpSpPr/>
          <p:nvPr/>
        </p:nvGrpSpPr>
        <p:grpSpPr>
          <a:xfrm>
            <a:off x="7939668" y="4061816"/>
            <a:ext cx="3679533" cy="1946470"/>
            <a:chOff x="7939668" y="4061816"/>
            <a:chExt cx="3679533" cy="194647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7270868-E82D-EAD1-4CFA-38AAAA8D6D4F}"/>
                </a:ext>
              </a:extLst>
            </p:cNvPr>
            <p:cNvSpPr txBox="1"/>
            <p:nvPr/>
          </p:nvSpPr>
          <p:spPr>
            <a:xfrm>
              <a:off x="7939668" y="5084956"/>
              <a:ext cx="3679533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E.g., for H100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FP32 peak </a:t>
              </a:r>
              <a:r>
                <a:rPr lang="en-US" dirty="0">
                  <a:sym typeface="Symbol" panose="05050102010706020507" pitchFamily="18" charset="2"/>
                </a:rPr>
                <a:t> 60 TFLOP/s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FP8 tensor peak   2000 TFLOP/s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DB7DE55-89F7-BF7E-1D19-34ADBF54F922}"/>
                </a:ext>
              </a:extLst>
            </p:cNvPr>
            <p:cNvCxnSpPr>
              <a:cxnSpLocks/>
              <a:endCxn id="7" idx="0"/>
            </p:cNvCxnSpPr>
            <p:nvPr/>
          </p:nvCxnSpPr>
          <p:spPr>
            <a:xfrm>
              <a:off x="8709102" y="4061816"/>
              <a:ext cx="1070333" cy="10231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375370D-7D2E-2DA2-F98F-11B7E8EA0694}"/>
              </a:ext>
            </a:extLst>
          </p:cNvPr>
          <p:cNvGrpSpPr/>
          <p:nvPr/>
        </p:nvGrpSpPr>
        <p:grpSpPr>
          <a:xfrm>
            <a:off x="2416467" y="4061816"/>
            <a:ext cx="4247125" cy="1914402"/>
            <a:chOff x="7939668" y="4093884"/>
            <a:chExt cx="4247125" cy="191440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6A7E2-0170-1D8C-8DC6-6AA282B3FA40}"/>
                </a:ext>
              </a:extLst>
            </p:cNvPr>
            <p:cNvSpPr txBox="1"/>
            <p:nvPr/>
          </p:nvSpPr>
          <p:spPr>
            <a:xfrm>
              <a:off x="7939668" y="5084956"/>
              <a:ext cx="4247125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32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1 warp instruction/cycle</a:t>
              </a:r>
              <a:endParaRPr lang="en-US" dirty="0">
                <a:sym typeface="Symbol" panose="05050102010706020507" pitchFamily="18" charset="2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64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2 warp instructions/cycle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128 lanes </a:t>
              </a:r>
              <a:r>
                <a:rPr lang="en-US" dirty="0"/>
                <a:t> 4 warp instructions/cycle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588CAC0-F643-0DE2-07C9-B2383978DF65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>
              <a:off x="9671455" y="4093884"/>
              <a:ext cx="391776" cy="9910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38533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5C62E-1C3F-F3B0-2C5D-414B12D19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NVLink</a:t>
            </a:r>
            <a:r>
              <a:rPr lang="en-US" dirty="0"/>
              <a:t> &amp; PCIe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A228F26-1D8B-CA33-9439-C3D8DB2886D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08829723"/>
              </p:ext>
            </p:extLst>
          </p:nvPr>
        </p:nvGraphicFramePr>
        <p:xfrm>
          <a:off x="1491475" y="1937137"/>
          <a:ext cx="920905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393">
                  <a:extLst>
                    <a:ext uri="{9D8B030D-6E8A-4147-A177-3AD203B41FA5}">
                      <a16:colId xmlns:a16="http://schemas.microsoft.com/office/drawing/2014/main" val="721391912"/>
                    </a:ext>
                  </a:extLst>
                </a:gridCol>
                <a:gridCol w="1584548">
                  <a:extLst>
                    <a:ext uri="{9D8B030D-6E8A-4147-A177-3AD203B41FA5}">
                      <a16:colId xmlns:a16="http://schemas.microsoft.com/office/drawing/2014/main" val="1987130790"/>
                    </a:ext>
                  </a:extLst>
                </a:gridCol>
                <a:gridCol w="3229116">
                  <a:extLst>
                    <a:ext uri="{9D8B030D-6E8A-4147-A177-3AD203B41FA5}">
                      <a16:colId xmlns:a16="http://schemas.microsoft.com/office/drawing/2014/main" val="3476773505"/>
                    </a:ext>
                  </a:extLst>
                </a:gridCol>
                <a:gridCol w="3256993">
                  <a:extLst>
                    <a:ext uri="{9D8B030D-6E8A-4147-A177-3AD203B41FA5}">
                      <a16:colId xmlns:a16="http://schemas.microsoft.com/office/drawing/2014/main" val="17909826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Links/GPU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GPU-GPU bandwidth (GB/s)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bandwidth (GB/s)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806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to 80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2252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14303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2973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5145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62895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8DFE7B-6E92-A45C-D71B-D151B7330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87503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5D352-F1AE-BB23-324F-4AB9EFD45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Impact on software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6E9A51-9F74-4BCC-5F7F-F702269715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memory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increase tile size</a:t>
            </a:r>
          </a:p>
          <a:p>
            <a:r>
              <a:rPr lang="en-US" dirty="0"/>
              <a:t>More L2 cache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ensure L2 locality</a:t>
            </a:r>
          </a:p>
          <a:p>
            <a:r>
              <a:rPr lang="en-US" dirty="0"/>
              <a:t>Tensor cores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exploit mixed precision</a:t>
            </a:r>
          </a:p>
          <a:p>
            <a:r>
              <a:rPr lang="en-US" dirty="0"/>
              <a:t>More instruction level parallelism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occupancy can decrease</a:t>
            </a:r>
          </a:p>
          <a:p>
            <a:r>
              <a:rPr lang="en-US" dirty="0"/>
              <a:t>Overlap memory transfer and computation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AB467-80B9-EAFD-87B0-6600B9072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EF0402-951C-D71C-B422-165CE2CF2B87}"/>
              </a:ext>
            </a:extLst>
          </p:cNvPr>
          <p:cNvSpPr txBox="1"/>
          <p:nvPr/>
        </p:nvSpPr>
        <p:spPr>
          <a:xfrm>
            <a:off x="4348976" y="4928839"/>
            <a:ext cx="206979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800" dirty="0"/>
              <a:t>Profile!</a:t>
            </a:r>
            <a:endParaRPr lang="LID4096" sz="4800" dirty="0"/>
          </a:p>
        </p:txBody>
      </p:sp>
    </p:spTree>
    <p:extLst>
      <p:ext uri="{BB962C8B-B14F-4D97-AF65-F5344CB8AC3E}">
        <p14:creationId xmlns:p14="http://schemas.microsoft.com/office/powerpoint/2010/main" val="3847549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E72AA-9494-55B0-3590-EA81A3C78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conventions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E20FC5-F6A4-41FF-41B6-46821BD284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GB = gigabytes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4F75D5-1F21-CD5D-19E2-591551BE4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78885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1866</TotalTime>
  <Words>1606</Words>
  <Application>Microsoft Office PowerPoint</Application>
  <PresentationFormat>Widescreen</PresentationFormat>
  <Paragraphs>488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0" baseType="lpstr">
      <vt:lpstr>Aptos</vt:lpstr>
      <vt:lpstr>Aptos Display</vt:lpstr>
      <vt:lpstr>Arial</vt:lpstr>
      <vt:lpstr>Calibri</vt:lpstr>
      <vt:lpstr>Cambria Math</vt:lpstr>
      <vt:lpstr>Symbol</vt:lpstr>
      <vt:lpstr>Office Theme</vt:lpstr>
      <vt:lpstr>GPU programming</vt:lpstr>
      <vt:lpstr>PowerPoint Presentation</vt:lpstr>
      <vt:lpstr>PowerPoint Presentation</vt:lpstr>
      <vt:lpstr>Typographical conventions</vt:lpstr>
      <vt:lpstr>What do GPUs look like?</vt:lpstr>
      <vt:lpstr>Host-device model</vt:lpstr>
      <vt:lpstr>Offload model</vt:lpstr>
      <vt:lpstr>Host-device model implications</vt:lpstr>
      <vt:lpstr>GPU hardware</vt:lpstr>
      <vt:lpstr>GPU Streaming Multiprocessor (SM)</vt:lpstr>
      <vt:lpstr>GPU hardware execution model</vt:lpstr>
      <vt:lpstr>Branching on GPUs</vt:lpstr>
      <vt:lpstr>Tensor cores</vt:lpstr>
      <vt:lpstr>Multiple SMs</vt:lpstr>
      <vt:lpstr>GPU memory hierarchy</vt:lpstr>
      <vt:lpstr>Multiple GPUs/node, multiple nodes</vt:lpstr>
      <vt:lpstr>Bandwidth hierarchy</vt:lpstr>
      <vt:lpstr>Programming model</vt:lpstr>
      <vt:lpstr>Programming GPUs</vt:lpstr>
      <vt:lpstr>Memory management</vt:lpstr>
      <vt:lpstr>Kernels</vt:lpstr>
      <vt:lpstr>Threads, blocks &amp; grid</vt:lpstr>
      <vt:lpstr>Streaming Multiprocessors &amp; blocks</vt:lpstr>
      <vt:lpstr>Synchronization</vt:lpstr>
      <vt:lpstr>Inquiry functions &amp; configuration</vt:lpstr>
      <vt:lpstr>Performance considerations</vt:lpstr>
      <vt:lpstr>Evolution</vt:lpstr>
      <vt:lpstr>Architecture &amp; compute capability</vt:lpstr>
      <vt:lpstr>NVIDIA memory architecture</vt:lpstr>
      <vt:lpstr>NVIDIA SMs</vt:lpstr>
      <vt:lpstr>NVLink &amp; PCIe</vt:lpstr>
      <vt:lpstr>Impact on software</vt:lpstr>
      <vt:lpstr>Unit conventions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Geert Jan Bex</dc:creator>
  <cp:lastModifiedBy>Geert Jan Bex</cp:lastModifiedBy>
  <cp:revision>40</cp:revision>
  <dcterms:created xsi:type="dcterms:W3CDTF">2025-01-17T10:10:41Z</dcterms:created>
  <dcterms:modified xsi:type="dcterms:W3CDTF">2026-08-06T08:48:26Z</dcterms:modified>
</cp:coreProperties>
</file>