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7" r:id="rId2"/>
    <p:sldId id="355" r:id="rId3"/>
    <p:sldId id="357" r:id="rId4"/>
    <p:sldId id="348" r:id="rId5"/>
    <p:sldId id="359" r:id="rId6"/>
    <p:sldId id="363" r:id="rId7"/>
    <p:sldId id="380" r:id="rId8"/>
    <p:sldId id="364" r:id="rId9"/>
    <p:sldId id="374" r:id="rId10"/>
    <p:sldId id="360" r:id="rId11"/>
    <p:sldId id="361" r:id="rId12"/>
    <p:sldId id="362" r:id="rId13"/>
    <p:sldId id="372" r:id="rId14"/>
    <p:sldId id="368" r:id="rId15"/>
    <p:sldId id="366" r:id="rId16"/>
    <p:sldId id="376" r:id="rId17"/>
    <p:sldId id="375" r:id="rId18"/>
    <p:sldId id="379" r:id="rId19"/>
    <p:sldId id="381" r:id="rId20"/>
    <p:sldId id="382" r:id="rId21"/>
    <p:sldId id="383" r:id="rId22"/>
    <p:sldId id="384" r:id="rId23"/>
    <p:sldId id="385" r:id="rId24"/>
    <p:sldId id="386" r:id="rId25"/>
    <p:sldId id="387" r:id="rId26"/>
    <p:sldId id="388" r:id="rId27"/>
    <p:sldId id="373" r:id="rId28"/>
    <p:sldId id="378" r:id="rId29"/>
    <p:sldId id="367" r:id="rId30"/>
    <p:sldId id="370" r:id="rId31"/>
    <p:sldId id="377" r:id="rId32"/>
    <p:sldId id="371" r:id="rId33"/>
    <p:sldId id="389" r:id="rId3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8" d="100"/>
          <a:sy n="78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08/06/2026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08/06/2026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08/06/2026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08/06/2026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08/06/2026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08/06/2026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gjbex/GPU-programming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GPU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14096" y="5445224"/>
            <a:ext cx="10003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https://github.com/gjbex/GPU-programming</a:t>
            </a:r>
            <a:r>
              <a:rPr lang="en-US" sz="4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748FA-3DAD-887F-51C8-0A0B7D38D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6709" y="2848092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303" y="3289451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7197" y="4365888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0247" y="1646238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60246" y="2305252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35303" y="3951218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6096000" y="3263978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threads grouped in subgroups</a:t>
            </a:r>
          </a:p>
          <a:p>
            <a:pPr lvl="1"/>
            <a:r>
              <a:rPr lang="en-US" dirty="0"/>
              <a:t>NVIDIA: warp = 32 threads</a:t>
            </a:r>
          </a:p>
          <a:p>
            <a:pPr lvl="1"/>
            <a:r>
              <a:rPr lang="en-US" dirty="0"/>
              <a:t>AMD: wavefront</a:t>
            </a:r>
          </a:p>
          <a:p>
            <a:pPr lvl="2"/>
            <a:r>
              <a:rPr lang="en-US" dirty="0"/>
              <a:t>Instinct/CDNA = 64 threads</a:t>
            </a:r>
          </a:p>
          <a:p>
            <a:pPr lvl="2"/>
            <a:r>
              <a:rPr lang="en-US" dirty="0"/>
              <a:t>Radeon/RDNA = 32 threads</a:t>
            </a:r>
          </a:p>
          <a:p>
            <a:r>
              <a:rPr lang="en-US" dirty="0"/>
              <a:t>Threads in subgroup execute same instruction on different data</a:t>
            </a:r>
          </a:p>
          <a:p>
            <a:endParaRPr lang="en-US" dirty="0"/>
          </a:p>
          <a:p>
            <a:r>
              <a:rPr lang="en-US" dirty="0"/>
              <a:t>Warp-group instructions (H100+)</a:t>
            </a:r>
          </a:p>
          <a:p>
            <a:pPr lvl="1"/>
            <a:r>
              <a:rPr lang="en-US" dirty="0"/>
              <a:t>4 warps participate in tensor instruction</a:t>
            </a:r>
          </a:p>
          <a:p>
            <a:pPr lvl="1"/>
            <a:r>
              <a:rPr lang="en-US" dirty="0"/>
              <a:t>Accommodate larger tensor cores &amp; matrix tiles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in subgroup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2420043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B462C1C-0D96-5D62-86AE-3355C2A3B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54725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0CC3B5-1A61-A2FB-6B8A-A197C45F6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53943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B3B722-88B6-1476-EDB0-07C4DBB19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62872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7E69FCA2-3B1C-973C-483F-B260B05A7C3E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LID4096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9C7CE217-4467-4B8D-A735-B008FA7C4816}" type="slidenum">
              <a:rPr lang="LID4096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cores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Compute capability</a:t>
                </a:r>
              </a:p>
              <a:p>
                <a:r>
                  <a:rPr lang="en-US" dirty="0"/>
                  <a:t>Performance: tensor core TFLOP/s &gt;&gt; CUDA core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4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6411951" y="2843561"/>
            <a:ext cx="2249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NVIDIA A100</a:t>
            </a:r>
            <a:endParaRPr lang="LID4096" dirty="0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8220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SMs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has many Streaming Multiprocessors</a:t>
            </a:r>
          </a:p>
          <a:p>
            <a:pPr lvl="1"/>
            <a:r>
              <a:rPr lang="en-US" dirty="0"/>
              <a:t>E.g., NVIDIA A100: 108</a:t>
            </a:r>
          </a:p>
          <a:p>
            <a:r>
              <a:rPr lang="en-US" dirty="0"/>
              <a:t>Share</a:t>
            </a:r>
          </a:p>
          <a:p>
            <a:pPr lvl="1"/>
            <a:r>
              <a:rPr lang="en-US" dirty="0"/>
              <a:t>L2 cache</a:t>
            </a:r>
          </a:p>
          <a:p>
            <a:pPr lvl="1"/>
            <a:r>
              <a:rPr lang="en-US" dirty="0"/>
              <a:t>Global (GPU) memory</a:t>
            </a:r>
          </a:p>
          <a:p>
            <a:endParaRPr lang="en-US" dirty="0"/>
          </a:p>
          <a:p>
            <a:r>
              <a:rPr lang="en-US" dirty="0"/>
              <a:t>NVIDIA A100 peak FP32 throughput:</a:t>
            </a:r>
            <a:br>
              <a:rPr lang="en-US" dirty="0"/>
            </a:br>
            <a:r>
              <a:rPr lang="en-US" dirty="0"/>
              <a:t>64 FP32 lanes/SM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2FLOPS/FMA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number SMs</a:t>
            </a:r>
            <a:br>
              <a:rPr lang="en-US" dirty="0"/>
            </a:br>
            <a:r>
              <a:rPr lang="en-US" dirty="0"/>
              <a:t>= 13,824 FLOP/cycle 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 19.5 TFLOP/s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7269941" y="5241644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715657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KB,</a:t>
                      </a:r>
                    </a:p>
                    <a:p>
                      <a:r>
                        <a:rPr lang="en-US" dirty="0"/>
                        <a:t>part of 192 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Registers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link/GPU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links to each GPU</a:t>
            </a:r>
          </a:p>
          <a:p>
            <a:pPr lvl="2"/>
            <a:r>
              <a:rPr lang="en-US" dirty="0"/>
              <a:t>50 GB/s/link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GB/s between GPUs (100 GB/s each way)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/>
              <a:t>NVIDIA </a:t>
            </a:r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363874" cy="4351338"/>
          </a:xfrm>
        </p:spPr>
        <p:txBody>
          <a:bodyPr>
            <a:normAutofit/>
          </a:bodyPr>
          <a:lstStyle/>
          <a:p>
            <a:r>
              <a:rPr lang="en-US" sz="2400" dirty="0"/>
              <a:t>Global GPU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2 TB/s</a:t>
            </a:r>
          </a:p>
          <a:p>
            <a:r>
              <a:rPr lang="en-US" sz="2400" dirty="0" err="1">
                <a:sym typeface="Symbol" panose="05050102010706020507" pitchFamily="18" charset="2"/>
              </a:rPr>
              <a:t>NVLink</a:t>
            </a:r>
            <a:r>
              <a:rPr lang="en-US" sz="2400" dirty="0">
                <a:sym typeface="Symbol" panose="05050102010706020507" pitchFamily="18" charset="2"/>
              </a:rPr>
              <a:t>   100 GB/s each way per GPU pair</a:t>
            </a:r>
          </a:p>
          <a:p>
            <a:r>
              <a:rPr lang="en-US" sz="2400" dirty="0"/>
              <a:t>PCIe </a:t>
            </a:r>
            <a:r>
              <a:rPr lang="en-US" sz="2400" dirty="0">
                <a:sym typeface="Symbol" panose="05050102010706020507" pitchFamily="18" charset="2"/>
              </a:rPr>
              <a:t> 32 GB/s each way</a:t>
            </a:r>
          </a:p>
          <a:p>
            <a:r>
              <a:rPr lang="en-US" sz="2400" dirty="0"/>
              <a:t>Host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sz="2400" dirty="0">
                <a:sym typeface="Symbol" panose="05050102010706020507" pitchFamily="18" charset="2"/>
              </a:rPr>
              <a:t>HDR </a:t>
            </a:r>
            <a:r>
              <a:rPr lang="en-US" sz="2400" dirty="0" err="1">
                <a:sym typeface="Symbol" panose="05050102010706020507" pitchFamily="18" charset="2"/>
              </a:rPr>
              <a:t>Infiniband</a:t>
            </a:r>
            <a:r>
              <a:rPr lang="en-US" sz="2400" dirty="0">
                <a:sym typeface="Symbol" panose="05050102010706020507" pitchFamily="18" charset="2"/>
              </a:rPr>
              <a:t>  25 GB/s each way per port</a:t>
            </a:r>
            <a:endParaRPr lang="LID4096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49207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97585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93425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816557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Programming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18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CUDA on NVIDIA/HIP on AMD</a:t>
            </a:r>
          </a:p>
          <a:p>
            <a:r>
              <a:rPr lang="en-US" dirty="0"/>
              <a:t>C/C++/Fortran + OpenMP 5.x</a:t>
            </a:r>
          </a:p>
          <a:p>
            <a:r>
              <a:rPr lang="en-US" dirty="0"/>
              <a:t>C/C++/Fortran + </a:t>
            </a:r>
            <a:r>
              <a:rPr lang="en-US" dirty="0" err="1"/>
              <a:t>OpenACC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/>
              <a:t>C++ + </a:t>
            </a:r>
            <a:r>
              <a:rPr lang="en-US" dirty="0" err="1"/>
              <a:t>Kokkos</a:t>
            </a:r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Explicit memory management</a:t>
            </a:r>
          </a:p>
          <a:p>
            <a:pPr lvl="1"/>
            <a:r>
              <a:rPr lang="en-US" dirty="0"/>
              <a:t>Memory allocation/deallocation</a:t>
            </a:r>
          </a:p>
          <a:p>
            <a:pPr lvl="1"/>
            <a:r>
              <a:rPr lang="en-US" dirty="0"/>
              <a:t>Host versus device addresses</a:t>
            </a:r>
          </a:p>
          <a:p>
            <a:pPr lvl="1"/>
            <a:r>
              <a:rPr lang="en-US" dirty="0"/>
              <a:t>Explicit  copy</a:t>
            </a:r>
          </a:p>
          <a:p>
            <a:pPr lvl="2"/>
            <a:r>
              <a:rPr lang="en-US" dirty="0"/>
              <a:t>Host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device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host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  </a:t>
            </a:r>
            <a:r>
              <a:rPr lang="en-US" dirty="0"/>
              <a:t>device</a:t>
            </a:r>
          </a:p>
          <a:p>
            <a:pPr lvl="1"/>
            <a:r>
              <a:rPr lang="en-US" dirty="0"/>
              <a:t>Explicit synchronization</a:t>
            </a:r>
          </a:p>
          <a:p>
            <a:pPr lvl="1"/>
            <a:endParaRPr lang="en-US" dirty="0"/>
          </a:p>
          <a:p>
            <a:r>
              <a:rPr lang="en-US" dirty="0"/>
              <a:t>Unified memory management</a:t>
            </a:r>
          </a:p>
          <a:p>
            <a:pPr lvl="1"/>
            <a:r>
              <a:rPr lang="en-US" dirty="0"/>
              <a:t>Memory allocation/deallocation </a:t>
            </a:r>
          </a:p>
          <a:p>
            <a:pPr lvl="1"/>
            <a:r>
              <a:rPr lang="en-US" dirty="0"/>
              <a:t>Single address space</a:t>
            </a:r>
          </a:p>
          <a:p>
            <a:pPr lvl="1"/>
            <a:r>
              <a:rPr lang="en-US" dirty="0"/>
              <a:t>Implicit data migration (page fault/page copy)</a:t>
            </a:r>
          </a:p>
          <a:p>
            <a:pPr lvl="1"/>
            <a:r>
              <a:rPr lang="en-US" dirty="0"/>
              <a:t>Explicit synchronization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779941" y="1913153"/>
            <a:ext cx="4252047" cy="1304651"/>
            <a:chOff x="6779941" y="1913153"/>
            <a:chExt cx="4252047" cy="13046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96897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More control, potentially</a:t>
              </a:r>
              <a:br>
                <a:rPr lang="en-US" sz="2800" dirty="0"/>
              </a:br>
              <a:r>
                <a:rPr lang="en-US" sz="2800" dirty="0"/>
                <a:t>better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65837" y="1913153"/>
              <a:ext cx="566151" cy="566151"/>
            </a:xfrm>
            <a:prstGeom prst="rect">
              <a:avLst/>
            </a:prstGeom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8F5C80-A544-0FC0-1FB4-9858900E196E}"/>
              </a:ext>
            </a:extLst>
          </p:cNvPr>
          <p:cNvSpPr/>
          <p:nvPr/>
        </p:nvSpPr>
        <p:spPr>
          <a:xfrm>
            <a:off x="1550019" y="5754030"/>
            <a:ext cx="2977375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7A8C194-A20D-DCC5-2FD5-6F69B174B5F1}"/>
              </a:ext>
            </a:extLst>
          </p:cNvPr>
          <p:cNvSpPr/>
          <p:nvPr/>
        </p:nvSpPr>
        <p:spPr>
          <a:xfrm>
            <a:off x="1550019" y="4847064"/>
            <a:ext cx="3980986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8" grpId="0" animBg="1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4896B-B657-57EC-27A1-95D7A4CB5E62}"/>
              </a:ext>
            </a:extLst>
          </p:cNvPr>
          <p:cNvSpPr txBox="1"/>
          <p:nvPr/>
        </p:nvSpPr>
        <p:spPr>
          <a:xfrm>
            <a:off x="4834099" y="5525353"/>
            <a:ext cx="372198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H100,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64 warps resident on SM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at most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pPr lvl="1"/>
            <a:r>
              <a:rPr lang="en-US" dirty="0"/>
              <a:t>Number of instructions depends on pipelines used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2471BA-612A-2249-05CC-EEA67CEED1CB}"/>
              </a:ext>
            </a:extLst>
          </p:cNvPr>
          <p:cNvSpPr txBox="1"/>
          <p:nvPr/>
        </p:nvSpPr>
        <p:spPr>
          <a:xfrm>
            <a:off x="7842770" y="1870075"/>
            <a:ext cx="368511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Numbers for NVIDIA A100,</a:t>
            </a:r>
            <a:br>
              <a:rPr lang="en-US" sz="2400" dirty="0"/>
            </a:br>
            <a:r>
              <a:rPr lang="en-US" sz="2400" dirty="0"/>
              <a:t>query the device!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Subgroup: implicit lockstep execution </a:t>
            </a:r>
            <a:r>
              <a:rPr lang="en-US" dirty="0">
                <a:sym typeface="Symbol" panose="05050102010706020507" pitchFamily="18" charset="2"/>
              </a:rPr>
              <a:t></a:t>
            </a:r>
            <a:r>
              <a:rPr lang="en-US" dirty="0"/>
              <a:t> synchronization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(NVIDIA 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FA56-E009-6CB8-6AF8-A1994D6E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827A8-40C3-53E0-F891-513A34964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Avoid warp divergence (beware of branching)!</a:t>
            </a:r>
          </a:p>
          <a:p>
            <a:r>
              <a:rPr lang="en-US" dirty="0"/>
              <a:t>Ensure threads have enough work</a:t>
            </a:r>
          </a:p>
          <a:p>
            <a:r>
              <a:rPr lang="en-US" dirty="0"/>
              <a:t>Increase arithmetic intensity</a:t>
            </a:r>
          </a:p>
          <a:p>
            <a:r>
              <a:rPr lang="en-US" dirty="0"/>
              <a:t>Number of threads/block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registers/shared memory</a:t>
            </a:r>
          </a:p>
          <a:p>
            <a:pPr lvl="1"/>
            <a:r>
              <a:rPr lang="en-US" dirty="0"/>
              <a:t>Ensure sufficient occupancy</a:t>
            </a:r>
          </a:p>
          <a:p>
            <a:r>
              <a:rPr lang="en-US" dirty="0"/>
              <a:t>Exploit data locality (shared memory/L2 cache)</a:t>
            </a:r>
          </a:p>
          <a:p>
            <a:r>
              <a:rPr lang="en-US" dirty="0"/>
              <a:t>Minimize host-device memory transfers and synchronization</a:t>
            </a:r>
          </a:p>
          <a:p>
            <a:r>
              <a:rPr lang="en-US" dirty="0"/>
              <a:t>Memory access matters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data access coalescing</a:t>
            </a:r>
          </a:p>
          <a:p>
            <a:pPr lvl="1"/>
            <a:r>
              <a:rPr lang="en-US" dirty="0"/>
              <a:t>Accommodate 128-byte memory transactions</a:t>
            </a:r>
          </a:p>
          <a:p>
            <a:pPr lvl="1"/>
            <a:r>
              <a:rPr lang="en-US" dirty="0"/>
              <a:t>Warp should access consecutive addresses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 </a:t>
            </a:r>
            <a:r>
              <a:rPr lang="en-US" b="1" dirty="0">
                <a:solidFill>
                  <a:srgbClr val="C00000"/>
                </a:solidFill>
              </a:rPr>
              <a:t>grid-</a:t>
            </a:r>
            <a:r>
              <a:rPr lang="en-US" b="1" dirty="0" err="1">
                <a:solidFill>
                  <a:srgbClr val="C00000"/>
                </a:solidFill>
              </a:rPr>
              <a:t>strided</a:t>
            </a:r>
            <a:r>
              <a:rPr lang="en-US" b="1" dirty="0">
                <a:solidFill>
                  <a:srgbClr val="C00000"/>
                </a:solidFill>
              </a:rPr>
              <a:t> loops</a:t>
            </a:r>
            <a:r>
              <a:rPr lang="en-US" dirty="0"/>
              <a:t> to distribute work</a:t>
            </a:r>
          </a:p>
          <a:p>
            <a:pPr lvl="1"/>
            <a:r>
              <a:rPr lang="en-US" dirty="0"/>
              <a:t>Data should be aligned</a:t>
            </a:r>
          </a:p>
          <a:p>
            <a:pPr lvl="1"/>
            <a:r>
              <a:rPr lang="en-US" dirty="0"/>
              <a:t>Data layout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thread access pattern (e.g., </a:t>
            </a:r>
            <a:r>
              <a:rPr lang="en-US" dirty="0" err="1"/>
              <a:t>SoA</a:t>
            </a:r>
            <a:r>
              <a:rPr lang="en-US" dirty="0"/>
              <a:t> vs. </a:t>
            </a:r>
            <a:r>
              <a:rPr lang="en-US" dirty="0" err="1"/>
              <a:t>AoS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EDA03-7DD6-BA46-FB39-F3E23432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4BF42C1-663C-C1F1-5D36-61AA6BA95191}"/>
              </a:ext>
            </a:extLst>
          </p:cNvPr>
          <p:cNvGrpSpPr/>
          <p:nvPr/>
        </p:nvGrpSpPr>
        <p:grpSpPr>
          <a:xfrm>
            <a:off x="6770914" y="5059688"/>
            <a:ext cx="4379321" cy="1384995"/>
            <a:chOff x="7532914" y="4189164"/>
            <a:chExt cx="4379321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9B20F-7C5A-42B1-4415-C2E9C5C20FAC}"/>
                </a:ext>
              </a:extLst>
            </p:cNvPr>
            <p:cNvSpPr txBox="1"/>
            <p:nvPr/>
          </p:nvSpPr>
          <p:spPr>
            <a:xfrm>
              <a:off x="8686800" y="4189164"/>
              <a:ext cx="3225435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Note: opposite of</a:t>
              </a:r>
              <a:br>
                <a:rPr lang="en-US" sz="2800" dirty="0"/>
              </a:br>
              <a:r>
                <a:rPr lang="en-US" sz="2800" dirty="0"/>
                <a:t>CPU multithreading</a:t>
              </a:r>
              <a:br>
                <a:rPr lang="en-US" sz="2800" dirty="0"/>
              </a:br>
              <a:r>
                <a:rPr lang="en-US" sz="2800" dirty="0"/>
                <a:t>wisdom!</a:t>
              </a:r>
              <a:endParaRPr lang="LID4096" sz="28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AA095A8-D128-0A01-CEFC-39BEA7C168EB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H="1" flipV="1">
              <a:off x="7532914" y="4430486"/>
              <a:ext cx="1153886" cy="4511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280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27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1748609"/>
              </p:ext>
            </p:extLst>
          </p:nvPr>
        </p:nvGraphicFramePr>
        <p:xfrm>
          <a:off x="511628" y="2032454"/>
          <a:ext cx="11168743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199195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764732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94239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169397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10326922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228 </a:t>
                      </a:r>
                      <a:r>
                        <a:rPr lang="en-US" dirty="0"/>
                        <a:t>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126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172028"/>
              </p:ext>
            </p:extLst>
          </p:nvPr>
        </p:nvGraphicFramePr>
        <p:xfrm>
          <a:off x="200722" y="1836776"/>
          <a:ext cx="119095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047153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3234916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448305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160550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</a:t>
                      </a:r>
                      <a:r>
                        <a:rPr lang="en-US" b="1" dirty="0"/>
                        <a:t>FP6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/</a:t>
            </a:r>
            <a:r>
              <a:rPr lang="en-US" dirty="0" err="1"/>
              <a:t>NVSwitch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92309018"/>
              </p:ext>
            </p:extLst>
          </p:nvPr>
        </p:nvGraphicFramePr>
        <p:xfrm>
          <a:off x="1491475" y="1937137"/>
          <a:ext cx="920905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br>
                        <a:rPr lang="en-US" dirty="0"/>
                      </a:br>
                      <a:r>
                        <a:rPr lang="en-US" dirty="0"/>
                        <a:t>each way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br>
                        <a:rPr lang="en-US" dirty="0"/>
                      </a:br>
                      <a:r>
                        <a:rPr lang="en-US" dirty="0"/>
                        <a:t>each way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to 40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</a:p>
          <a:p>
            <a:r>
              <a:rPr lang="en-US" dirty="0"/>
              <a:t>More instruction level parallelism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occupancy can decrease</a:t>
            </a:r>
          </a:p>
          <a:p>
            <a:r>
              <a:rPr lang="en-US" dirty="0"/>
              <a:t>Overlap memory transfer and computation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F0402-951C-D71C-B422-165CE2CF2B87}"/>
              </a:ext>
            </a:extLst>
          </p:cNvPr>
          <p:cNvSpPr txBox="1"/>
          <p:nvPr/>
        </p:nvSpPr>
        <p:spPr>
          <a:xfrm>
            <a:off x="4348976" y="4928839"/>
            <a:ext cx="206979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800" dirty="0"/>
              <a:t>Profile!</a:t>
            </a:r>
            <a:endParaRPr lang="LID4096" sz="4800" dirty="0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72AA-9494-55B0-3590-EA81A3C78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conventions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20FC5-F6A4-41FF-41B6-46821BD284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GB = gigabytes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4F75D5-1F21-CD5D-19E2-591551BE4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888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2145</TotalTime>
  <Words>1638</Words>
  <Application>Microsoft Office PowerPoint</Application>
  <PresentationFormat>Widescreen</PresentationFormat>
  <Paragraphs>489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GPU programming</vt:lpstr>
      <vt:lpstr>PowerPoint Presentation</vt:lpstr>
      <vt:lpstr>PowerPoint Presentation</vt:lpstr>
      <vt:lpstr>Typographical conventions</vt:lpstr>
      <vt:lpstr>What do GPUs look like?</vt:lpstr>
      <vt:lpstr>Host-device model</vt:lpstr>
      <vt:lpstr>Offload model</vt:lpstr>
      <vt:lpstr>Host-device model implications</vt:lpstr>
      <vt:lpstr>GPU hardware</vt:lpstr>
      <vt:lpstr>GPU Streaming Multiprocessor (SM)</vt:lpstr>
      <vt:lpstr>GPU hardware execution model</vt:lpstr>
      <vt:lpstr>Branching on GPUs</vt:lpstr>
      <vt:lpstr>Tensor cores</vt:lpstr>
      <vt:lpstr>Multiple SMs</vt:lpstr>
      <vt:lpstr>GPU memory hierarchy</vt:lpstr>
      <vt:lpstr>Multiple GPUs/node, multiple nodes</vt:lpstr>
      <vt:lpstr>Bandwidth hierarchy</vt:lpstr>
      <vt:lpstr>Programming model</vt:lpstr>
      <vt:lpstr>Programming GPUs</vt:lpstr>
      <vt:lpstr>Memory management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Performance considerations</vt:lpstr>
      <vt:lpstr>Evolution</vt:lpstr>
      <vt:lpstr>Architecture &amp; compute capability</vt:lpstr>
      <vt:lpstr>NVIDIA memory architecture</vt:lpstr>
      <vt:lpstr>NVIDIA SMs</vt:lpstr>
      <vt:lpstr>NVLink/NVSwitch &amp; PCIe</vt:lpstr>
      <vt:lpstr>Impact on software</vt:lpstr>
      <vt:lpstr>Unit conventions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48</cp:revision>
  <dcterms:created xsi:type="dcterms:W3CDTF">2025-01-17T10:10:41Z</dcterms:created>
  <dcterms:modified xsi:type="dcterms:W3CDTF">2026-08-06T13:37:05Z</dcterms:modified>
</cp:coreProperties>
</file>