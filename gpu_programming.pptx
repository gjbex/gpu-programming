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90" r:id="rId11"/>
    <p:sldId id="361" r:id="rId12"/>
    <p:sldId id="360" r:id="rId13"/>
    <p:sldId id="372" r:id="rId14"/>
    <p:sldId id="368" r:id="rId15"/>
    <p:sldId id="395" r:id="rId16"/>
    <p:sldId id="392" r:id="rId17"/>
    <p:sldId id="396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94" r:id="rId29"/>
    <p:sldId id="376" r:id="rId30"/>
    <p:sldId id="375" r:id="rId31"/>
    <p:sldId id="391" r:id="rId32"/>
    <p:sldId id="366" r:id="rId33"/>
    <p:sldId id="378" r:id="rId34"/>
    <p:sldId id="367" r:id="rId35"/>
    <p:sldId id="370" r:id="rId36"/>
    <p:sldId id="377" r:id="rId37"/>
    <p:sldId id="371" r:id="rId38"/>
    <p:sldId id="389" r:id="rId3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1B5D2-96A5-D890-6353-57A600FB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 crosswalk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EFB8C49-1D2F-4F23-EE4C-88BCBC50B3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691393"/>
              </p:ext>
            </p:extLst>
          </p:nvPr>
        </p:nvGraphicFramePr>
        <p:xfrm>
          <a:off x="838200" y="1825625"/>
          <a:ext cx="10515597" cy="424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884">
                  <a:extLst>
                    <a:ext uri="{9D8B030D-6E8A-4147-A177-3AD203B41FA5}">
                      <a16:colId xmlns:a16="http://schemas.microsoft.com/office/drawing/2014/main" val="415567423"/>
                    </a:ext>
                  </a:extLst>
                </a:gridCol>
                <a:gridCol w="3460955">
                  <a:extLst>
                    <a:ext uri="{9D8B030D-6E8A-4147-A177-3AD203B41FA5}">
                      <a16:colId xmlns:a16="http://schemas.microsoft.com/office/drawing/2014/main" val="1975082975"/>
                    </a:ext>
                  </a:extLst>
                </a:gridCol>
                <a:gridCol w="4087758">
                  <a:extLst>
                    <a:ext uri="{9D8B030D-6E8A-4147-A177-3AD203B41FA5}">
                      <a16:colId xmlns:a16="http://schemas.microsoft.com/office/drawing/2014/main" val="2808466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Concept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NVIDIA/CUDA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AMD Instinct/HIP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49862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Compute unit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Streaming Multiprocessor (SM)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Unit (CU)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798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Execution subgroup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Warp, 32 threads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Wavefront, 64 work items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37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Cooperative thread group (work-group)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 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Work-group/thread block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135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Work-group local scratchpad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Local Data Share (LDS)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495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 resources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Register file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Scalar &amp; vector registers (SGPR/VGPR)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808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Matrix accelerator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Matrix core/MFMA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810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Architecture target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GFX target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9626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interconnect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NVSwitch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Infinity Fabric/</a:t>
                      </a:r>
                      <a:r>
                        <a:rPr lang="en-US" dirty="0" err="1"/>
                        <a:t>xGMI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6221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Collective library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NCCL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RCCL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21489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2E9E2-073A-90CE-2AA2-5B734B5D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8011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unit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pPr lvl="1"/>
            <a:r>
              <a:rPr lang="en-US" dirty="0"/>
              <a:t>threads grouped in execution subgroups</a:t>
            </a:r>
          </a:p>
          <a:p>
            <a:pPr lvl="1"/>
            <a:r>
              <a:rPr lang="en-US" dirty="0"/>
              <a:t>Threads in subgroup execute same instruction on different data</a:t>
            </a:r>
          </a:p>
          <a:p>
            <a:r>
              <a:rPr lang="en-US" dirty="0"/>
              <a:t>Branching</a:t>
            </a:r>
          </a:p>
          <a:p>
            <a:pPr lvl="1"/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pPr lvl="1"/>
            <a:r>
              <a:rPr lang="en-US" dirty="0"/>
              <a:t>Divergence leads to</a:t>
            </a:r>
          </a:p>
          <a:p>
            <a:pPr lvl="2"/>
            <a:r>
              <a:rPr lang="en-US" dirty="0"/>
              <a:t>Masking of inactive threads</a:t>
            </a:r>
          </a:p>
          <a:p>
            <a:pPr lvl="2"/>
            <a:r>
              <a:rPr lang="en-US" dirty="0"/>
              <a:t>Execution of both paths</a:t>
            </a:r>
          </a:p>
          <a:p>
            <a:pPr lvl="1"/>
            <a:r>
              <a:rPr lang="en-US" dirty="0"/>
              <a:t>Try to avoid branching</a:t>
            </a:r>
          </a:p>
          <a:p>
            <a:pPr lvl="2"/>
            <a:r>
              <a:rPr lang="en-US" dirty="0"/>
              <a:t>Code structure</a:t>
            </a:r>
          </a:p>
          <a:p>
            <a:pPr lvl="2"/>
            <a:r>
              <a:rPr lang="en-US" dirty="0"/>
              <a:t>Data layout</a:t>
            </a:r>
          </a:p>
          <a:p>
            <a:r>
              <a:rPr lang="en-US" dirty="0"/>
              <a:t>Execution subgroups grouped in work-groups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3477727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unit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24135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Instruction schedulers select ready execution subgroups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complex per-thread CPU-style execution</a:t>
            </a:r>
          </a:p>
          <a:p>
            <a:pPr lvl="1"/>
            <a:r>
              <a:rPr lang="en-US" dirty="0"/>
              <a:t>Latency hiding: many resident execution subgroups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Floating point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Matrix </a:t>
            </a:r>
            <a:r>
              <a:rPr lang="en-US" dirty="0" err="1"/>
              <a:t>acceletion</a:t>
            </a:r>
            <a:endParaRPr lang="en-US" dirty="0"/>
          </a:p>
          <a:p>
            <a:r>
              <a:rPr lang="en-US" dirty="0"/>
              <a:t>Load/store units</a:t>
            </a:r>
          </a:p>
          <a:p>
            <a:r>
              <a:rPr lang="en-US" dirty="0"/>
              <a:t>Register resources (thread-private) </a:t>
            </a:r>
          </a:p>
          <a:p>
            <a:r>
              <a:rPr lang="en-US" dirty="0"/>
              <a:t>Hardware managed local cache</a:t>
            </a:r>
          </a:p>
          <a:p>
            <a:r>
              <a:rPr lang="en-US" dirty="0"/>
              <a:t>Work-group local software managed scratchpad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579B38A-4EC1-E296-AE13-0416398070C6}"/>
              </a:ext>
            </a:extLst>
          </p:cNvPr>
          <p:cNvGrpSpPr/>
          <p:nvPr/>
        </p:nvGrpSpPr>
        <p:grpSpPr>
          <a:xfrm>
            <a:off x="7929716" y="602225"/>
            <a:ext cx="3692013" cy="5653549"/>
            <a:chOff x="7929716" y="602225"/>
            <a:chExt cx="3692013" cy="5653549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3240E08-06AF-819D-CCBA-A422A054F809}"/>
                </a:ext>
              </a:extLst>
            </p:cNvPr>
            <p:cNvGrpSpPr/>
            <p:nvPr/>
          </p:nvGrpSpPr>
          <p:grpSpPr>
            <a:xfrm>
              <a:off x="8308258" y="3240574"/>
              <a:ext cx="344137" cy="3015200"/>
              <a:chOff x="8308258" y="3240574"/>
              <a:chExt cx="344137" cy="3015200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FB285C6-4ED9-4A1A-0787-D015EA8BC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08258" y="3240574"/>
                <a:ext cx="0" cy="301520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F594F383-A5EB-6DF3-D560-59CB8DE6D9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8098" y="3733085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C89F059C-2143-35AB-1061-603F7D7A76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3182" y="4308271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011DF1EE-B566-E2B0-EB9F-1FE5647D92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8099" y="4962119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40871940-66EF-E82B-19C8-D55E97A55ECE}"/>
                </a:ext>
              </a:extLst>
            </p:cNvPr>
            <p:cNvSpPr/>
            <p:nvPr/>
          </p:nvSpPr>
          <p:spPr>
            <a:xfrm>
              <a:off x="8511050" y="3480158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Registers</a:t>
              </a:r>
              <a:endParaRPr lang="LID4096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8BB63D2-3245-730C-D5B0-0D92370B28B8}"/>
                </a:ext>
              </a:extLst>
            </p:cNvPr>
            <p:cNvSpPr/>
            <p:nvPr/>
          </p:nvSpPr>
          <p:spPr>
            <a:xfrm>
              <a:off x="8511050" y="4096876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Scratchpad</a:t>
              </a:r>
              <a:endParaRPr lang="LID4096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E543B6E-BBFD-581A-383A-6A4231EC67A4}"/>
                </a:ext>
              </a:extLst>
            </p:cNvPr>
            <p:cNvSpPr/>
            <p:nvPr/>
          </p:nvSpPr>
          <p:spPr>
            <a:xfrm>
              <a:off x="8511050" y="4708884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Cache</a:t>
              </a:r>
              <a:endParaRPr lang="LID4096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C3039D3-A0ED-B007-30F8-6DF40A01C305}"/>
                </a:ext>
              </a:extLst>
            </p:cNvPr>
            <p:cNvSpPr/>
            <p:nvPr/>
          </p:nvSpPr>
          <p:spPr>
            <a:xfrm>
              <a:off x="8131278" y="1395334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Scheduder</a:t>
              </a:r>
              <a:endParaRPr lang="LID4096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FC7469C-DB9A-0D85-805D-85EC64275622}"/>
                </a:ext>
              </a:extLst>
            </p:cNvPr>
            <p:cNvSpPr/>
            <p:nvPr/>
          </p:nvSpPr>
          <p:spPr>
            <a:xfrm>
              <a:off x="8131278" y="2056502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Scheduder</a:t>
              </a:r>
              <a:endParaRPr lang="LID4096" dirty="0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AAA92DED-575F-779F-91BE-F9824CD062AC}"/>
                </a:ext>
              </a:extLst>
            </p:cNvPr>
            <p:cNvSpPr/>
            <p:nvPr/>
          </p:nvSpPr>
          <p:spPr>
            <a:xfrm>
              <a:off x="9640530" y="1154444"/>
              <a:ext cx="1769806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FP pipeline</a:t>
              </a:r>
              <a:endParaRPr lang="LID4096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4FE4217-E967-85D6-3CF3-47999112FAE8}"/>
                </a:ext>
              </a:extLst>
            </p:cNvPr>
            <p:cNvSpPr/>
            <p:nvPr/>
          </p:nvSpPr>
          <p:spPr>
            <a:xfrm>
              <a:off x="9640530" y="1689688"/>
              <a:ext cx="1769806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pipeline</a:t>
              </a:r>
              <a:endParaRPr lang="LID4096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9C3F5CE-A108-ECB4-5168-3918CE319DB6}"/>
                </a:ext>
              </a:extLst>
            </p:cNvPr>
            <p:cNvSpPr/>
            <p:nvPr/>
          </p:nvSpPr>
          <p:spPr>
            <a:xfrm>
              <a:off x="9640530" y="2235506"/>
              <a:ext cx="1769806" cy="67816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Matrix accelerator</a:t>
              </a:r>
              <a:endParaRPr lang="LID4096" dirty="0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BBDF15D4-6139-9970-B9AC-02653FF8FB29}"/>
                </a:ext>
              </a:extLst>
            </p:cNvPr>
            <p:cNvSpPr/>
            <p:nvPr/>
          </p:nvSpPr>
          <p:spPr>
            <a:xfrm>
              <a:off x="8131278" y="2758793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LD/ST</a:t>
              </a:r>
              <a:endParaRPr lang="LID4096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E559E39-2426-AEC2-6C62-6DC3B347D2A0}"/>
                </a:ext>
              </a:extLst>
            </p:cNvPr>
            <p:cNvSpPr txBox="1"/>
            <p:nvPr/>
          </p:nvSpPr>
          <p:spPr>
            <a:xfrm>
              <a:off x="8998682" y="652601"/>
              <a:ext cx="15540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unit</a:t>
              </a:r>
              <a:endParaRPr lang="LID4096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FCB65FB-9E5C-23EE-3D7E-9513A82AD375}"/>
                </a:ext>
              </a:extLst>
            </p:cNvPr>
            <p:cNvSpPr/>
            <p:nvPr/>
          </p:nvSpPr>
          <p:spPr>
            <a:xfrm>
              <a:off x="7929716" y="602225"/>
              <a:ext cx="3692013" cy="4900049"/>
            </a:xfrm>
            <a:prstGeom prst="round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accelerators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Data 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Architecture target</a:t>
                </a:r>
              </a:p>
              <a:p>
                <a:r>
                  <a:rPr lang="en-US" dirty="0"/>
                  <a:t>Performance: matrix accelerators TFLOP/s &gt;&gt; compute unit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928" t="-2742" b="-237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1962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compute units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7344" cy="4351338"/>
          </a:xfrm>
        </p:spPr>
        <p:txBody>
          <a:bodyPr/>
          <a:lstStyle/>
          <a:p>
            <a:r>
              <a:rPr lang="en-US" dirty="0"/>
              <a:t>GPU has many compute units</a:t>
            </a:r>
          </a:p>
          <a:p>
            <a:pPr lvl="1"/>
            <a:endParaRPr lang="en-US" dirty="0"/>
          </a:p>
          <a:p>
            <a:r>
              <a:rPr lang="en-US" dirty="0"/>
              <a:t>Connected to device memory fabric</a:t>
            </a:r>
          </a:p>
          <a:p>
            <a:pPr lvl="1"/>
            <a:r>
              <a:rPr lang="en-US" dirty="0"/>
              <a:t>Device-level cache(s)</a:t>
            </a:r>
          </a:p>
          <a:p>
            <a:pPr lvl="1"/>
            <a:r>
              <a:rPr lang="en-US" dirty="0" err="1"/>
              <a:t>Devide</a:t>
            </a:r>
            <a:r>
              <a:rPr lang="en-US" dirty="0"/>
              <a:t>-level memory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1538242" y="4857442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D6657D2-93E4-FD40-EBEC-34E71CCA9525}"/>
              </a:ext>
            </a:extLst>
          </p:cNvPr>
          <p:cNvGrpSpPr/>
          <p:nvPr/>
        </p:nvGrpSpPr>
        <p:grpSpPr>
          <a:xfrm>
            <a:off x="6518786" y="1248699"/>
            <a:ext cx="5330745" cy="4670320"/>
            <a:chOff x="6322142" y="1248699"/>
            <a:chExt cx="5330745" cy="467032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A3DF8AD-3B8D-8381-02C6-4106EFF1F431}"/>
                </a:ext>
              </a:extLst>
            </p:cNvPr>
            <p:cNvGrpSpPr/>
            <p:nvPr/>
          </p:nvGrpSpPr>
          <p:grpSpPr>
            <a:xfrm>
              <a:off x="6528619" y="1679327"/>
              <a:ext cx="4825181" cy="3164054"/>
              <a:chOff x="6528619" y="1679327"/>
              <a:chExt cx="4825181" cy="316405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9C39D043-226E-4E58-CBC2-E0EAA2041F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28619" y="1690688"/>
                <a:ext cx="1140060" cy="1641124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0C5D11D-187A-62E3-F0E7-868566DF6D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12442" y="1690688"/>
                <a:ext cx="1140060" cy="1641124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15759DCC-F11D-922A-3CBB-A41ADE3EC3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13740" y="1679327"/>
                <a:ext cx="1140060" cy="1641124"/>
              </a:xfrm>
              <a:prstGeom prst="rect">
                <a:avLst/>
              </a:prstGeom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3BB796B-ACC9-46ED-605A-B77B96109855}"/>
                  </a:ext>
                </a:extLst>
              </p:cNvPr>
              <p:cNvSpPr txBox="1"/>
              <p:nvPr/>
            </p:nvSpPr>
            <p:spPr>
              <a:xfrm>
                <a:off x="9287542" y="2113936"/>
                <a:ext cx="54373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ym typeface="Symbol" panose="05050102010706020507" pitchFamily="18" charset="2"/>
                  </a:rPr>
                  <a:t></a:t>
                </a:r>
                <a:endParaRPr lang="LID4096" sz="2800" dirty="0"/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088664A-0C51-B2C9-4FD2-1247E21EE9B5}"/>
                  </a:ext>
                </a:extLst>
              </p:cNvPr>
              <p:cNvCxnSpPr/>
              <p:nvPr/>
            </p:nvCxnSpPr>
            <p:spPr>
              <a:xfrm>
                <a:off x="6666271" y="3331812"/>
                <a:ext cx="3677264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9741F5E0-9733-47B3-E9F8-B711D3D81EC9}"/>
                  </a:ext>
                </a:extLst>
              </p:cNvPr>
              <p:cNvGrpSpPr/>
              <p:nvPr/>
            </p:nvGrpSpPr>
            <p:grpSpPr>
              <a:xfrm>
                <a:off x="7668679" y="3320451"/>
                <a:ext cx="1769806" cy="761465"/>
                <a:chOff x="7668679" y="3320451"/>
                <a:chExt cx="1769806" cy="761465"/>
              </a:xfrm>
            </p:grpSpPr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023B71A9-7982-A975-EA5C-1E3C66CB6FE7}"/>
                    </a:ext>
                  </a:extLst>
                </p:cNvPr>
                <p:cNvCxnSpPr/>
                <p:nvPr/>
              </p:nvCxnSpPr>
              <p:spPr>
                <a:xfrm>
                  <a:off x="8504903" y="3320451"/>
                  <a:ext cx="0" cy="26832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2C7886DF-1AEC-CA7C-EC61-9418E22B5455}"/>
                    </a:ext>
                  </a:extLst>
                </p:cNvPr>
                <p:cNvSpPr/>
                <p:nvPr/>
              </p:nvSpPr>
              <p:spPr>
                <a:xfrm>
                  <a:off x="7668679" y="3600135"/>
                  <a:ext cx="1769806" cy="48178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Cache</a:t>
                  </a:r>
                  <a:endParaRPr lang="LID4096" dirty="0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D353450C-1660-8E86-CA37-315B293A1AFA}"/>
                  </a:ext>
                </a:extLst>
              </p:cNvPr>
              <p:cNvGrpSpPr/>
              <p:nvPr/>
            </p:nvGrpSpPr>
            <p:grpSpPr>
              <a:xfrm>
                <a:off x="7668679" y="4081916"/>
                <a:ext cx="1769806" cy="761465"/>
                <a:chOff x="7668679" y="3320451"/>
                <a:chExt cx="1769806" cy="761465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5C06AE5B-DFAD-B18B-9B55-1430025A7B58}"/>
                    </a:ext>
                  </a:extLst>
                </p:cNvPr>
                <p:cNvCxnSpPr/>
                <p:nvPr/>
              </p:nvCxnSpPr>
              <p:spPr>
                <a:xfrm>
                  <a:off x="8504903" y="3320451"/>
                  <a:ext cx="0" cy="26832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028BAA6B-3C7B-6173-C73F-C9F57F673252}"/>
                    </a:ext>
                  </a:extLst>
                </p:cNvPr>
                <p:cNvSpPr/>
                <p:nvPr/>
              </p:nvSpPr>
              <p:spPr>
                <a:xfrm>
                  <a:off x="7668679" y="3600135"/>
                  <a:ext cx="1769806" cy="48178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Memory</a:t>
                  </a:r>
                  <a:endParaRPr lang="LID4096" dirty="0"/>
                </a:p>
              </p:txBody>
            </p:sp>
          </p:grp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13BA846-1C14-504A-CED1-D5667E0C26D1}"/>
                </a:ext>
              </a:extLst>
            </p:cNvPr>
            <p:cNvSpPr/>
            <p:nvPr/>
          </p:nvSpPr>
          <p:spPr>
            <a:xfrm>
              <a:off x="6322142" y="1248699"/>
              <a:ext cx="5330745" cy="3800628"/>
            </a:xfrm>
            <a:prstGeom prst="round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8588633D-AC93-76E6-16B6-00C330FD9083}"/>
                </a:ext>
              </a:extLst>
            </p:cNvPr>
            <p:cNvGrpSpPr/>
            <p:nvPr/>
          </p:nvGrpSpPr>
          <p:grpSpPr>
            <a:xfrm>
              <a:off x="7295534" y="3775587"/>
              <a:ext cx="363799" cy="2143432"/>
              <a:chOff x="7295534" y="3775587"/>
              <a:chExt cx="363799" cy="214343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05DE442E-7C40-0D4B-9DF0-ADCE60EF4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5037" y="4627821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2580749C-AD10-9960-2B06-4DF614A383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5534" y="3775587"/>
                <a:ext cx="0" cy="2143432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E56B6A4-DB52-89EC-B18E-731C8D1E7632}"/>
                </a:ext>
              </a:extLst>
            </p:cNvPr>
            <p:cNvSpPr txBox="1"/>
            <p:nvPr/>
          </p:nvSpPr>
          <p:spPr>
            <a:xfrm>
              <a:off x="8640544" y="1285028"/>
              <a:ext cx="6383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GPU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D459-A9B4-F45C-92EC-E582CC71C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25C1FEF-07DB-C16B-3220-81B76B096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72473870"/>
              </p:ext>
            </p:extLst>
          </p:nvPr>
        </p:nvGraphicFramePr>
        <p:xfrm>
          <a:off x="838200" y="1825625"/>
          <a:ext cx="10515597" cy="2564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59914872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4283996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55644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Meory</a:t>
                      </a:r>
                      <a:r>
                        <a:rPr lang="en-US" dirty="0"/>
                        <a:t> resource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Conceptual scope/role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877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 resources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 work item, subgroup state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 and 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387825"/>
                  </a:ext>
                </a:extLst>
              </a:tr>
              <a:tr h="441366">
                <a:tc>
                  <a:txBody>
                    <a:bodyPr/>
                    <a:lstStyle/>
                    <a:p>
                      <a:r>
                        <a:rPr lang="en-US" dirty="0"/>
                        <a:t>Work-group local scratchpad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Visible to work-group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496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Hardware-managed local cashes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Accelerate memory access near CU or CU cluster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772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Device-level cache (L2)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Serves all CUs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720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Device-level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Accessible to all work-groups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Program/runtime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97383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1DB7B-E6E8-5E39-A4B5-019674515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F882DF8-9527-D10A-2AF2-413739E2E949}"/>
              </a:ext>
            </a:extLst>
          </p:cNvPr>
          <p:cNvGrpSpPr/>
          <p:nvPr/>
        </p:nvGrpSpPr>
        <p:grpSpPr>
          <a:xfrm>
            <a:off x="501445" y="2084439"/>
            <a:ext cx="1245391" cy="3279680"/>
            <a:chOff x="501445" y="2084439"/>
            <a:chExt cx="1245391" cy="327968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798403-608B-EBAA-E809-7EBE8A0E9304}"/>
                </a:ext>
              </a:extLst>
            </p:cNvPr>
            <p:cNvCxnSpPr>
              <a:cxnSpLocks/>
            </p:cNvCxnSpPr>
            <p:nvPr/>
          </p:nvCxnSpPr>
          <p:spPr>
            <a:xfrm>
              <a:off x="501445" y="2084439"/>
              <a:ext cx="0" cy="327968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3B8CAF3-BE2E-BDBC-A01D-FFB62BA7EED2}"/>
                </a:ext>
              </a:extLst>
            </p:cNvPr>
            <p:cNvSpPr txBox="1"/>
            <p:nvPr/>
          </p:nvSpPr>
          <p:spPr>
            <a:xfrm>
              <a:off x="639097" y="4784129"/>
              <a:ext cx="1107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FF0000"/>
                  </a:solidFill>
                </a:rPr>
                <a:t>Latency</a:t>
              </a:r>
              <a:endParaRPr lang="LID4096" sz="20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BCAC19C-E209-222F-16DE-638FA4B4D698}"/>
              </a:ext>
            </a:extLst>
          </p:cNvPr>
          <p:cNvGrpSpPr/>
          <p:nvPr/>
        </p:nvGrpSpPr>
        <p:grpSpPr>
          <a:xfrm>
            <a:off x="10806499" y="2084439"/>
            <a:ext cx="854555" cy="3279680"/>
            <a:chOff x="-353110" y="2084439"/>
            <a:chExt cx="854555" cy="32796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9108366-57CA-F4F6-5D38-09820997165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45" y="2084439"/>
              <a:ext cx="0" cy="327968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3D2BB83-1275-EA3B-25C5-497C5DB4AD2C}"/>
                </a:ext>
              </a:extLst>
            </p:cNvPr>
            <p:cNvSpPr txBox="1"/>
            <p:nvPr/>
          </p:nvSpPr>
          <p:spPr>
            <a:xfrm>
              <a:off x="-353110" y="4784129"/>
              <a:ext cx="66646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0070C0"/>
                  </a:solidFill>
                </a:rPr>
                <a:t>Size</a:t>
              </a:r>
              <a:endParaRPr lang="LID4096" sz="2000" b="1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314220-B4DC-E22D-B769-F7FE91D7D3D7}"/>
              </a:ext>
            </a:extLst>
          </p:cNvPr>
          <p:cNvGrpSpPr/>
          <p:nvPr/>
        </p:nvGrpSpPr>
        <p:grpSpPr>
          <a:xfrm>
            <a:off x="1746836" y="4804223"/>
            <a:ext cx="5773681" cy="760032"/>
            <a:chOff x="1628078" y="5790199"/>
            <a:chExt cx="5773681" cy="7600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5D34BD2-E566-8072-4BC3-7564760E03A9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7" name="Graphic 16" descr="Rocket with solid fill">
              <a:extLst>
                <a:ext uri="{FF2B5EF4-FFF2-40B4-BE49-F238E27FC236}">
                  <a16:creationId xmlns:a16="http://schemas.microsoft.com/office/drawing/2014/main" id="{7012293D-C02E-69A1-8627-30067FCEA3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0149C66-B985-05D8-DE8A-F580D03D247E}"/>
              </a:ext>
            </a:extLst>
          </p:cNvPr>
          <p:cNvGrpSpPr/>
          <p:nvPr/>
        </p:nvGrpSpPr>
        <p:grpSpPr>
          <a:xfrm>
            <a:off x="1405464" y="5536567"/>
            <a:ext cx="9797079" cy="1002345"/>
            <a:chOff x="2475571" y="4711545"/>
            <a:chExt cx="9797079" cy="100234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4281021-57EF-3616-E7AD-6799593D8E04}"/>
                </a:ext>
              </a:extLst>
            </p:cNvPr>
            <p:cNvSpPr txBox="1"/>
            <p:nvPr/>
          </p:nvSpPr>
          <p:spPr>
            <a:xfrm>
              <a:off x="2475571" y="5252225"/>
              <a:ext cx="940103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scratchpad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resident work-groups, work-times per group</a:t>
              </a:r>
              <a:endParaRPr lang="LID4096" sz="2400" dirty="0"/>
            </a:p>
          </p:txBody>
        </p:sp>
        <p:pic>
          <p:nvPicPr>
            <p:cNvPr id="20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9D8CAE5C-785A-BC28-8914-B94309540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80562" y="471154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645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2C80E-80A9-B145-F16E-91CEF679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8F646-D9FE-9326-0531-71F3DA832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A4C27-C5F5-22DD-C78D-9C23CC254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92329" cy="4351338"/>
          </a:xfrm>
        </p:spPr>
        <p:txBody>
          <a:bodyPr/>
          <a:lstStyle/>
          <a:p>
            <a:r>
              <a:rPr lang="en-US" dirty="0"/>
              <a:t>Typically, 4-8 GPUs/node</a:t>
            </a:r>
          </a:p>
          <a:p>
            <a:pPr lvl="1"/>
            <a:r>
              <a:rPr lang="en-US" dirty="0"/>
              <a:t>Connected via GPU interconnect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Nodes connected via high-bandwidth/low-latency network interconnect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95B30-EF3A-8982-843A-6D8969862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A5E7C2-7C97-8726-8565-55781FDF633D}"/>
              </a:ext>
            </a:extLst>
          </p:cNvPr>
          <p:cNvGrpSpPr/>
          <p:nvPr/>
        </p:nvGrpSpPr>
        <p:grpSpPr>
          <a:xfrm>
            <a:off x="5702710" y="1354907"/>
            <a:ext cx="4279490" cy="3944681"/>
            <a:chOff x="5702710" y="1512222"/>
            <a:chExt cx="4279490" cy="394468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F9918A1-C3C6-6E37-51E6-0F8CE02D1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30529" y="2014731"/>
              <a:ext cx="1598056" cy="132556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D92B04-97D1-BE2A-23B3-5C71F4F526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8374" y="2014731"/>
              <a:ext cx="1598056" cy="132556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AE4EA8-F952-5400-0B07-188BE0B7EB3B}"/>
                </a:ext>
              </a:extLst>
            </p:cNvPr>
            <p:cNvSpPr txBox="1"/>
            <p:nvPr/>
          </p:nvSpPr>
          <p:spPr>
            <a:xfrm>
              <a:off x="7464635" y="228108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</a:t>
              </a:r>
              <a:endParaRPr lang="LID4096" sz="2800" dirty="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102241C-A783-90B0-60C7-628CF77CC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45163" y="3340294"/>
              <a:ext cx="215326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9100120-EDFA-5A9D-3E4B-C8FF63DCD5F5}"/>
                </a:ext>
              </a:extLst>
            </p:cNvPr>
            <p:cNvSpPr/>
            <p:nvPr/>
          </p:nvSpPr>
          <p:spPr>
            <a:xfrm>
              <a:off x="6784258" y="3689800"/>
              <a:ext cx="1140541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CPU(s)</a:t>
              </a:r>
              <a:endParaRPr lang="LID4096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71C8B58-9147-A294-1DCC-F078BCE84A61}"/>
                </a:ext>
              </a:extLst>
            </p:cNvPr>
            <p:cNvCxnSpPr>
              <a:stCxn id="16" idx="0"/>
            </p:cNvCxnSpPr>
            <p:nvPr/>
          </p:nvCxnSpPr>
          <p:spPr>
            <a:xfrm flipV="1">
              <a:off x="7354529" y="3340294"/>
              <a:ext cx="0" cy="3495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08419C7-9BA6-A1BD-00DA-3436CFC0873E}"/>
                </a:ext>
              </a:extLst>
            </p:cNvPr>
            <p:cNvSpPr/>
            <p:nvPr/>
          </p:nvSpPr>
          <p:spPr>
            <a:xfrm>
              <a:off x="6459793" y="4607431"/>
              <a:ext cx="1789469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Host memory</a:t>
              </a:r>
              <a:endParaRPr lang="LID4096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38DA646-BA1B-F13C-DDED-9545E292BCB4}"/>
                </a:ext>
              </a:extLst>
            </p:cNvPr>
            <p:cNvCxnSpPr>
              <a:stCxn id="20" idx="0"/>
              <a:endCxn id="16" idx="2"/>
            </p:cNvCxnSpPr>
            <p:nvPr/>
          </p:nvCxnSpPr>
          <p:spPr>
            <a:xfrm flipV="1">
              <a:off x="7354528" y="4171581"/>
              <a:ext cx="1" cy="4358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4E4D18B-8CEC-878A-37C9-445639D8D6F2}"/>
                </a:ext>
              </a:extLst>
            </p:cNvPr>
            <p:cNvSpPr/>
            <p:nvPr/>
          </p:nvSpPr>
          <p:spPr>
            <a:xfrm>
              <a:off x="5702710" y="1533832"/>
              <a:ext cx="4011561" cy="3923071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758E090-E76A-D622-C991-4B0CE7C5D21D}"/>
                </a:ext>
              </a:extLst>
            </p:cNvPr>
            <p:cNvSpPr txBox="1"/>
            <p:nvPr/>
          </p:nvSpPr>
          <p:spPr>
            <a:xfrm>
              <a:off x="7281893" y="1512222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Node</a:t>
              </a:r>
              <a:endParaRPr lang="LID4096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CB5FDC-5C12-7F7C-814A-2653B1170E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4527" y="3495367"/>
              <a:ext cx="2627673" cy="196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B11BF9D-2BC6-47D8-E670-74BCC07E3141}"/>
              </a:ext>
            </a:extLst>
          </p:cNvPr>
          <p:cNvGrpSpPr/>
          <p:nvPr/>
        </p:nvGrpSpPr>
        <p:grpSpPr>
          <a:xfrm>
            <a:off x="7249180" y="2025445"/>
            <a:ext cx="2733020" cy="4513467"/>
            <a:chOff x="7249180" y="2025445"/>
            <a:chExt cx="2733020" cy="451346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FEEC3E-7131-902E-1193-E652910AF40A}"/>
                </a:ext>
              </a:extLst>
            </p:cNvPr>
            <p:cNvCxnSpPr>
              <a:endCxn id="4" idx="2"/>
            </p:cNvCxnSpPr>
            <p:nvPr/>
          </p:nvCxnSpPr>
          <p:spPr>
            <a:xfrm>
              <a:off x="9982200" y="2025445"/>
              <a:ext cx="0" cy="451346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17C0DE3-64CD-8898-AF8B-3C69941CC493}"/>
                </a:ext>
              </a:extLst>
            </p:cNvPr>
            <p:cNvSpPr txBox="1"/>
            <p:nvPr/>
          </p:nvSpPr>
          <p:spPr>
            <a:xfrm rot="5400000">
              <a:off x="7238920" y="5455642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</a:t>
              </a:r>
              <a:endParaRPr lang="LID4096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3363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5FFF-DA7D-DFEB-0FCB-51D62A5B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E69612B-9153-A054-B6CE-E2FC4E9BC3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7442353"/>
              </p:ext>
            </p:extLst>
          </p:nvPr>
        </p:nvGraphicFramePr>
        <p:xfrm>
          <a:off x="838200" y="1825625"/>
          <a:ext cx="1051559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884">
                  <a:extLst>
                    <a:ext uri="{9D8B030D-6E8A-4147-A177-3AD203B41FA5}">
                      <a16:colId xmlns:a16="http://schemas.microsoft.com/office/drawing/2014/main" val="1851655756"/>
                    </a:ext>
                  </a:extLst>
                </a:gridCol>
                <a:gridCol w="4286864">
                  <a:extLst>
                    <a:ext uri="{9D8B030D-6E8A-4147-A177-3AD203B41FA5}">
                      <a16:colId xmlns:a16="http://schemas.microsoft.com/office/drawing/2014/main" val="530205664"/>
                    </a:ext>
                  </a:extLst>
                </a:gridCol>
                <a:gridCol w="3261849">
                  <a:extLst>
                    <a:ext uri="{9D8B030D-6E8A-4147-A177-3AD203B41FA5}">
                      <a16:colId xmlns:a16="http://schemas.microsoft.com/office/drawing/2014/main" val="17904987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Path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Illustrative peak performance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to GPU device memory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7512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device memory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1.5–8 TB/s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538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to GPU interconnect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300–900 GB/s per GPU, one 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0.08–0.15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250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Host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200–500 GB/s per CPU socket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0.05–0.2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03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PCIe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GB/s (Gen4), 64 GB/s (Gen5) one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0.01–0.04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764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Interconnect network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12.5–50 GB/s per port, one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0.003–0.03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470699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C2587-391D-E80B-BBA1-819BE99B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6ED3C1A-E165-16F8-0948-0A2782D11C0A}"/>
              </a:ext>
            </a:extLst>
          </p:cNvPr>
          <p:cNvGrpSpPr/>
          <p:nvPr/>
        </p:nvGrpSpPr>
        <p:grpSpPr>
          <a:xfrm>
            <a:off x="3539613" y="4630994"/>
            <a:ext cx="3665850" cy="1861881"/>
            <a:chOff x="3539613" y="4630994"/>
            <a:chExt cx="3665850" cy="18618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2F04246-FB7F-BA1F-E653-8239E21D9FEE}"/>
                </a:ext>
              </a:extLst>
            </p:cNvPr>
            <p:cNvSpPr txBox="1"/>
            <p:nvPr/>
          </p:nvSpPr>
          <p:spPr>
            <a:xfrm>
              <a:off x="3539613" y="4630994"/>
              <a:ext cx="3269806" cy="15696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Minimize 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400" dirty="0"/>
                <a:t>Host-GPU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400" dirty="0"/>
                <a:t>GPU-GPU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400" dirty="0"/>
                <a:t>Node-node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43AF169E-8E5C-D4AA-2359-83D8CA52DC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375" y="570078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2407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Programming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express GPU work?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8735" y="1825625"/>
            <a:ext cx="67940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Prebuilt operations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mathematical operations</a:t>
            </a:r>
          </a:p>
          <a:p>
            <a:pPr lvl="1"/>
            <a:r>
              <a:rPr lang="en-US" dirty="0"/>
              <a:t>E.g., matrix multiplications, linear solver</a:t>
            </a:r>
          </a:p>
          <a:p>
            <a:r>
              <a:rPr lang="en-US" dirty="0"/>
              <a:t>Pattern-based programming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parallel patterns &amp; execution policies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Kokkos</a:t>
            </a:r>
            <a:r>
              <a:rPr lang="en-US" dirty="0"/>
              <a:t>: parallel for, reduction</a:t>
            </a:r>
          </a:p>
          <a:p>
            <a:r>
              <a:rPr lang="en-US" dirty="0"/>
              <a:t>Directive-based programming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annotated loops &amp; data environment</a:t>
            </a:r>
          </a:p>
          <a:p>
            <a:pPr lvl="1"/>
            <a:r>
              <a:rPr lang="en-US" dirty="0"/>
              <a:t>E.g., OpenMP target</a:t>
            </a:r>
          </a:p>
          <a:p>
            <a:r>
              <a:rPr lang="en-US" dirty="0"/>
              <a:t>Kernel-oriented programming</a:t>
            </a:r>
            <a:r>
              <a:rPr lang="en-US" dirty="0">
                <a:sym typeface="Symbol" panose="05050102010706020507" pitchFamily="18" charset="2"/>
              </a:rPr>
              <a:t> </a:t>
            </a:r>
            <a:r>
              <a:rPr lang="en-US" dirty="0"/>
              <a:t> explicit kernels, launches, memory, dependencies</a:t>
            </a:r>
          </a:p>
          <a:p>
            <a:pPr lvl="1"/>
            <a:r>
              <a:rPr lang="en-US" dirty="0"/>
              <a:t>E.g., CUDA, HIP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26BD5F-2443-7AB4-6B18-460023BECD95}"/>
              </a:ext>
            </a:extLst>
          </p:cNvPr>
          <p:cNvGrpSpPr/>
          <p:nvPr/>
        </p:nvGrpSpPr>
        <p:grpSpPr>
          <a:xfrm>
            <a:off x="9452367" y="1690688"/>
            <a:ext cx="2544892" cy="4572460"/>
            <a:chOff x="9452367" y="1690688"/>
            <a:chExt cx="2544892" cy="4572460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894E6BD-0F6C-A1B7-6C85-F38FC1F473D1}"/>
                </a:ext>
              </a:extLst>
            </p:cNvPr>
            <p:cNvCxnSpPr/>
            <p:nvPr/>
          </p:nvCxnSpPr>
          <p:spPr>
            <a:xfrm>
              <a:off x="9452367" y="1690688"/>
              <a:ext cx="0" cy="457246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E6D16E-8B5A-ED7D-4BA9-676CA00465A1}"/>
                </a:ext>
              </a:extLst>
            </p:cNvPr>
            <p:cNvSpPr txBox="1"/>
            <p:nvPr/>
          </p:nvSpPr>
          <p:spPr>
            <a:xfrm>
              <a:off x="9549026" y="4835061"/>
              <a:ext cx="244823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More implementation details, more fine-grained control</a:t>
              </a:r>
              <a:endParaRPr lang="LID4096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586F35B-6818-B78E-8F1D-B0BBFBD2B47E}"/>
              </a:ext>
            </a:extLst>
          </p:cNvPr>
          <p:cNvGrpSpPr/>
          <p:nvPr/>
        </p:nvGrpSpPr>
        <p:grpSpPr>
          <a:xfrm>
            <a:off x="191969" y="1604503"/>
            <a:ext cx="1802630" cy="4572460"/>
            <a:chOff x="7649737" y="1690688"/>
            <a:chExt cx="1802630" cy="457246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4648E9D-F7B2-1D28-6210-774165740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52367" y="1690688"/>
              <a:ext cx="0" cy="457246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26BAD5-95B5-BBAD-3197-FD35637C4959}"/>
                </a:ext>
              </a:extLst>
            </p:cNvPr>
            <p:cNvSpPr txBox="1"/>
            <p:nvPr/>
          </p:nvSpPr>
          <p:spPr>
            <a:xfrm>
              <a:off x="7649737" y="2495006"/>
              <a:ext cx="18026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More portable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placement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368" y="3790813"/>
            <a:ext cx="10515600" cy="23861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Making data available</a:t>
            </a:r>
          </a:p>
          <a:p>
            <a:pPr lvl="1"/>
            <a:r>
              <a:rPr lang="en-US" dirty="0"/>
              <a:t>Explicit copy</a:t>
            </a:r>
          </a:p>
          <a:p>
            <a:pPr lvl="1"/>
            <a:r>
              <a:rPr lang="en-US" dirty="0"/>
              <a:t>Run-time managed migration</a:t>
            </a:r>
          </a:p>
          <a:p>
            <a:pPr lvl="1"/>
            <a:r>
              <a:rPr lang="en-US" dirty="0"/>
              <a:t>Coherent direct/remote access</a:t>
            </a:r>
          </a:p>
          <a:p>
            <a:r>
              <a:rPr lang="en-US" dirty="0"/>
              <a:t>Correctness:</a:t>
            </a:r>
            <a:br>
              <a:rPr lang="en-US" dirty="0"/>
            </a:br>
            <a:r>
              <a:rPr lang="en-US" dirty="0"/>
              <a:t>producer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dependency/synchronization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consumer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835812" y="3611426"/>
            <a:ext cx="4306303" cy="1236096"/>
            <a:chOff x="6779941" y="1981708"/>
            <a:chExt cx="4306303" cy="12360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88657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Physical placement</a:t>
              </a:r>
            </a:p>
            <a:p>
              <a:r>
                <a:rPr lang="en-US" sz="2800" dirty="0"/>
                <a:t>influences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20093" y="1981708"/>
              <a:ext cx="566151" cy="566151"/>
            </a:xfrm>
            <a:prstGeom prst="rect">
              <a:avLst/>
            </a:prstGeom>
          </p:spPr>
        </p:pic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8C2E28-5205-4A99-8C35-BCFF7BF25C57}"/>
              </a:ext>
            </a:extLst>
          </p:cNvPr>
          <p:cNvSpPr/>
          <p:nvPr/>
        </p:nvSpPr>
        <p:spPr>
          <a:xfrm>
            <a:off x="847837" y="1957304"/>
            <a:ext cx="1140541" cy="48178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LID4096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A2B143-13C3-A523-0B20-8BAD1D9A6E10}"/>
              </a:ext>
            </a:extLst>
          </p:cNvPr>
          <p:cNvSpPr/>
          <p:nvPr/>
        </p:nvSpPr>
        <p:spPr>
          <a:xfrm>
            <a:off x="2622626" y="1870076"/>
            <a:ext cx="1789469" cy="6562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Host-attached memory</a:t>
            </a:r>
            <a:endParaRPr lang="LID4096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B8E717-008A-A058-AA25-76AD833C06E1}"/>
              </a:ext>
            </a:extLst>
          </p:cNvPr>
          <p:cNvCxnSpPr>
            <a:cxnSpLocks/>
          </p:cNvCxnSpPr>
          <p:nvPr/>
        </p:nvCxnSpPr>
        <p:spPr>
          <a:xfrm flipH="1">
            <a:off x="1988378" y="2154581"/>
            <a:ext cx="634248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67C01E-C834-07BD-6BBA-82FABBBFF1BB}"/>
              </a:ext>
            </a:extLst>
          </p:cNvPr>
          <p:cNvSpPr/>
          <p:nvPr/>
        </p:nvSpPr>
        <p:spPr>
          <a:xfrm>
            <a:off x="5046343" y="1870076"/>
            <a:ext cx="1789469" cy="6562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Device-local memory</a:t>
            </a:r>
            <a:endParaRPr lang="LID4096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DE77CF-49C0-2C12-D1BA-4F411117EA28}"/>
              </a:ext>
            </a:extLst>
          </p:cNvPr>
          <p:cNvCxnSpPr>
            <a:cxnSpLocks/>
          </p:cNvCxnSpPr>
          <p:nvPr/>
        </p:nvCxnSpPr>
        <p:spPr>
          <a:xfrm flipH="1">
            <a:off x="4412095" y="2198194"/>
            <a:ext cx="634248" cy="0"/>
          </a:xfrm>
          <a:prstGeom prst="line">
            <a:avLst/>
          </a:prstGeom>
          <a:ln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09ECE4-16B5-81B2-5CEE-02CBF2BB0A80}"/>
              </a:ext>
            </a:extLst>
          </p:cNvPr>
          <p:cNvSpPr/>
          <p:nvPr/>
        </p:nvSpPr>
        <p:spPr>
          <a:xfrm>
            <a:off x="7470059" y="1957304"/>
            <a:ext cx="1140541" cy="48178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</a:t>
            </a:r>
            <a:endParaRPr lang="LID4096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031E85-25F9-D2D9-A3D6-61B303C11BC1}"/>
              </a:ext>
            </a:extLst>
          </p:cNvPr>
          <p:cNvCxnSpPr>
            <a:cxnSpLocks/>
          </p:cNvCxnSpPr>
          <p:nvPr/>
        </p:nvCxnSpPr>
        <p:spPr>
          <a:xfrm>
            <a:off x="6835812" y="2154581"/>
            <a:ext cx="63424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50EDFA0-29F4-7C8C-BE8D-C11369749DA9}"/>
              </a:ext>
            </a:extLst>
          </p:cNvPr>
          <p:cNvSpPr txBox="1"/>
          <p:nvPr/>
        </p:nvSpPr>
        <p:spPr>
          <a:xfrm>
            <a:off x="3873909" y="2665812"/>
            <a:ext cx="1775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movement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64 warps resident on SM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at most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pPr lvl="1"/>
            <a:r>
              <a:rPr lang="en-US" dirty="0"/>
              <a:t>Number of instructions depends on pipelines used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68511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A100,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54B5-DBAA-953A-7692-EEBD81E6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09626-7CEA-967B-089B-A01C3B5D5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AB9D5-6FEC-ECAC-AE1D-5AA61CFC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link/GPU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links to each GPU</a:t>
            </a:r>
          </a:p>
          <a:p>
            <a:pPr lvl="2"/>
            <a:r>
              <a:rPr lang="en-US" dirty="0"/>
              <a:t>50 GB/s/link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BC236-DD26-3E7E-ED00-68E1D4DCE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74215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link/GPU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links to each GPU</a:t>
            </a:r>
          </a:p>
          <a:p>
            <a:pPr lvl="2"/>
            <a:r>
              <a:rPr lang="en-US" dirty="0"/>
              <a:t>50 GB/s/link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448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9474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F6F0F-66D1-FA46-5FA4-75EBAA96F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A1529-69EC-55A0-F678-3FFE8A1AD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BDB9A-1F2F-6839-9FA4-FD308110C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A07547-36C1-93E5-61C8-B0AA72BE7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504679"/>
          </a:xfrm>
        </p:spPr>
        <p:txBody>
          <a:bodyPr>
            <a:normAutofit/>
          </a:bodyPr>
          <a:lstStyle/>
          <a:p>
            <a:r>
              <a:rPr lang="en-US" sz="2000" dirty="0"/>
              <a:t>Warp-group instructions (NVIDIA H100+)</a:t>
            </a:r>
          </a:p>
          <a:p>
            <a:pPr lvl="1"/>
            <a:r>
              <a:rPr lang="en-US" sz="1800" dirty="0"/>
              <a:t>4 warps participate in tensor instruction</a:t>
            </a:r>
          </a:p>
          <a:p>
            <a:pPr lvl="1"/>
            <a:r>
              <a:rPr lang="en-US" sz="1800" dirty="0"/>
              <a:t>Accommodate larger tensor cores &amp; matrix tiles</a:t>
            </a:r>
            <a:endParaRPr lang="LID4096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7AE3C0-B23C-2977-44C3-29D43CC02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40F67-7CA1-B69F-D2F2-19F6B83F873F}"/>
              </a:ext>
            </a:extLst>
          </p:cNvPr>
          <p:cNvSpPr txBox="1"/>
          <p:nvPr/>
        </p:nvSpPr>
        <p:spPr>
          <a:xfrm>
            <a:off x="3581401" y="5850235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8077939" y="342900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6663764"/>
                  </p:ext>
                </p:extLst>
              </p:nvPr>
            </p:nvGraphicFramePr>
            <p:xfrm>
              <a:off x="8077939" y="342900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2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8073603" y="3019781"/>
            <a:ext cx="2249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NVIDIA A100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61068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020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0326922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/</a:t>
            </a:r>
            <a:r>
              <a:rPr lang="en-US" dirty="0" err="1"/>
              <a:t>NVSwitch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2309018"/>
              </p:ext>
            </p:extLst>
          </p:nvPr>
        </p:nvGraphicFramePr>
        <p:xfrm>
          <a:off x="1491475" y="1937137"/>
          <a:ext cx="92090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to 40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3950</TotalTime>
  <Words>2054</Words>
  <Application>Microsoft Office PowerPoint</Application>
  <PresentationFormat>Widescreen</PresentationFormat>
  <Paragraphs>610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Terminology crosswalk</vt:lpstr>
      <vt:lpstr>Compute unit execution model</vt:lpstr>
      <vt:lpstr>Compute unit</vt:lpstr>
      <vt:lpstr>Matrix accelerators</vt:lpstr>
      <vt:lpstr>Multiple compute units</vt:lpstr>
      <vt:lpstr>Memory hierarchy</vt:lpstr>
      <vt:lpstr>Multiple GPUs/node, multiple nodes</vt:lpstr>
      <vt:lpstr>Bandwidth hierarchy</vt:lpstr>
      <vt:lpstr>Programming models</vt:lpstr>
      <vt:lpstr>How to express GPU work?</vt:lpstr>
      <vt:lpstr>Data placement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Multiple GPUs/node, multiple nodes</vt:lpstr>
      <vt:lpstr>Multiple GPUs/node, multiple nodes</vt:lpstr>
      <vt:lpstr>Bandwidth hierarchy</vt:lpstr>
      <vt:lpstr>NVIDIA Streaming Multiprocessor (SM)</vt:lpstr>
      <vt:lpstr>NVIDIA memory hierarchy</vt:lpstr>
      <vt:lpstr>Architecture &amp; compute capability</vt:lpstr>
      <vt:lpstr>NVIDIA memory architecture</vt:lpstr>
      <vt:lpstr>NVIDIA SMs</vt:lpstr>
      <vt:lpstr>NVLink/NVSwitch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63</cp:revision>
  <dcterms:created xsi:type="dcterms:W3CDTF">2025-01-17T10:10:41Z</dcterms:created>
  <dcterms:modified xsi:type="dcterms:W3CDTF">2026-08-09T12:26:21Z</dcterms:modified>
</cp:coreProperties>
</file>