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7" r:id="rId2"/>
    <p:sldId id="357" r:id="rId3"/>
    <p:sldId id="355" r:id="rId4"/>
    <p:sldId id="348" r:id="rId5"/>
    <p:sldId id="359" r:id="rId6"/>
    <p:sldId id="363" r:id="rId7"/>
    <p:sldId id="380" r:id="rId8"/>
    <p:sldId id="364" r:id="rId9"/>
    <p:sldId id="374" r:id="rId10"/>
    <p:sldId id="390" r:id="rId11"/>
    <p:sldId id="361" r:id="rId12"/>
    <p:sldId id="360" r:id="rId13"/>
    <p:sldId id="372" r:id="rId14"/>
    <p:sldId id="368" r:id="rId15"/>
    <p:sldId id="395" r:id="rId16"/>
    <p:sldId id="392" r:id="rId17"/>
    <p:sldId id="396" r:id="rId18"/>
    <p:sldId id="379" r:id="rId19"/>
    <p:sldId id="381" r:id="rId20"/>
    <p:sldId id="382" r:id="rId21"/>
    <p:sldId id="383" r:id="rId22"/>
    <p:sldId id="384" r:id="rId23"/>
    <p:sldId id="385" r:id="rId24"/>
    <p:sldId id="386" r:id="rId25"/>
    <p:sldId id="387" r:id="rId26"/>
    <p:sldId id="388" r:id="rId27"/>
    <p:sldId id="397" r:id="rId28"/>
    <p:sldId id="391" r:id="rId29"/>
    <p:sldId id="394" r:id="rId30"/>
    <p:sldId id="375" r:id="rId31"/>
    <p:sldId id="373" r:id="rId32"/>
    <p:sldId id="366" r:id="rId33"/>
    <p:sldId id="378" r:id="rId34"/>
    <p:sldId id="367" r:id="rId35"/>
    <p:sldId id="370" r:id="rId36"/>
    <p:sldId id="377" r:id="rId37"/>
    <p:sldId id="371" r:id="rId38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29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17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08/10/2026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08/10/2026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08/10/2026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08/10/2026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08/10/2026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08/10/2026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08/10/2026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08/10/2026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08/10/2026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08/10/2026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08/10/2026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08/10/2026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08/10/2026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ithub.com/gjbex/GPU-programming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zonafree2play.com/2019/03/polemico-estudio-de-nvidia-revela-que.html" TargetMode="External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creativecommons.org/licenses/by/3.0/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GPU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3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914096" y="5445224"/>
            <a:ext cx="10003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https://github.com/gjbex/GPU-programming</a:t>
            </a:r>
            <a:r>
              <a:rPr lang="en-US" sz="4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4748FA-3DAD-887F-51C8-0A0B7D38DA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4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6709" y="2848092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5303" y="3289451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87197" y="4365888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0247" y="1646238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60246" y="2305252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35303" y="3951218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physical location?</a:t>
            </a:r>
          </a:p>
          <a:p>
            <a:pPr lvl="1"/>
            <a:r>
              <a:rPr lang="en-US" dirty="0"/>
              <a:t>Is data (efficiently) accessible?</a:t>
            </a:r>
          </a:p>
          <a:p>
            <a:r>
              <a:rPr lang="en-US" dirty="0"/>
              <a:t>Data dependencies?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1B5D2-96A5-D890-6353-57A600FB4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Terminology crosswalk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EFB8C49-1D2F-4F23-EE4C-88BCBC50B3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691393"/>
              </p:ext>
            </p:extLst>
          </p:nvPr>
        </p:nvGraphicFramePr>
        <p:xfrm>
          <a:off x="838200" y="1825625"/>
          <a:ext cx="10515597" cy="4246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6884">
                  <a:extLst>
                    <a:ext uri="{9D8B030D-6E8A-4147-A177-3AD203B41FA5}">
                      <a16:colId xmlns:a16="http://schemas.microsoft.com/office/drawing/2014/main" val="415567423"/>
                    </a:ext>
                  </a:extLst>
                </a:gridCol>
                <a:gridCol w="3460955">
                  <a:extLst>
                    <a:ext uri="{9D8B030D-6E8A-4147-A177-3AD203B41FA5}">
                      <a16:colId xmlns:a16="http://schemas.microsoft.com/office/drawing/2014/main" val="1975082975"/>
                    </a:ext>
                  </a:extLst>
                </a:gridCol>
                <a:gridCol w="4087758">
                  <a:extLst>
                    <a:ext uri="{9D8B030D-6E8A-4147-A177-3AD203B41FA5}">
                      <a16:colId xmlns:a16="http://schemas.microsoft.com/office/drawing/2014/main" val="28084664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Concept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NVIDIA/CUDA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AMD Instinct/HIP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49862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Compute unit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Streaming Multiprocessor (SM)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Unit (CU)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7982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Execution subgroup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Warp, 32 threads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Wavefront, 64 work items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4378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Cooperative thread group (work-group)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 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Work-group/thread block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71350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Work-group local scratchpad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Local Data Share (LDS)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8495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 resources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Register file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Scalar &amp; vector registers (SGPR/VGPR)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808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Matrix accelerator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Matrix core/MFMA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8104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Architecture target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GFX target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9626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interconnect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NVSwitch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Infinity Fabric/</a:t>
                      </a:r>
                      <a:r>
                        <a:rPr lang="en-US" dirty="0" err="1"/>
                        <a:t>xGMI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6221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Collective library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NCCL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RCCL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821489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62E9E2-073A-90CE-2AA2-5B734B5DF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801162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unit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pPr lvl="1"/>
            <a:r>
              <a:rPr lang="en-US" dirty="0"/>
              <a:t>threads grouped in execution subgroups</a:t>
            </a:r>
          </a:p>
          <a:p>
            <a:pPr lvl="1"/>
            <a:r>
              <a:rPr lang="en-US" dirty="0"/>
              <a:t>Threads in subgroup execute same instruction on different data</a:t>
            </a:r>
          </a:p>
          <a:p>
            <a:r>
              <a:rPr lang="en-US" dirty="0"/>
              <a:t>Branching</a:t>
            </a:r>
          </a:p>
          <a:p>
            <a:pPr lvl="1"/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in subgroup agree</a:t>
            </a:r>
          </a:p>
          <a:p>
            <a:pPr lvl="1"/>
            <a:r>
              <a:rPr lang="en-US" dirty="0"/>
              <a:t>Divergence leads to</a:t>
            </a:r>
          </a:p>
          <a:p>
            <a:pPr lvl="2"/>
            <a:r>
              <a:rPr lang="en-US" dirty="0"/>
              <a:t>Masking of inactive threads</a:t>
            </a:r>
          </a:p>
          <a:p>
            <a:pPr lvl="2"/>
            <a:r>
              <a:rPr lang="en-US" dirty="0"/>
              <a:t>Execution of both paths</a:t>
            </a:r>
          </a:p>
          <a:p>
            <a:pPr lvl="1"/>
            <a:r>
              <a:rPr lang="en-US" dirty="0"/>
              <a:t>Minimize divergence on hot code paths</a:t>
            </a:r>
          </a:p>
          <a:p>
            <a:pPr lvl="2"/>
            <a:r>
              <a:rPr lang="en-US" dirty="0"/>
              <a:t>Code structure</a:t>
            </a:r>
          </a:p>
          <a:p>
            <a:pPr lvl="2"/>
            <a:r>
              <a:rPr lang="en-US" dirty="0"/>
              <a:t>Data layout</a:t>
            </a:r>
          </a:p>
          <a:p>
            <a:r>
              <a:rPr lang="en-US" dirty="0"/>
              <a:t>Execution subgroups grouped in work-groups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3477727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unit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24135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Instruction schedulers select ready execution subgroups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complex per-thread CPU-style execution</a:t>
            </a:r>
          </a:p>
          <a:p>
            <a:pPr lvl="1"/>
            <a:r>
              <a:rPr lang="en-US" dirty="0"/>
              <a:t>Latency hiding: many resident execution subgroups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Floating point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Matrix acceleration</a:t>
            </a:r>
          </a:p>
          <a:p>
            <a:r>
              <a:rPr lang="en-US" dirty="0"/>
              <a:t>Load/store units</a:t>
            </a:r>
          </a:p>
          <a:p>
            <a:r>
              <a:rPr lang="en-US" dirty="0"/>
              <a:t>Register resources (work-item and subgroup state) </a:t>
            </a:r>
          </a:p>
          <a:p>
            <a:r>
              <a:rPr lang="en-US" dirty="0"/>
              <a:t>Hardware managed local cache</a:t>
            </a:r>
          </a:p>
          <a:p>
            <a:r>
              <a:rPr lang="en-US" dirty="0"/>
              <a:t>Work-group local software managed scratchpad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579B38A-4EC1-E296-AE13-0416398070C6}"/>
              </a:ext>
            </a:extLst>
          </p:cNvPr>
          <p:cNvGrpSpPr/>
          <p:nvPr/>
        </p:nvGrpSpPr>
        <p:grpSpPr>
          <a:xfrm>
            <a:off x="7929716" y="602225"/>
            <a:ext cx="3692013" cy="5653549"/>
            <a:chOff x="7929716" y="602225"/>
            <a:chExt cx="3692013" cy="5653549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3240E08-06AF-819D-CCBA-A422A054F809}"/>
                </a:ext>
              </a:extLst>
            </p:cNvPr>
            <p:cNvGrpSpPr/>
            <p:nvPr/>
          </p:nvGrpSpPr>
          <p:grpSpPr>
            <a:xfrm>
              <a:off x="8308258" y="3240574"/>
              <a:ext cx="344137" cy="3015200"/>
              <a:chOff x="8308258" y="3240574"/>
              <a:chExt cx="344137" cy="3015200"/>
            </a:xfrm>
          </p:grpSpPr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9FB285C6-4ED9-4A1A-0787-D015EA8BC3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08258" y="3240574"/>
                <a:ext cx="0" cy="3015200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F594F383-A5EB-6DF3-D560-59CB8DE6D9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8098" y="3733085"/>
                <a:ext cx="334296" cy="0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C89F059C-2143-35AB-1061-603F7D7A76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3182" y="4308271"/>
                <a:ext cx="334296" cy="0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011DF1EE-B566-E2B0-EB9F-1FE5647D92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18099" y="4962119"/>
                <a:ext cx="334296" cy="0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40871940-66EF-E82B-19C8-D55E97A55ECE}"/>
                </a:ext>
              </a:extLst>
            </p:cNvPr>
            <p:cNvSpPr/>
            <p:nvPr/>
          </p:nvSpPr>
          <p:spPr>
            <a:xfrm>
              <a:off x="8511050" y="3480158"/>
              <a:ext cx="1769806" cy="48178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Registers</a:t>
              </a:r>
              <a:endParaRPr lang="LID4096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C8BB63D2-3245-730C-D5B0-0D92370B28B8}"/>
                </a:ext>
              </a:extLst>
            </p:cNvPr>
            <p:cNvSpPr/>
            <p:nvPr/>
          </p:nvSpPr>
          <p:spPr>
            <a:xfrm>
              <a:off x="8511050" y="4096876"/>
              <a:ext cx="1769806" cy="48178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Scratchpad</a:t>
              </a:r>
              <a:endParaRPr lang="LID4096" dirty="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0E543B6E-BBFD-581A-383A-6A4231EC67A4}"/>
                </a:ext>
              </a:extLst>
            </p:cNvPr>
            <p:cNvSpPr/>
            <p:nvPr/>
          </p:nvSpPr>
          <p:spPr>
            <a:xfrm>
              <a:off x="8511050" y="4708884"/>
              <a:ext cx="1769806" cy="48178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Cache</a:t>
              </a:r>
              <a:endParaRPr lang="LID4096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C3039D3-A0ED-B007-30F8-6DF40A01C305}"/>
                </a:ext>
              </a:extLst>
            </p:cNvPr>
            <p:cNvSpPr/>
            <p:nvPr/>
          </p:nvSpPr>
          <p:spPr>
            <a:xfrm>
              <a:off x="8131278" y="1395334"/>
              <a:ext cx="1307690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Scheduder</a:t>
              </a:r>
              <a:endParaRPr lang="LID4096" dirty="0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0FC7469C-DB9A-0D85-805D-85EC64275622}"/>
                </a:ext>
              </a:extLst>
            </p:cNvPr>
            <p:cNvSpPr/>
            <p:nvPr/>
          </p:nvSpPr>
          <p:spPr>
            <a:xfrm>
              <a:off x="8131278" y="2056502"/>
              <a:ext cx="1307690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Scheduder</a:t>
              </a:r>
              <a:endParaRPr lang="LID4096" dirty="0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AAA92DED-575F-779F-91BE-F9824CD062AC}"/>
                </a:ext>
              </a:extLst>
            </p:cNvPr>
            <p:cNvSpPr/>
            <p:nvPr/>
          </p:nvSpPr>
          <p:spPr>
            <a:xfrm>
              <a:off x="9640530" y="1154444"/>
              <a:ext cx="1769806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FP pipeline</a:t>
              </a:r>
              <a:endParaRPr lang="LID4096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4FE4217-E967-85D6-3CF3-47999112FAE8}"/>
                </a:ext>
              </a:extLst>
            </p:cNvPr>
            <p:cNvSpPr/>
            <p:nvPr/>
          </p:nvSpPr>
          <p:spPr>
            <a:xfrm>
              <a:off x="9640530" y="1689688"/>
              <a:ext cx="1769806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INT pipeline</a:t>
              </a:r>
              <a:endParaRPr lang="LID4096" dirty="0"/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69C3F5CE-A108-ECB4-5168-3918CE319DB6}"/>
                </a:ext>
              </a:extLst>
            </p:cNvPr>
            <p:cNvSpPr/>
            <p:nvPr/>
          </p:nvSpPr>
          <p:spPr>
            <a:xfrm>
              <a:off x="9640530" y="2235506"/>
              <a:ext cx="1769806" cy="678169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Matrix accelerator</a:t>
              </a:r>
              <a:endParaRPr lang="LID4096" dirty="0"/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BBDF15D4-6139-9970-B9AC-02653FF8FB29}"/>
                </a:ext>
              </a:extLst>
            </p:cNvPr>
            <p:cNvSpPr/>
            <p:nvPr/>
          </p:nvSpPr>
          <p:spPr>
            <a:xfrm>
              <a:off x="8131278" y="2758793"/>
              <a:ext cx="1307690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LD/ST</a:t>
              </a:r>
              <a:endParaRPr lang="LID4096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E559E39-2426-AEC2-6C62-6DC3B347D2A0}"/>
                </a:ext>
              </a:extLst>
            </p:cNvPr>
            <p:cNvSpPr txBox="1"/>
            <p:nvPr/>
          </p:nvSpPr>
          <p:spPr>
            <a:xfrm>
              <a:off x="8998682" y="652601"/>
              <a:ext cx="155408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Compute unit</a:t>
              </a:r>
              <a:endParaRPr lang="LID4096" dirty="0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7FCB65FB-9E5C-23EE-3D7E-9513A82AD375}"/>
                </a:ext>
              </a:extLst>
            </p:cNvPr>
            <p:cNvSpPr/>
            <p:nvPr/>
          </p:nvSpPr>
          <p:spPr>
            <a:xfrm>
              <a:off x="7929716" y="602225"/>
              <a:ext cx="3692013" cy="4900049"/>
            </a:xfrm>
            <a:prstGeom prst="round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Matrix accelerators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Data 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Architecture target</a:t>
                </a:r>
              </a:p>
              <a:p>
                <a:r>
                  <a:rPr lang="en-US" dirty="0"/>
                  <a:t>Performance: matrix accelerators &gt;&gt; FP pipelines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42559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</a:t>
                </a:r>
                <a:r>
                  <a:rPr lang="en-US" sz="2800" i="1" dirty="0"/>
                  <a:t>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42559" cy="523220"/>
              </a:xfrm>
              <a:prstGeom prst="rect">
                <a:avLst/>
              </a:prstGeom>
              <a:blipFill>
                <a:blip r:embed="rId3"/>
                <a:stretch>
                  <a:fillRect t="-10227" b="-3068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2199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compute units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07344" cy="4351338"/>
          </a:xfrm>
        </p:spPr>
        <p:txBody>
          <a:bodyPr/>
          <a:lstStyle/>
          <a:p>
            <a:r>
              <a:rPr lang="en-US" dirty="0"/>
              <a:t>GPU has many compute units</a:t>
            </a:r>
          </a:p>
          <a:p>
            <a:pPr lvl="1"/>
            <a:endParaRPr lang="en-US" dirty="0"/>
          </a:p>
          <a:p>
            <a:r>
              <a:rPr lang="en-US" dirty="0"/>
              <a:t>Connected to device memory fabric</a:t>
            </a:r>
          </a:p>
          <a:p>
            <a:pPr lvl="1"/>
            <a:r>
              <a:rPr lang="en-US" dirty="0"/>
              <a:t>Device-level cache(s)</a:t>
            </a:r>
          </a:p>
          <a:p>
            <a:pPr lvl="1"/>
            <a:r>
              <a:rPr lang="en-US" dirty="0" err="1"/>
              <a:t>Devide</a:t>
            </a:r>
            <a:r>
              <a:rPr lang="en-US" dirty="0"/>
              <a:t>-level memory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1538242" y="4857442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D6657D2-93E4-FD40-EBEC-34E71CCA9525}"/>
              </a:ext>
            </a:extLst>
          </p:cNvPr>
          <p:cNvGrpSpPr/>
          <p:nvPr/>
        </p:nvGrpSpPr>
        <p:grpSpPr>
          <a:xfrm>
            <a:off x="6518786" y="1248699"/>
            <a:ext cx="5330745" cy="4670320"/>
            <a:chOff x="6322142" y="1248699"/>
            <a:chExt cx="5330745" cy="4670320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A3DF8AD-3B8D-8381-02C6-4106EFF1F431}"/>
                </a:ext>
              </a:extLst>
            </p:cNvPr>
            <p:cNvGrpSpPr/>
            <p:nvPr/>
          </p:nvGrpSpPr>
          <p:grpSpPr>
            <a:xfrm>
              <a:off x="6528619" y="1679327"/>
              <a:ext cx="4825181" cy="3164054"/>
              <a:chOff x="6528619" y="1679327"/>
              <a:chExt cx="4825181" cy="3164054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9C39D043-226E-4E58-CBC2-E0EAA2041F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28619" y="1690688"/>
                <a:ext cx="1140060" cy="1641124"/>
              </a:xfrm>
              <a:prstGeom prst="rect">
                <a:avLst/>
              </a:prstGeom>
            </p:spPr>
          </p:pic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F0C5D11D-187A-62E3-F0E7-868566DF6D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12442" y="1690688"/>
                <a:ext cx="1140060" cy="1641124"/>
              </a:xfrm>
              <a:prstGeom prst="rect">
                <a:avLst/>
              </a:prstGeom>
            </p:spPr>
          </p:pic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15759DCC-F11D-922A-3CBB-A41ADE3EC3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213740" y="1679327"/>
                <a:ext cx="1140060" cy="1641124"/>
              </a:xfrm>
              <a:prstGeom prst="rect">
                <a:avLst/>
              </a:prstGeom>
            </p:spPr>
          </p:pic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3BB796B-ACC9-46ED-605A-B77B96109855}"/>
                  </a:ext>
                </a:extLst>
              </p:cNvPr>
              <p:cNvSpPr txBox="1"/>
              <p:nvPr/>
            </p:nvSpPr>
            <p:spPr>
              <a:xfrm>
                <a:off x="9287542" y="2113936"/>
                <a:ext cx="54373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ym typeface="Symbol" panose="05050102010706020507" pitchFamily="18" charset="2"/>
                  </a:rPr>
                  <a:t></a:t>
                </a:r>
                <a:endParaRPr lang="LID4096" sz="2800" dirty="0"/>
              </a:p>
            </p:txBody>
          </p: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C088664A-0C51-B2C9-4FD2-1247E21EE9B5}"/>
                  </a:ext>
                </a:extLst>
              </p:cNvPr>
              <p:cNvCxnSpPr/>
              <p:nvPr/>
            </p:nvCxnSpPr>
            <p:spPr>
              <a:xfrm>
                <a:off x="6666271" y="3331812"/>
                <a:ext cx="3677264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9741F5E0-9733-47B3-E9F8-B711D3D81EC9}"/>
                  </a:ext>
                </a:extLst>
              </p:cNvPr>
              <p:cNvGrpSpPr/>
              <p:nvPr/>
            </p:nvGrpSpPr>
            <p:grpSpPr>
              <a:xfrm>
                <a:off x="7668679" y="3320451"/>
                <a:ext cx="1769806" cy="761465"/>
                <a:chOff x="7668679" y="3320451"/>
                <a:chExt cx="1769806" cy="761465"/>
              </a:xfrm>
            </p:grpSpPr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023B71A9-7982-A975-EA5C-1E3C66CB6FE7}"/>
                    </a:ext>
                  </a:extLst>
                </p:cNvPr>
                <p:cNvCxnSpPr/>
                <p:nvPr/>
              </p:nvCxnSpPr>
              <p:spPr>
                <a:xfrm>
                  <a:off x="8504903" y="3320451"/>
                  <a:ext cx="0" cy="26832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2C7886DF-1AEC-CA7C-EC61-9418E22B5455}"/>
                    </a:ext>
                  </a:extLst>
                </p:cNvPr>
                <p:cNvSpPr/>
                <p:nvPr/>
              </p:nvSpPr>
              <p:spPr>
                <a:xfrm>
                  <a:off x="7668679" y="3600135"/>
                  <a:ext cx="1769806" cy="481781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Cache</a:t>
                  </a:r>
                  <a:endParaRPr lang="LID4096" dirty="0"/>
                </a:p>
              </p:txBody>
            </p:sp>
          </p:grp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D353450C-1660-8E86-CA37-315B293A1AFA}"/>
                  </a:ext>
                </a:extLst>
              </p:cNvPr>
              <p:cNvGrpSpPr/>
              <p:nvPr/>
            </p:nvGrpSpPr>
            <p:grpSpPr>
              <a:xfrm>
                <a:off x="7668679" y="4081916"/>
                <a:ext cx="1769806" cy="761465"/>
                <a:chOff x="7668679" y="3320451"/>
                <a:chExt cx="1769806" cy="761465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5C06AE5B-DFAD-B18B-9B55-1430025A7B58}"/>
                    </a:ext>
                  </a:extLst>
                </p:cNvPr>
                <p:cNvCxnSpPr/>
                <p:nvPr/>
              </p:nvCxnSpPr>
              <p:spPr>
                <a:xfrm>
                  <a:off x="8504903" y="3320451"/>
                  <a:ext cx="0" cy="268323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028BAA6B-3C7B-6173-C73F-C9F57F673252}"/>
                    </a:ext>
                  </a:extLst>
                </p:cNvPr>
                <p:cNvSpPr/>
                <p:nvPr/>
              </p:nvSpPr>
              <p:spPr>
                <a:xfrm>
                  <a:off x="7668679" y="3600135"/>
                  <a:ext cx="1769806" cy="481781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Memory</a:t>
                  </a:r>
                  <a:endParaRPr lang="LID4096" dirty="0"/>
                </a:p>
              </p:txBody>
            </p:sp>
          </p:grpSp>
        </p:grp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113BA846-1C14-504A-CED1-D5667E0C26D1}"/>
                </a:ext>
              </a:extLst>
            </p:cNvPr>
            <p:cNvSpPr/>
            <p:nvPr/>
          </p:nvSpPr>
          <p:spPr>
            <a:xfrm>
              <a:off x="6322142" y="1248699"/>
              <a:ext cx="5330745" cy="3800628"/>
            </a:xfrm>
            <a:prstGeom prst="round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8588633D-AC93-76E6-16B6-00C330FD9083}"/>
                </a:ext>
              </a:extLst>
            </p:cNvPr>
            <p:cNvGrpSpPr/>
            <p:nvPr/>
          </p:nvGrpSpPr>
          <p:grpSpPr>
            <a:xfrm>
              <a:off x="7295534" y="3775587"/>
              <a:ext cx="363799" cy="2143432"/>
              <a:chOff x="7295534" y="3775587"/>
              <a:chExt cx="363799" cy="2143432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05DE442E-7C40-0D4B-9DF0-ADCE60EF48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25037" y="4627821"/>
                <a:ext cx="334296" cy="0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2580749C-AD10-9960-2B06-4DF614A383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95534" y="3775587"/>
                <a:ext cx="0" cy="2143432"/>
              </a:xfrm>
              <a:prstGeom prst="line">
                <a:avLst/>
              </a:prstGeom>
              <a:ln w="571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E56B6A4-DB52-89EC-B18E-731C8D1E7632}"/>
                </a:ext>
              </a:extLst>
            </p:cNvPr>
            <p:cNvSpPr txBox="1"/>
            <p:nvPr/>
          </p:nvSpPr>
          <p:spPr>
            <a:xfrm>
              <a:off x="8640544" y="1285028"/>
              <a:ext cx="6383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GPU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DD459-A9B4-F45C-92EC-E582CC71C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25C1FEF-07DB-C16B-3220-81B76B096A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1779614"/>
              </p:ext>
            </p:extLst>
          </p:nvPr>
        </p:nvGraphicFramePr>
        <p:xfrm>
          <a:off x="838200" y="1825625"/>
          <a:ext cx="10515597" cy="2564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599148721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4242839965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9556449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Meory</a:t>
                      </a:r>
                      <a:r>
                        <a:rPr lang="en-US" dirty="0"/>
                        <a:t> resource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Conceptual scope/role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8772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 resources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Active work item, subgroup state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 and hardware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3387825"/>
                  </a:ext>
                </a:extLst>
              </a:tr>
              <a:tr h="441366">
                <a:tc>
                  <a:txBody>
                    <a:bodyPr/>
                    <a:lstStyle/>
                    <a:p>
                      <a:r>
                        <a:rPr lang="en-US" dirty="0"/>
                        <a:t>Work-group local scratchpad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Visible to work-group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1496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Hardware-managed local cashes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Accelerate memory access near CU or CU cluster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9772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Device-level cache (L2)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Accessible by all CUs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87202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Device-level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Accessible to all work-groups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Program/runtime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97383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71DB7B-E6E8-5E39-A4B5-019674515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F882DF8-9527-D10A-2AF2-413739E2E949}"/>
              </a:ext>
            </a:extLst>
          </p:cNvPr>
          <p:cNvGrpSpPr/>
          <p:nvPr/>
        </p:nvGrpSpPr>
        <p:grpSpPr>
          <a:xfrm>
            <a:off x="501445" y="2084439"/>
            <a:ext cx="1245391" cy="3279680"/>
            <a:chOff x="501445" y="2084439"/>
            <a:chExt cx="1245391" cy="3279680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1798403-608B-EBAA-E809-7EBE8A0E9304}"/>
                </a:ext>
              </a:extLst>
            </p:cNvPr>
            <p:cNvCxnSpPr>
              <a:cxnSpLocks/>
            </p:cNvCxnSpPr>
            <p:nvPr/>
          </p:nvCxnSpPr>
          <p:spPr>
            <a:xfrm>
              <a:off x="501445" y="2084439"/>
              <a:ext cx="0" cy="3279680"/>
            </a:xfrm>
            <a:prstGeom prst="straightConnector1">
              <a:avLst/>
            </a:prstGeom>
            <a:ln w="38100">
              <a:solidFill>
                <a:srgbClr val="C0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3B8CAF3-BE2E-BDBC-A01D-FFB62BA7EED2}"/>
                </a:ext>
              </a:extLst>
            </p:cNvPr>
            <p:cNvSpPr txBox="1"/>
            <p:nvPr/>
          </p:nvSpPr>
          <p:spPr>
            <a:xfrm>
              <a:off x="639097" y="4784129"/>
              <a:ext cx="110773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FF0000"/>
                  </a:solidFill>
                </a:rPr>
                <a:t>Latency</a:t>
              </a:r>
              <a:endParaRPr lang="LID4096" sz="2000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BCAC19C-E209-222F-16DE-638FA4B4D698}"/>
              </a:ext>
            </a:extLst>
          </p:cNvPr>
          <p:cNvGrpSpPr/>
          <p:nvPr/>
        </p:nvGrpSpPr>
        <p:grpSpPr>
          <a:xfrm>
            <a:off x="10806499" y="2084439"/>
            <a:ext cx="854555" cy="3279680"/>
            <a:chOff x="-353110" y="2084439"/>
            <a:chExt cx="854555" cy="3279680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9108366-57CA-F4F6-5D38-098209971655}"/>
                </a:ext>
              </a:extLst>
            </p:cNvPr>
            <p:cNvCxnSpPr>
              <a:cxnSpLocks/>
            </p:cNvCxnSpPr>
            <p:nvPr/>
          </p:nvCxnSpPr>
          <p:spPr>
            <a:xfrm>
              <a:off x="501445" y="2084439"/>
              <a:ext cx="0" cy="3279680"/>
            </a:xfrm>
            <a:prstGeom prst="straightConnector1">
              <a:avLst/>
            </a:prstGeom>
            <a:ln w="38100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3D2BB83-1275-EA3B-25C5-497C5DB4AD2C}"/>
                </a:ext>
              </a:extLst>
            </p:cNvPr>
            <p:cNvSpPr txBox="1"/>
            <p:nvPr/>
          </p:nvSpPr>
          <p:spPr>
            <a:xfrm>
              <a:off x="-353110" y="4784129"/>
              <a:ext cx="66646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0070C0"/>
                  </a:solidFill>
                </a:rPr>
                <a:t>Size</a:t>
              </a:r>
              <a:endParaRPr lang="LID4096" sz="2000" b="1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4314220-B4DC-E22D-B769-F7FE91D7D3D7}"/>
              </a:ext>
            </a:extLst>
          </p:cNvPr>
          <p:cNvGrpSpPr/>
          <p:nvPr/>
        </p:nvGrpSpPr>
        <p:grpSpPr>
          <a:xfrm>
            <a:off x="1746836" y="4804223"/>
            <a:ext cx="5773681" cy="760032"/>
            <a:chOff x="1628078" y="5790199"/>
            <a:chExt cx="5773681" cy="7600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5D34BD2-E566-8072-4BC3-7564760E03A9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7" name="Graphic 16" descr="Rocket with solid fill">
              <a:extLst>
                <a:ext uri="{FF2B5EF4-FFF2-40B4-BE49-F238E27FC236}">
                  <a16:creationId xmlns:a16="http://schemas.microsoft.com/office/drawing/2014/main" id="{7012293D-C02E-69A1-8627-30067FCEA3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0149C66-B985-05D8-DE8A-F580D03D247E}"/>
              </a:ext>
            </a:extLst>
          </p:cNvPr>
          <p:cNvGrpSpPr/>
          <p:nvPr/>
        </p:nvGrpSpPr>
        <p:grpSpPr>
          <a:xfrm>
            <a:off x="1405464" y="5536567"/>
            <a:ext cx="9797079" cy="1002345"/>
            <a:chOff x="2475571" y="4711545"/>
            <a:chExt cx="9797079" cy="100234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4281021-57EF-3616-E7AD-6799593D8E04}"/>
                </a:ext>
              </a:extLst>
            </p:cNvPr>
            <p:cNvSpPr txBox="1"/>
            <p:nvPr/>
          </p:nvSpPr>
          <p:spPr>
            <a:xfrm>
              <a:off x="2475571" y="5252225"/>
              <a:ext cx="9401035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Registers + scratchpad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resident work-groups, work-items per group</a:t>
              </a:r>
              <a:endParaRPr lang="LID4096" sz="2400" dirty="0"/>
            </a:p>
          </p:txBody>
        </p:sp>
        <p:pic>
          <p:nvPicPr>
            <p:cNvPr id="20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9D8CAE5C-785A-BC28-8914-B94309540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480562" y="4711545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96456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2C80E-80A9-B145-F16E-91CEF679D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8F646-D9FE-9326-0531-71F3DA832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CA4C27-C5F5-22DD-C78D-9C23CC2548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92329" cy="4351338"/>
          </a:xfrm>
        </p:spPr>
        <p:txBody>
          <a:bodyPr/>
          <a:lstStyle/>
          <a:p>
            <a:r>
              <a:rPr lang="en-US" dirty="0"/>
              <a:t>Typically, 4-8 GPUs/node</a:t>
            </a:r>
          </a:p>
          <a:p>
            <a:pPr lvl="1"/>
            <a:r>
              <a:rPr lang="en-US" dirty="0"/>
              <a:t>Connected via GPU interconnect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/>
              <a:t>Nodes connected via high-bandwidth/low-latency network interconnect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995B30-EF3A-8982-843A-6D8969862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EA5E7C2-7C97-8726-8565-55781FDF633D}"/>
              </a:ext>
            </a:extLst>
          </p:cNvPr>
          <p:cNvGrpSpPr/>
          <p:nvPr/>
        </p:nvGrpSpPr>
        <p:grpSpPr>
          <a:xfrm>
            <a:off x="5702710" y="1354907"/>
            <a:ext cx="4279490" cy="3944681"/>
            <a:chOff x="5702710" y="1512222"/>
            <a:chExt cx="4279490" cy="394468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F9918A1-C3C6-6E37-51E6-0F8CE02D18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30529" y="2014731"/>
              <a:ext cx="1598056" cy="132556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41D92B04-97D1-BE2A-23B3-5C71F4F526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08374" y="2014731"/>
              <a:ext cx="1598056" cy="1325563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DAE4EA8-F952-5400-0B07-188BE0B7EB3B}"/>
                </a:ext>
              </a:extLst>
            </p:cNvPr>
            <p:cNvSpPr txBox="1"/>
            <p:nvPr/>
          </p:nvSpPr>
          <p:spPr>
            <a:xfrm>
              <a:off x="7464635" y="2281085"/>
              <a:ext cx="5437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</a:t>
              </a:r>
              <a:endParaRPr lang="LID4096" sz="2800" dirty="0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102241C-A783-90B0-60C7-628CF77CC0B6}"/>
                </a:ext>
              </a:extLst>
            </p:cNvPr>
            <p:cNvCxnSpPr>
              <a:cxnSpLocks/>
            </p:cNvCxnSpPr>
            <p:nvPr/>
          </p:nvCxnSpPr>
          <p:spPr>
            <a:xfrm>
              <a:off x="6145163" y="3340294"/>
              <a:ext cx="2153264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E9100120-EDFA-5A9D-3E4B-C8FF63DCD5F5}"/>
                </a:ext>
              </a:extLst>
            </p:cNvPr>
            <p:cNvSpPr/>
            <p:nvPr/>
          </p:nvSpPr>
          <p:spPr>
            <a:xfrm>
              <a:off x="6784258" y="3689800"/>
              <a:ext cx="1140541" cy="481781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CPU(s)</a:t>
              </a:r>
              <a:endParaRPr lang="LID4096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71C8B58-9147-A294-1DCC-F078BCE84A61}"/>
                </a:ext>
              </a:extLst>
            </p:cNvPr>
            <p:cNvCxnSpPr>
              <a:stCxn id="16" idx="0"/>
            </p:cNvCxnSpPr>
            <p:nvPr/>
          </p:nvCxnSpPr>
          <p:spPr>
            <a:xfrm flipV="1">
              <a:off x="7354529" y="3340294"/>
              <a:ext cx="0" cy="34950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908419C7-9BA6-A1BD-00DA-3436CFC0873E}"/>
                </a:ext>
              </a:extLst>
            </p:cNvPr>
            <p:cNvSpPr/>
            <p:nvPr/>
          </p:nvSpPr>
          <p:spPr>
            <a:xfrm>
              <a:off x="6459793" y="4607431"/>
              <a:ext cx="1789469" cy="481781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Host memory</a:t>
              </a:r>
              <a:endParaRPr lang="LID4096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38DA646-BA1B-F13C-DDED-9545E292BCB4}"/>
                </a:ext>
              </a:extLst>
            </p:cNvPr>
            <p:cNvCxnSpPr>
              <a:stCxn id="20" idx="0"/>
              <a:endCxn id="16" idx="2"/>
            </p:cNvCxnSpPr>
            <p:nvPr/>
          </p:nvCxnSpPr>
          <p:spPr>
            <a:xfrm flipV="1">
              <a:off x="7354528" y="4171581"/>
              <a:ext cx="1" cy="43585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B4E4D18B-8CEC-878A-37C9-445639D8D6F2}"/>
                </a:ext>
              </a:extLst>
            </p:cNvPr>
            <p:cNvSpPr/>
            <p:nvPr/>
          </p:nvSpPr>
          <p:spPr>
            <a:xfrm>
              <a:off x="5702710" y="1533832"/>
              <a:ext cx="4011561" cy="3923071"/>
            </a:xfrm>
            <a:prstGeom prst="roundRect">
              <a:avLst/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758E090-E76A-D622-C991-4B0CE7C5D21D}"/>
                </a:ext>
              </a:extLst>
            </p:cNvPr>
            <p:cNvSpPr txBox="1"/>
            <p:nvPr/>
          </p:nvSpPr>
          <p:spPr>
            <a:xfrm>
              <a:off x="7281893" y="1512222"/>
              <a:ext cx="7264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Node</a:t>
              </a:r>
              <a:endParaRPr lang="LID4096" dirty="0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CB5FDC-5C12-7F7C-814A-2653B1170E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54527" y="3495367"/>
              <a:ext cx="2627673" cy="1968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B11BF9D-2BC6-47D8-E670-74BCC07E3141}"/>
              </a:ext>
            </a:extLst>
          </p:cNvPr>
          <p:cNvGrpSpPr/>
          <p:nvPr/>
        </p:nvGrpSpPr>
        <p:grpSpPr>
          <a:xfrm>
            <a:off x="7249180" y="2025445"/>
            <a:ext cx="2733020" cy="4513467"/>
            <a:chOff x="7249180" y="2025445"/>
            <a:chExt cx="2733020" cy="4513467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8FEEC3E-7131-902E-1193-E652910AF40A}"/>
                </a:ext>
              </a:extLst>
            </p:cNvPr>
            <p:cNvCxnSpPr>
              <a:endCxn id="4" idx="2"/>
            </p:cNvCxnSpPr>
            <p:nvPr/>
          </p:nvCxnSpPr>
          <p:spPr>
            <a:xfrm>
              <a:off x="9982200" y="2025445"/>
              <a:ext cx="0" cy="451346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17C0DE3-64CD-8898-AF8B-3C69941CC493}"/>
                </a:ext>
              </a:extLst>
            </p:cNvPr>
            <p:cNvSpPr txBox="1"/>
            <p:nvPr/>
          </p:nvSpPr>
          <p:spPr>
            <a:xfrm rot="5400000">
              <a:off x="7238920" y="5455642"/>
              <a:ext cx="5437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</a:t>
              </a:r>
              <a:endParaRPr lang="LID4096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3363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E5FFF-DA7D-DFEB-0FCB-51D62A5B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E69612B-9153-A054-B6CE-E2FC4E9BC3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98268209"/>
              </p:ext>
            </p:extLst>
          </p:nvPr>
        </p:nvGraphicFramePr>
        <p:xfrm>
          <a:off x="838200" y="1825625"/>
          <a:ext cx="10515597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6884">
                  <a:extLst>
                    <a:ext uri="{9D8B030D-6E8A-4147-A177-3AD203B41FA5}">
                      <a16:colId xmlns:a16="http://schemas.microsoft.com/office/drawing/2014/main" val="1851655756"/>
                    </a:ext>
                  </a:extLst>
                </a:gridCol>
                <a:gridCol w="4286864">
                  <a:extLst>
                    <a:ext uri="{9D8B030D-6E8A-4147-A177-3AD203B41FA5}">
                      <a16:colId xmlns:a16="http://schemas.microsoft.com/office/drawing/2014/main" val="530205664"/>
                    </a:ext>
                  </a:extLst>
                </a:gridCol>
                <a:gridCol w="3261849">
                  <a:extLst>
                    <a:ext uri="{9D8B030D-6E8A-4147-A177-3AD203B41FA5}">
                      <a16:colId xmlns:a16="http://schemas.microsoft.com/office/drawing/2014/main" val="17904987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Path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Illustrative peak bandwidth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to GPU device memory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7512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device memory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1.5–8 TB/s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5386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to GPU interconnect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300–900 GB/s per GPU, one 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</a:t>
                      </a:r>
                      <a:r>
                        <a:rPr lang="en-US" dirty="0"/>
                        <a:t>0.04–0.6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6250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Host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200–500 GB/s per CPU socket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</a:t>
                      </a:r>
                      <a:r>
                        <a:rPr lang="en-US" dirty="0"/>
                        <a:t>0.05–0.2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03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PCIe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 GB/s (Gen4), 64 GB/s (Gen5) one way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</a:t>
                      </a:r>
                      <a:r>
                        <a:rPr lang="en-US" dirty="0"/>
                        <a:t>0.01–0.04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7642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Interconnect network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12.5–50 GB/s per port, one way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</a:t>
                      </a:r>
                      <a:r>
                        <a:rPr lang="en-US" dirty="0"/>
                        <a:t>0.003–0.03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4706994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C2587-391D-E80B-BBA1-819BE99BB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6ED3C1A-E165-16F8-0948-0A2782D11C0A}"/>
              </a:ext>
            </a:extLst>
          </p:cNvPr>
          <p:cNvGrpSpPr/>
          <p:nvPr/>
        </p:nvGrpSpPr>
        <p:grpSpPr>
          <a:xfrm>
            <a:off x="1435510" y="4514134"/>
            <a:ext cx="3665850" cy="1861881"/>
            <a:chOff x="3539613" y="4630994"/>
            <a:chExt cx="3665850" cy="18618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2F04246-FB7F-BA1F-E653-8239E21D9FEE}"/>
                </a:ext>
              </a:extLst>
            </p:cNvPr>
            <p:cNvSpPr txBox="1"/>
            <p:nvPr/>
          </p:nvSpPr>
          <p:spPr>
            <a:xfrm>
              <a:off x="3539613" y="4630994"/>
              <a:ext cx="3269806" cy="156966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Minimize 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400" dirty="0"/>
                <a:t>Host-GPU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400" dirty="0"/>
                <a:t>GPU-GPU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400" dirty="0"/>
                <a:t>Node-node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43AF169E-8E5C-D4AA-2359-83D8CA52DC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3375" y="570078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5A4B80-1ABE-2ED9-FE74-9DBC1AB3ED60}"/>
              </a:ext>
            </a:extLst>
          </p:cNvPr>
          <p:cNvSpPr txBox="1"/>
          <p:nvPr/>
        </p:nvSpPr>
        <p:spPr>
          <a:xfrm>
            <a:off x="7207045" y="681664"/>
            <a:ext cx="445750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Indicative only: benchmark!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3592407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Programming models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18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express GPU work?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109152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Prebuilt operations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mathematical operations</a:t>
            </a:r>
          </a:p>
          <a:p>
            <a:pPr lvl="1"/>
            <a:r>
              <a:rPr lang="en-US" dirty="0"/>
              <a:t>E.g., matrix multiplications, linear solver</a:t>
            </a:r>
          </a:p>
          <a:p>
            <a:r>
              <a:rPr lang="en-US" dirty="0"/>
              <a:t>Pattern-based programming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parallel patterns &amp; execution policies</a:t>
            </a:r>
          </a:p>
          <a:p>
            <a:pPr lvl="1"/>
            <a:r>
              <a:rPr lang="en-US" dirty="0"/>
              <a:t>E.g., </a:t>
            </a:r>
            <a:r>
              <a:rPr lang="en-US" dirty="0" err="1"/>
              <a:t>Kokkos</a:t>
            </a:r>
            <a:r>
              <a:rPr lang="en-US" dirty="0"/>
              <a:t>: parallel for, reduction, scan</a:t>
            </a:r>
          </a:p>
          <a:p>
            <a:r>
              <a:rPr lang="en-US" dirty="0"/>
              <a:t>Directive-based programming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annotated loops &amp; data environment</a:t>
            </a:r>
          </a:p>
          <a:p>
            <a:pPr lvl="1"/>
            <a:r>
              <a:rPr lang="en-US" dirty="0"/>
              <a:t>E.g., OpenMP target</a:t>
            </a:r>
          </a:p>
          <a:p>
            <a:r>
              <a:rPr lang="en-US" dirty="0"/>
              <a:t>Kernel-oriented programming</a:t>
            </a:r>
            <a:r>
              <a:rPr lang="en-US" dirty="0">
                <a:sym typeface="Symbol" panose="05050102010706020507" pitchFamily="18" charset="2"/>
              </a:rPr>
              <a:t> </a:t>
            </a:r>
            <a:r>
              <a:rPr lang="en-US" dirty="0"/>
              <a:t> explicit kernels, launches, memory, dependencies</a:t>
            </a:r>
          </a:p>
          <a:p>
            <a:pPr lvl="1"/>
            <a:r>
              <a:rPr lang="en-US" dirty="0"/>
              <a:t>E.g., CUDA, HIP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826BD5F-2443-7AB4-6B18-460023BECD95}"/>
              </a:ext>
            </a:extLst>
          </p:cNvPr>
          <p:cNvGrpSpPr/>
          <p:nvPr/>
        </p:nvGrpSpPr>
        <p:grpSpPr>
          <a:xfrm>
            <a:off x="9452367" y="1690688"/>
            <a:ext cx="2544892" cy="4572460"/>
            <a:chOff x="9452367" y="1690688"/>
            <a:chExt cx="2544892" cy="4572460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4894E6BD-0F6C-A1B7-6C85-F38FC1F473D1}"/>
                </a:ext>
              </a:extLst>
            </p:cNvPr>
            <p:cNvCxnSpPr/>
            <p:nvPr/>
          </p:nvCxnSpPr>
          <p:spPr>
            <a:xfrm>
              <a:off x="9452367" y="1690688"/>
              <a:ext cx="0" cy="4572460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1E6D16E-8B5A-ED7D-4BA9-676CA00465A1}"/>
                </a:ext>
              </a:extLst>
            </p:cNvPr>
            <p:cNvSpPr txBox="1"/>
            <p:nvPr/>
          </p:nvSpPr>
          <p:spPr>
            <a:xfrm>
              <a:off x="9549026" y="4835061"/>
              <a:ext cx="244823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More implementation details, more fine-grained control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placement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368" y="3790813"/>
            <a:ext cx="10515600" cy="23861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Making data available</a:t>
            </a:r>
          </a:p>
          <a:p>
            <a:pPr lvl="1"/>
            <a:r>
              <a:rPr lang="en-US" dirty="0"/>
              <a:t>Explicit copy</a:t>
            </a:r>
          </a:p>
          <a:p>
            <a:pPr lvl="1"/>
            <a:r>
              <a:rPr lang="en-US" dirty="0"/>
              <a:t>Run-time managed migration</a:t>
            </a:r>
          </a:p>
          <a:p>
            <a:pPr lvl="1"/>
            <a:r>
              <a:rPr lang="en-US" dirty="0"/>
              <a:t>Coherent direct/remote access</a:t>
            </a:r>
          </a:p>
          <a:p>
            <a:r>
              <a:rPr lang="en-US" dirty="0"/>
              <a:t>Correctness:</a:t>
            </a:r>
            <a:br>
              <a:rPr lang="en-US" dirty="0"/>
            </a:br>
            <a:r>
              <a:rPr lang="en-US" dirty="0"/>
              <a:t>producer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dependency/synchronization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consumer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835812" y="3611426"/>
            <a:ext cx="4306303" cy="1236096"/>
            <a:chOff x="6779941" y="1981708"/>
            <a:chExt cx="4306303" cy="123609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88657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Physical placement</a:t>
              </a:r>
            </a:p>
            <a:p>
              <a:r>
                <a:rPr lang="en-US" sz="2800" dirty="0"/>
                <a:t>influences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520093" y="1981708"/>
              <a:ext cx="566151" cy="566151"/>
            </a:xfrm>
            <a:prstGeom prst="rect">
              <a:avLst/>
            </a:prstGeom>
          </p:spPr>
        </p:pic>
      </p:grp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18C2E28-5205-4A99-8C35-BCFF7BF25C57}"/>
              </a:ext>
            </a:extLst>
          </p:cNvPr>
          <p:cNvSpPr/>
          <p:nvPr/>
        </p:nvSpPr>
        <p:spPr>
          <a:xfrm>
            <a:off x="847837" y="1957304"/>
            <a:ext cx="1140541" cy="48178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CPU</a:t>
            </a:r>
            <a:endParaRPr lang="LID4096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1A2B143-13C3-A523-0B20-8BAD1D9A6E10}"/>
              </a:ext>
            </a:extLst>
          </p:cNvPr>
          <p:cNvSpPr/>
          <p:nvPr/>
        </p:nvSpPr>
        <p:spPr>
          <a:xfrm>
            <a:off x="2622626" y="1870076"/>
            <a:ext cx="1789469" cy="6562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Host-attached memory</a:t>
            </a:r>
            <a:endParaRPr lang="LID4096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0B8E717-008A-A058-AA25-76AD833C06E1}"/>
              </a:ext>
            </a:extLst>
          </p:cNvPr>
          <p:cNvCxnSpPr>
            <a:cxnSpLocks/>
          </p:cNvCxnSpPr>
          <p:nvPr/>
        </p:nvCxnSpPr>
        <p:spPr>
          <a:xfrm flipH="1">
            <a:off x="1988378" y="2154581"/>
            <a:ext cx="634248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D67C01E-C834-07BD-6BBA-82FABBBFF1BB}"/>
              </a:ext>
            </a:extLst>
          </p:cNvPr>
          <p:cNvSpPr/>
          <p:nvPr/>
        </p:nvSpPr>
        <p:spPr>
          <a:xfrm>
            <a:off x="5046343" y="1870076"/>
            <a:ext cx="1789469" cy="65623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Device-local memory</a:t>
            </a:r>
            <a:endParaRPr lang="LID4096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DE77CF-49C0-2C12-D1BA-4F411117EA28}"/>
              </a:ext>
            </a:extLst>
          </p:cNvPr>
          <p:cNvCxnSpPr>
            <a:cxnSpLocks/>
          </p:cNvCxnSpPr>
          <p:nvPr/>
        </p:nvCxnSpPr>
        <p:spPr>
          <a:xfrm flipH="1">
            <a:off x="4412095" y="2198194"/>
            <a:ext cx="634248" cy="0"/>
          </a:xfrm>
          <a:prstGeom prst="line">
            <a:avLst/>
          </a:prstGeom>
          <a:ln>
            <a:headEnd type="stealth" w="lg" len="lg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209ECE4-16B5-81B2-5CEE-02CBF2BB0A80}"/>
              </a:ext>
            </a:extLst>
          </p:cNvPr>
          <p:cNvSpPr/>
          <p:nvPr/>
        </p:nvSpPr>
        <p:spPr>
          <a:xfrm>
            <a:off x="7470059" y="1957304"/>
            <a:ext cx="1140541" cy="48178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GPU</a:t>
            </a:r>
            <a:endParaRPr lang="LID4096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031E85-25F9-D2D9-A3D6-61B303C11BC1}"/>
              </a:ext>
            </a:extLst>
          </p:cNvPr>
          <p:cNvCxnSpPr>
            <a:cxnSpLocks/>
          </p:cNvCxnSpPr>
          <p:nvPr/>
        </p:nvCxnSpPr>
        <p:spPr>
          <a:xfrm>
            <a:off x="6835812" y="2154581"/>
            <a:ext cx="634247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50EDFA0-29F4-7C8C-BE8D-C11369749DA9}"/>
              </a:ext>
            </a:extLst>
          </p:cNvPr>
          <p:cNvSpPr txBox="1"/>
          <p:nvPr/>
        </p:nvSpPr>
        <p:spPr>
          <a:xfrm>
            <a:off x="3873909" y="2665812"/>
            <a:ext cx="1775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 movement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 &amp; index spaces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90683" cy="4351338"/>
          </a:xfrm>
        </p:spPr>
        <p:txBody>
          <a:bodyPr/>
          <a:lstStyle/>
          <a:p>
            <a:r>
              <a:rPr lang="en-US" dirty="0"/>
              <a:t>Define 1-, 2-, or 3-dimensional index space</a:t>
            </a:r>
          </a:p>
          <a:p>
            <a:r>
              <a:rPr lang="en-US" dirty="0"/>
              <a:t>Apply kernel at every point</a:t>
            </a:r>
            <a:br>
              <a:rPr lang="en-US" dirty="0"/>
            </a:br>
            <a:r>
              <a:rPr lang="en-US" dirty="0"/>
              <a:t>= work-item with index</a:t>
            </a:r>
          </a:p>
          <a:p>
            <a:r>
              <a:rPr lang="en-US" dirty="0"/>
              <a:t>Index maps work-item to data or work</a:t>
            </a:r>
          </a:p>
          <a:p>
            <a:r>
              <a:rPr lang="en-US" dirty="0"/>
              <a:t>Runtime maps work-items to available hardware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4C4268-4F01-C3FA-A35F-9D4BB114E3A3}"/>
              </a:ext>
            </a:extLst>
          </p:cNvPr>
          <p:cNvGrpSpPr/>
          <p:nvPr/>
        </p:nvGrpSpPr>
        <p:grpSpPr>
          <a:xfrm>
            <a:off x="8063111" y="3770461"/>
            <a:ext cx="3708023" cy="2403743"/>
            <a:chOff x="8063111" y="3770461"/>
            <a:chExt cx="3708023" cy="2403743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56CBE7CE-B1D3-F8E5-34DF-0FB8E3116A07}"/>
                </a:ext>
              </a:extLst>
            </p:cNvPr>
            <p:cNvGrpSpPr/>
            <p:nvPr/>
          </p:nvGrpSpPr>
          <p:grpSpPr>
            <a:xfrm>
              <a:off x="8063111" y="3770461"/>
              <a:ext cx="3135830" cy="2403743"/>
              <a:chOff x="8063111" y="3770461"/>
              <a:chExt cx="3135830" cy="2403743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03CF71D-4AF6-C8E3-F27D-34C79D5E51DA}"/>
                  </a:ext>
                </a:extLst>
              </p:cNvPr>
              <p:cNvCxnSpPr/>
              <p:nvPr/>
            </p:nvCxnSpPr>
            <p:spPr>
              <a:xfrm>
                <a:off x="8436077" y="5614219"/>
                <a:ext cx="2743200" cy="0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5037F5A9-3D57-9AEB-CF94-B5981D5680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55741" y="3883742"/>
                <a:ext cx="0" cy="1730477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DD18054-3BA2-C1D4-0A02-CAD8736F90FE}"/>
                  </a:ext>
                </a:extLst>
              </p:cNvPr>
              <p:cNvSpPr txBox="1"/>
              <p:nvPr/>
            </p:nvSpPr>
            <p:spPr>
              <a:xfrm>
                <a:off x="10943743" y="5712539"/>
                <a:ext cx="25519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i="1" dirty="0" err="1"/>
                  <a:t>i</a:t>
                </a:r>
                <a:endParaRPr lang="LID4096" sz="2400" i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C9062C-516F-AED9-0AD9-3A2963EA8D5E}"/>
                  </a:ext>
                </a:extLst>
              </p:cNvPr>
              <p:cNvSpPr txBox="1"/>
              <p:nvPr/>
            </p:nvSpPr>
            <p:spPr>
              <a:xfrm>
                <a:off x="8063111" y="3770461"/>
                <a:ext cx="2584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i="1" dirty="0"/>
                  <a:t>j</a:t>
                </a:r>
                <a:endParaRPr lang="LID4096" sz="2400" i="1" dirty="0"/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10405AC-D4A9-DFF9-48B6-DBA13846F4E0}"/>
                </a:ext>
              </a:extLst>
            </p:cNvPr>
            <p:cNvSpPr txBox="1"/>
            <p:nvPr/>
          </p:nvSpPr>
          <p:spPr>
            <a:xfrm>
              <a:off x="9635613" y="4232126"/>
              <a:ext cx="21355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i="1" dirty="0"/>
                <a:t>C</a:t>
              </a:r>
              <a:r>
                <a:rPr lang="en-US" dirty="0"/>
                <a:t>(</a:t>
              </a:r>
              <a:r>
                <a:rPr lang="en-US" i="1" dirty="0" err="1"/>
                <a:t>i</a:t>
              </a:r>
              <a:r>
                <a:rPr lang="en-US" dirty="0"/>
                <a:t>, </a:t>
              </a:r>
              <a:r>
                <a:rPr lang="en-US" i="1" dirty="0"/>
                <a:t>j</a:t>
              </a:r>
              <a:r>
                <a:rPr lang="en-US" dirty="0"/>
                <a:t>) = </a:t>
              </a:r>
              <a:r>
                <a:rPr lang="en-US" i="1" dirty="0"/>
                <a:t>A</a:t>
              </a:r>
              <a:r>
                <a:rPr lang="en-US" dirty="0"/>
                <a:t>(</a:t>
              </a:r>
              <a:r>
                <a:rPr lang="en-US" i="1" dirty="0" err="1"/>
                <a:t>i</a:t>
              </a:r>
              <a:r>
                <a:rPr lang="en-US" dirty="0"/>
                <a:t>, </a:t>
              </a:r>
              <a:r>
                <a:rPr lang="en-US" i="1" dirty="0"/>
                <a:t>j</a:t>
              </a:r>
              <a:r>
                <a:rPr lang="en-US" dirty="0"/>
                <a:t>) + </a:t>
              </a:r>
              <a:r>
                <a:rPr lang="en-US" i="1" dirty="0"/>
                <a:t>B</a:t>
              </a:r>
              <a:r>
                <a:rPr lang="en-US" dirty="0"/>
                <a:t>(</a:t>
              </a:r>
              <a:r>
                <a:rPr lang="en-US" i="1" dirty="0" err="1"/>
                <a:t>i</a:t>
              </a:r>
              <a:r>
                <a:rPr lang="en-US" dirty="0"/>
                <a:t>, </a:t>
              </a:r>
              <a:r>
                <a:rPr lang="en-US" i="1" dirty="0"/>
                <a:t>j</a:t>
              </a:r>
              <a:r>
                <a:rPr lang="en-US" dirty="0"/>
                <a:t>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Work-items &amp; cooperation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17057" cy="4351338"/>
          </a:xfrm>
        </p:spPr>
        <p:txBody>
          <a:bodyPr>
            <a:normAutofit/>
          </a:bodyPr>
          <a:lstStyle/>
          <a:p>
            <a:r>
              <a:rPr lang="en-US" dirty="0"/>
              <a:t>Global index space partitioned into work-groups</a:t>
            </a:r>
          </a:p>
          <a:p>
            <a:pPr lvl="1"/>
            <a:r>
              <a:rPr lang="en-US" dirty="0"/>
              <a:t>Work-groups made up of work-items</a:t>
            </a:r>
          </a:p>
          <a:p>
            <a:r>
              <a:rPr lang="en-US" dirty="0"/>
              <a:t>Work-items have</a:t>
            </a:r>
          </a:p>
          <a:p>
            <a:pPr lvl="1"/>
            <a:r>
              <a:rPr lang="en-US" dirty="0"/>
              <a:t>Work-group index</a:t>
            </a:r>
          </a:p>
          <a:p>
            <a:pPr lvl="1"/>
            <a:r>
              <a:rPr lang="en-US" dirty="0"/>
              <a:t>Work-group local index</a:t>
            </a:r>
          </a:p>
          <a:p>
            <a:r>
              <a:rPr lang="en-US" dirty="0"/>
              <a:t>Work-items in work-group can cooperate</a:t>
            </a:r>
          </a:p>
          <a:p>
            <a:pPr lvl="1"/>
            <a:r>
              <a:rPr lang="en-US" dirty="0"/>
              <a:t>Synchronization/barriers</a:t>
            </a:r>
          </a:p>
          <a:p>
            <a:pPr lvl="1"/>
            <a:r>
              <a:rPr lang="en-US" dirty="0"/>
              <a:t>Local scratchpad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255EE56-4EE1-53CF-A36F-6B16AB6BE50E}"/>
              </a:ext>
            </a:extLst>
          </p:cNvPr>
          <p:cNvGrpSpPr/>
          <p:nvPr/>
        </p:nvGrpSpPr>
        <p:grpSpPr>
          <a:xfrm>
            <a:off x="8217970" y="1825625"/>
            <a:ext cx="3135830" cy="2403743"/>
            <a:chOff x="1436169" y="1624167"/>
            <a:chExt cx="3135830" cy="240374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8691BA42-B026-E091-53E7-17474CFCF962}"/>
                </a:ext>
              </a:extLst>
            </p:cNvPr>
            <p:cNvGrpSpPr/>
            <p:nvPr/>
          </p:nvGrpSpPr>
          <p:grpSpPr>
            <a:xfrm>
              <a:off x="1436169" y="1624167"/>
              <a:ext cx="3135830" cy="2403743"/>
              <a:chOff x="8063111" y="3770461"/>
              <a:chExt cx="3135830" cy="2403743"/>
            </a:xfrm>
          </p:grpSpPr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ABA37B7-4030-76BD-D0AA-1EC5BF02FD25}"/>
                  </a:ext>
                </a:extLst>
              </p:cNvPr>
              <p:cNvCxnSpPr/>
              <p:nvPr/>
            </p:nvCxnSpPr>
            <p:spPr>
              <a:xfrm>
                <a:off x="8436077" y="5614219"/>
                <a:ext cx="2743200" cy="0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5B8AC25-F383-9DCC-7D4D-1022AC6C5EC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55741" y="3883742"/>
                <a:ext cx="0" cy="1730477"/>
              </a:xfrm>
              <a:prstGeom prst="straightConnector1">
                <a:avLst/>
              </a:prstGeom>
              <a:ln w="34925"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D4736A1-5E85-D3F7-BD6C-7AE8CCC33BA3}"/>
                  </a:ext>
                </a:extLst>
              </p:cNvPr>
              <p:cNvSpPr txBox="1"/>
              <p:nvPr/>
            </p:nvSpPr>
            <p:spPr>
              <a:xfrm>
                <a:off x="10943743" y="5712539"/>
                <a:ext cx="25519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i="1" dirty="0" err="1"/>
                  <a:t>i</a:t>
                </a:r>
                <a:endParaRPr lang="LID4096" sz="2400" i="1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1567A2-2EFF-67F0-3AC1-8C2CB296C9C9}"/>
                  </a:ext>
                </a:extLst>
              </p:cNvPr>
              <p:cNvSpPr txBox="1"/>
              <p:nvPr/>
            </p:nvSpPr>
            <p:spPr>
              <a:xfrm>
                <a:off x="8063111" y="3770461"/>
                <a:ext cx="2584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i="1" dirty="0"/>
                  <a:t>j</a:t>
                </a:r>
                <a:endParaRPr lang="LID4096" sz="2400" i="1" dirty="0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FF999BD5-18E9-44A1-47AA-67F477B756AD}"/>
                </a:ext>
              </a:extLst>
            </p:cNvPr>
            <p:cNvGrpSpPr/>
            <p:nvPr/>
          </p:nvGrpSpPr>
          <p:grpSpPr>
            <a:xfrm>
              <a:off x="1897627" y="2930011"/>
              <a:ext cx="2202428" cy="469085"/>
              <a:chOff x="1897627" y="2930011"/>
              <a:chExt cx="2202428" cy="469085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16E27AF-3133-28A3-C3FE-83F2AE26CF3E}"/>
                  </a:ext>
                </a:extLst>
              </p:cNvPr>
              <p:cNvSpPr/>
              <p:nvPr/>
            </p:nvSpPr>
            <p:spPr>
              <a:xfrm>
                <a:off x="1897627" y="2930011"/>
                <a:ext cx="707922" cy="46908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288D352-A040-6B12-6339-80AF8E1BA79A}"/>
                  </a:ext>
                </a:extLst>
              </p:cNvPr>
              <p:cNvSpPr/>
              <p:nvPr/>
            </p:nvSpPr>
            <p:spPr>
              <a:xfrm>
                <a:off x="2644880" y="2930011"/>
                <a:ext cx="707922" cy="46908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24A2C61F-9EF3-BC2E-D410-88281283DBF0}"/>
                  </a:ext>
                </a:extLst>
              </p:cNvPr>
              <p:cNvSpPr/>
              <p:nvPr/>
            </p:nvSpPr>
            <p:spPr>
              <a:xfrm>
                <a:off x="3392133" y="2930011"/>
                <a:ext cx="707922" cy="46908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0D770E19-969C-FE23-3BFF-92E171BDFB1B}"/>
                </a:ext>
              </a:extLst>
            </p:cNvPr>
            <p:cNvGrpSpPr/>
            <p:nvPr/>
          </p:nvGrpSpPr>
          <p:grpSpPr>
            <a:xfrm>
              <a:off x="1897627" y="2421598"/>
              <a:ext cx="2202428" cy="469085"/>
              <a:chOff x="1897627" y="2930011"/>
              <a:chExt cx="2202428" cy="469085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DDE96511-40F2-35C3-20CD-51CAF9D6BEE9}"/>
                  </a:ext>
                </a:extLst>
              </p:cNvPr>
              <p:cNvSpPr/>
              <p:nvPr/>
            </p:nvSpPr>
            <p:spPr>
              <a:xfrm>
                <a:off x="1897627" y="2930011"/>
                <a:ext cx="707922" cy="46908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E6DDB03-ADA4-9633-E044-38F2FD1FEDFB}"/>
                  </a:ext>
                </a:extLst>
              </p:cNvPr>
              <p:cNvSpPr/>
              <p:nvPr/>
            </p:nvSpPr>
            <p:spPr>
              <a:xfrm>
                <a:off x="2644880" y="2930011"/>
                <a:ext cx="707922" cy="46908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A79245C-1F8D-AEB7-2D72-7B1459AB7269}"/>
                  </a:ext>
                </a:extLst>
              </p:cNvPr>
              <p:cNvSpPr/>
              <p:nvPr/>
            </p:nvSpPr>
            <p:spPr>
              <a:xfrm>
                <a:off x="3392133" y="2930011"/>
                <a:ext cx="707922" cy="46908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C6B2880D-EDCE-12BD-A76D-0008983180DA}"/>
              </a:ext>
            </a:extLst>
          </p:cNvPr>
          <p:cNvSpPr txBox="1"/>
          <p:nvPr/>
        </p:nvSpPr>
        <p:spPr>
          <a:xfrm>
            <a:off x="8177592" y="4470671"/>
            <a:ext cx="356988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Query device for </a:t>
            </a:r>
            <a:r>
              <a:rPr lang="en-US" sz="2400" dirty="0" err="1"/>
              <a:t>imits</a:t>
            </a:r>
            <a:r>
              <a:rPr lang="en-US" sz="2400" dirty="0"/>
              <a:t> 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work-items/work-group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number of work-groups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execution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05026" cy="4351338"/>
          </a:xfrm>
        </p:spPr>
        <p:txBody>
          <a:bodyPr>
            <a:normAutofit/>
          </a:bodyPr>
          <a:lstStyle/>
          <a:p>
            <a:r>
              <a:rPr lang="en-US" dirty="0"/>
              <a:t>Runtime: work-groups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compute units</a:t>
            </a:r>
          </a:p>
          <a:p>
            <a:pPr lvl="1"/>
            <a:r>
              <a:rPr lang="en-US" dirty="0"/>
              <a:t>Work-groups are independent</a:t>
            </a:r>
          </a:p>
          <a:p>
            <a:pPr lvl="1"/>
            <a:r>
              <a:rPr lang="en-US" dirty="0"/>
              <a:t>Assigned work-groups are resident</a:t>
            </a:r>
          </a:p>
          <a:p>
            <a:pPr lvl="2"/>
            <a:r>
              <a:rPr lang="en-US" dirty="0"/>
              <a:t>Constrained by register resources, local scratchpad</a:t>
            </a:r>
          </a:p>
          <a:p>
            <a:r>
              <a:rPr lang="en-US" dirty="0"/>
              <a:t>Execution subgroups</a:t>
            </a:r>
          </a:p>
          <a:p>
            <a:pPr lvl="1"/>
            <a:r>
              <a:rPr lang="en-US" dirty="0"/>
              <a:t>Ready</a:t>
            </a:r>
          </a:p>
          <a:p>
            <a:pPr lvl="1"/>
            <a:r>
              <a:rPr lang="en-US" dirty="0"/>
              <a:t>Selected</a:t>
            </a:r>
          </a:p>
          <a:p>
            <a:pPr lvl="1"/>
            <a:r>
              <a:rPr lang="en-US" dirty="0"/>
              <a:t>Waiting for data, synchronization, long-latency instruction, pipeline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049136" y="600658"/>
            <a:ext cx="4787464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Many subgroups/work-groups</a:t>
            </a:r>
            <a:br>
              <a:rPr lang="en-US" sz="2800" dirty="0"/>
            </a:b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11397F79-2597-0105-EF0A-C321811A474F}"/>
              </a:ext>
            </a:extLst>
          </p:cNvPr>
          <p:cNvGrpSpPr/>
          <p:nvPr/>
        </p:nvGrpSpPr>
        <p:grpSpPr>
          <a:xfrm>
            <a:off x="6930710" y="2912147"/>
            <a:ext cx="1426416" cy="1846439"/>
            <a:chOff x="6930710" y="2912147"/>
            <a:chExt cx="1426416" cy="1846439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A892E1C4-1144-AA78-B2A0-C1536C1E0F56}"/>
                </a:ext>
              </a:extLst>
            </p:cNvPr>
            <p:cNvGrpSpPr/>
            <p:nvPr/>
          </p:nvGrpSpPr>
          <p:grpSpPr>
            <a:xfrm>
              <a:off x="7175939" y="2912147"/>
              <a:ext cx="826383" cy="899651"/>
              <a:chOff x="1065853" y="3588774"/>
              <a:chExt cx="826383" cy="899651"/>
            </a:xfrm>
          </p:grpSpPr>
          <p:sp>
            <p:nvSpPr>
              <p:cNvPr id="6" name="Rectangle: Folded Corner 5">
                <a:extLst>
                  <a:ext uri="{FF2B5EF4-FFF2-40B4-BE49-F238E27FC236}">
                    <a16:creationId xmlns:a16="http://schemas.microsoft.com/office/drawing/2014/main" id="{B8730FA6-5BD0-2933-89A9-895C6686AF5E}"/>
                  </a:ext>
                </a:extLst>
              </p:cNvPr>
              <p:cNvSpPr/>
              <p:nvPr/>
            </p:nvSpPr>
            <p:spPr>
              <a:xfrm>
                <a:off x="1258529" y="3588774"/>
                <a:ext cx="275303" cy="275303"/>
              </a:xfrm>
              <a:prstGeom prst="foldedCorner">
                <a:avLst/>
              </a:prstGeom>
            </p:spPr>
            <p:style>
              <a:lnRef idx="3">
                <a:schemeClr val="lt1"/>
              </a:lnRef>
              <a:fillRef idx="1">
                <a:schemeClr val="dk1"/>
              </a:fillRef>
              <a:effectRef idx="1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9" name="Rectangle: Folded Corner 8">
                <a:extLst>
                  <a:ext uri="{FF2B5EF4-FFF2-40B4-BE49-F238E27FC236}">
                    <a16:creationId xmlns:a16="http://schemas.microsoft.com/office/drawing/2014/main" id="{F3602393-A738-4B4F-9F81-235ADD8157D2}"/>
                  </a:ext>
                </a:extLst>
              </p:cNvPr>
              <p:cNvSpPr/>
              <p:nvPr/>
            </p:nvSpPr>
            <p:spPr>
              <a:xfrm>
                <a:off x="1410929" y="3741174"/>
                <a:ext cx="275303" cy="275303"/>
              </a:xfrm>
              <a:prstGeom prst="foldedCorner">
                <a:avLst/>
              </a:prstGeom>
            </p:spPr>
            <p:style>
              <a:lnRef idx="3">
                <a:schemeClr val="lt1"/>
              </a:lnRef>
              <a:fillRef idx="1">
                <a:schemeClr val="dk1"/>
              </a:fillRef>
              <a:effectRef idx="1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1" name="Rectangle: Folded Corner 10">
                <a:extLst>
                  <a:ext uri="{FF2B5EF4-FFF2-40B4-BE49-F238E27FC236}">
                    <a16:creationId xmlns:a16="http://schemas.microsoft.com/office/drawing/2014/main" id="{1591B0F5-F231-5074-B605-2ABF879D52F6}"/>
                  </a:ext>
                </a:extLst>
              </p:cNvPr>
              <p:cNvSpPr/>
              <p:nvPr/>
            </p:nvSpPr>
            <p:spPr>
              <a:xfrm>
                <a:off x="1563329" y="3893574"/>
                <a:ext cx="275303" cy="275303"/>
              </a:xfrm>
              <a:prstGeom prst="foldedCorner">
                <a:avLst/>
              </a:prstGeom>
            </p:spPr>
            <p:style>
              <a:lnRef idx="3">
                <a:schemeClr val="lt1"/>
              </a:lnRef>
              <a:fillRef idx="1">
                <a:schemeClr val="dk1"/>
              </a:fillRef>
              <a:effectRef idx="1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3" name="Rectangle: Folded Corner 12">
                <a:extLst>
                  <a:ext uri="{FF2B5EF4-FFF2-40B4-BE49-F238E27FC236}">
                    <a16:creationId xmlns:a16="http://schemas.microsoft.com/office/drawing/2014/main" id="{D6A5C44D-F40F-9CD2-0C9C-519C7AA6AFC4}"/>
                  </a:ext>
                </a:extLst>
              </p:cNvPr>
              <p:cNvSpPr/>
              <p:nvPr/>
            </p:nvSpPr>
            <p:spPr>
              <a:xfrm>
                <a:off x="1464533" y="4060722"/>
                <a:ext cx="275303" cy="275303"/>
              </a:xfrm>
              <a:prstGeom prst="foldedCorner">
                <a:avLst/>
              </a:prstGeom>
            </p:spPr>
            <p:style>
              <a:lnRef idx="3">
                <a:schemeClr val="lt1"/>
              </a:lnRef>
              <a:fillRef idx="1">
                <a:schemeClr val="dk1"/>
              </a:fillRef>
              <a:effectRef idx="1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5" name="Rectangle: Folded Corner 14">
                <a:extLst>
                  <a:ext uri="{FF2B5EF4-FFF2-40B4-BE49-F238E27FC236}">
                    <a16:creationId xmlns:a16="http://schemas.microsoft.com/office/drawing/2014/main" id="{56DCA4C6-B584-D877-EB22-2ABC51CD036D}"/>
                  </a:ext>
                </a:extLst>
              </p:cNvPr>
              <p:cNvSpPr/>
              <p:nvPr/>
            </p:nvSpPr>
            <p:spPr>
              <a:xfrm>
                <a:off x="1189230" y="3893574"/>
                <a:ext cx="275303" cy="275303"/>
              </a:xfrm>
              <a:prstGeom prst="foldedCorner">
                <a:avLst/>
              </a:prstGeom>
            </p:spPr>
            <p:style>
              <a:lnRef idx="3">
                <a:schemeClr val="lt1"/>
              </a:lnRef>
              <a:fillRef idx="1">
                <a:schemeClr val="dk1"/>
              </a:fillRef>
              <a:effectRef idx="1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7" name="Rectangle: Folded Corner 16">
                <a:extLst>
                  <a:ext uri="{FF2B5EF4-FFF2-40B4-BE49-F238E27FC236}">
                    <a16:creationId xmlns:a16="http://schemas.microsoft.com/office/drawing/2014/main" id="{1651B3A7-47B4-4C9E-1102-9A4FBE5A848F}"/>
                  </a:ext>
                </a:extLst>
              </p:cNvPr>
              <p:cNvSpPr/>
              <p:nvPr/>
            </p:nvSpPr>
            <p:spPr>
              <a:xfrm>
                <a:off x="1616933" y="4213122"/>
                <a:ext cx="275303" cy="275303"/>
              </a:xfrm>
              <a:prstGeom prst="foldedCorner">
                <a:avLst/>
              </a:prstGeom>
            </p:spPr>
            <p:style>
              <a:lnRef idx="3">
                <a:schemeClr val="lt1"/>
              </a:lnRef>
              <a:fillRef idx="1">
                <a:schemeClr val="dk1"/>
              </a:fillRef>
              <a:effectRef idx="1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9" name="Rectangle: Folded Corner 18">
                <a:extLst>
                  <a:ext uri="{FF2B5EF4-FFF2-40B4-BE49-F238E27FC236}">
                    <a16:creationId xmlns:a16="http://schemas.microsoft.com/office/drawing/2014/main" id="{6109A983-2372-EC0B-5CC6-8EB871B0DA5C}"/>
                  </a:ext>
                </a:extLst>
              </p:cNvPr>
              <p:cNvSpPr/>
              <p:nvPr/>
            </p:nvSpPr>
            <p:spPr>
              <a:xfrm>
                <a:off x="1277720" y="4168877"/>
                <a:ext cx="275303" cy="275303"/>
              </a:xfrm>
              <a:prstGeom prst="foldedCorner">
                <a:avLst/>
              </a:prstGeom>
            </p:spPr>
            <p:style>
              <a:lnRef idx="3">
                <a:schemeClr val="lt1"/>
              </a:lnRef>
              <a:fillRef idx="1">
                <a:schemeClr val="dk1"/>
              </a:fillRef>
              <a:effectRef idx="1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21" name="Rectangle: Folded Corner 20">
                <a:extLst>
                  <a:ext uri="{FF2B5EF4-FFF2-40B4-BE49-F238E27FC236}">
                    <a16:creationId xmlns:a16="http://schemas.microsoft.com/office/drawing/2014/main" id="{2DFD9C13-EBA2-68C8-5A80-76948A1E3465}"/>
                  </a:ext>
                </a:extLst>
              </p:cNvPr>
              <p:cNvSpPr/>
              <p:nvPr/>
            </p:nvSpPr>
            <p:spPr>
              <a:xfrm>
                <a:off x="1065853" y="4036141"/>
                <a:ext cx="275303" cy="275303"/>
              </a:xfrm>
              <a:prstGeom prst="foldedCorner">
                <a:avLst/>
              </a:prstGeom>
            </p:spPr>
            <p:style>
              <a:lnRef idx="3">
                <a:schemeClr val="lt1"/>
              </a:lnRef>
              <a:fillRef idx="1">
                <a:schemeClr val="dk1"/>
              </a:fillRef>
              <a:effectRef idx="1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64ABD21-FEA2-E90B-26BF-67F83C8D69DA}"/>
                </a:ext>
              </a:extLst>
            </p:cNvPr>
            <p:cNvSpPr txBox="1"/>
            <p:nvPr/>
          </p:nvSpPr>
          <p:spPr>
            <a:xfrm>
              <a:off x="6930710" y="4112255"/>
              <a:ext cx="142641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Queued</a:t>
              </a:r>
              <a:br>
                <a:rPr lang="en-US" dirty="0"/>
              </a:br>
              <a:r>
                <a:rPr lang="en-US" dirty="0"/>
                <a:t>work-groups</a:t>
              </a:r>
              <a:endParaRPr lang="LID4096" dirty="0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5082E55-79C3-7866-D61D-6319477EC09D}"/>
              </a:ext>
            </a:extLst>
          </p:cNvPr>
          <p:cNvGrpSpPr/>
          <p:nvPr/>
        </p:nvGrpSpPr>
        <p:grpSpPr>
          <a:xfrm>
            <a:off x="8219473" y="2410784"/>
            <a:ext cx="1979976" cy="2084826"/>
            <a:chOff x="8219473" y="2410784"/>
            <a:chExt cx="1979976" cy="2084826"/>
          </a:xfrm>
        </p:grpSpPr>
        <p:pic>
          <p:nvPicPr>
            <p:cNvPr id="52" name="Graphic 51" descr="Gears outline">
              <a:extLst>
                <a:ext uri="{FF2B5EF4-FFF2-40B4-BE49-F238E27FC236}">
                  <a16:creationId xmlns:a16="http://schemas.microsoft.com/office/drawing/2014/main" id="{14896F57-0837-807B-7C5B-22745AE0CDA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800907" y="2897398"/>
              <a:ext cx="914400" cy="914400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A74E839-F075-7277-5358-ABA402AF3B77}"/>
                </a:ext>
              </a:extLst>
            </p:cNvPr>
            <p:cNvSpPr txBox="1"/>
            <p:nvPr/>
          </p:nvSpPr>
          <p:spPr>
            <a:xfrm>
              <a:off x="8742146" y="4126278"/>
              <a:ext cx="10281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Runtime</a:t>
              </a:r>
              <a:endParaRPr lang="LID4096" dirty="0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430B9626-F390-3A60-34BB-1C1964C224A6}"/>
                </a:ext>
              </a:extLst>
            </p:cNvPr>
            <p:cNvCxnSpPr/>
            <p:nvPr/>
          </p:nvCxnSpPr>
          <p:spPr>
            <a:xfrm>
              <a:off x="8219473" y="3402726"/>
              <a:ext cx="541068" cy="0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A7E9BC14-F38F-212D-CD54-5A89FAEC0B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04576" y="2410784"/>
              <a:ext cx="694873" cy="501363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3580A2EA-C2EA-FDA7-4DCE-B969749026DC}"/>
                </a:ext>
              </a:extLst>
            </p:cNvPr>
            <p:cNvCxnSpPr>
              <a:cxnSpLocks/>
            </p:cNvCxnSpPr>
            <p:nvPr/>
          </p:nvCxnSpPr>
          <p:spPr>
            <a:xfrm>
              <a:off x="9504575" y="3829537"/>
              <a:ext cx="694873" cy="501363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FDB307E-0371-7E82-D9CE-E5060158E7A5}"/>
              </a:ext>
            </a:extLst>
          </p:cNvPr>
          <p:cNvGrpSpPr/>
          <p:nvPr/>
        </p:nvGrpSpPr>
        <p:grpSpPr>
          <a:xfrm>
            <a:off x="10060470" y="987389"/>
            <a:ext cx="1665392" cy="5322902"/>
            <a:chOff x="10060470" y="987389"/>
            <a:chExt cx="1665392" cy="532290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8695C9-0C06-366E-76F7-D51066211BE9}"/>
                </a:ext>
              </a:extLst>
            </p:cNvPr>
            <p:cNvSpPr txBox="1"/>
            <p:nvPr/>
          </p:nvSpPr>
          <p:spPr>
            <a:xfrm rot="16200000">
              <a:off x="10646945" y="3171894"/>
              <a:ext cx="4924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sym typeface="Symbol" panose="05050102010706020507" pitchFamily="18" charset="2"/>
                </a:rPr>
                <a:t></a:t>
              </a:r>
              <a:endParaRPr lang="LID4096" sz="2400" b="1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B54C23B-9DB2-CDDD-8774-8A9391404143}"/>
                </a:ext>
              </a:extLst>
            </p:cNvPr>
            <p:cNvSpPr txBox="1"/>
            <p:nvPr/>
          </p:nvSpPr>
          <p:spPr>
            <a:xfrm>
              <a:off x="10060470" y="5940959"/>
              <a:ext cx="16653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Compute units</a:t>
              </a:r>
              <a:endParaRPr lang="LID4096" dirty="0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6E04BF08-FD44-DF57-0E05-7532E8B0518F}"/>
                </a:ext>
              </a:extLst>
            </p:cNvPr>
            <p:cNvGrpSpPr/>
            <p:nvPr/>
          </p:nvGrpSpPr>
          <p:grpSpPr>
            <a:xfrm>
              <a:off x="10284543" y="987389"/>
              <a:ext cx="1217249" cy="2052827"/>
              <a:chOff x="10284543" y="987389"/>
              <a:chExt cx="1217249" cy="2052827"/>
            </a:xfrm>
          </p:grpSpPr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AFF68FA9-5EDD-E8A4-1CB1-7774FFDFAC92}"/>
                  </a:ext>
                </a:extLst>
              </p:cNvPr>
              <p:cNvGrpSpPr/>
              <p:nvPr/>
            </p:nvGrpSpPr>
            <p:grpSpPr>
              <a:xfrm>
                <a:off x="10284543" y="987389"/>
                <a:ext cx="1217249" cy="2052827"/>
                <a:chOff x="3490452" y="3429000"/>
                <a:chExt cx="1217249" cy="2052827"/>
              </a:xfrm>
            </p:grpSpPr>
            <p:sp>
              <p:nvSpPr>
                <p:cNvPr id="24" name="Rectangle: Folded Corner 23">
                  <a:extLst>
                    <a:ext uri="{FF2B5EF4-FFF2-40B4-BE49-F238E27FC236}">
                      <a16:creationId xmlns:a16="http://schemas.microsoft.com/office/drawing/2014/main" id="{47219AEF-D327-CCBF-2B81-21491377584A}"/>
                    </a:ext>
                  </a:extLst>
                </p:cNvPr>
                <p:cNvSpPr/>
                <p:nvPr/>
              </p:nvSpPr>
              <p:spPr>
                <a:xfrm>
                  <a:off x="3685673" y="3547298"/>
                  <a:ext cx="275303" cy="275303"/>
                </a:xfrm>
                <a:prstGeom prst="foldedCorner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26" name="Rectangle: Folded Corner 25">
                  <a:extLst>
                    <a:ext uri="{FF2B5EF4-FFF2-40B4-BE49-F238E27FC236}">
                      <a16:creationId xmlns:a16="http://schemas.microsoft.com/office/drawing/2014/main" id="{56F0EAE6-E4F1-67FB-657E-6D94CAFE58DE}"/>
                    </a:ext>
                  </a:extLst>
                </p:cNvPr>
                <p:cNvSpPr/>
                <p:nvPr/>
              </p:nvSpPr>
              <p:spPr>
                <a:xfrm>
                  <a:off x="3685673" y="3921772"/>
                  <a:ext cx="275303" cy="275303"/>
                </a:xfrm>
                <a:prstGeom prst="foldedCorner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28" name="Rectangle: Folded Corner 27">
                  <a:extLst>
                    <a:ext uri="{FF2B5EF4-FFF2-40B4-BE49-F238E27FC236}">
                      <a16:creationId xmlns:a16="http://schemas.microsoft.com/office/drawing/2014/main" id="{3F29A273-3AAE-2BB7-5909-6D2E462C13E6}"/>
                    </a:ext>
                  </a:extLst>
                </p:cNvPr>
                <p:cNvSpPr/>
                <p:nvPr/>
              </p:nvSpPr>
              <p:spPr>
                <a:xfrm>
                  <a:off x="3685673" y="4670720"/>
                  <a:ext cx="275303" cy="275303"/>
                </a:xfrm>
                <a:prstGeom prst="foldedCorner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0" name="Rectangle: Folded Corner 29">
                  <a:extLst>
                    <a:ext uri="{FF2B5EF4-FFF2-40B4-BE49-F238E27FC236}">
                      <a16:creationId xmlns:a16="http://schemas.microsoft.com/office/drawing/2014/main" id="{6176ADAB-FF0C-886E-4D8C-0D98F68C5EFF}"/>
                    </a:ext>
                  </a:extLst>
                </p:cNvPr>
                <p:cNvSpPr/>
                <p:nvPr/>
              </p:nvSpPr>
              <p:spPr>
                <a:xfrm>
                  <a:off x="3685673" y="4296246"/>
                  <a:ext cx="275303" cy="275303"/>
                </a:xfrm>
                <a:prstGeom prst="foldedCorner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2" name="Rectangle: Folded Corner 31">
                  <a:extLst>
                    <a:ext uri="{FF2B5EF4-FFF2-40B4-BE49-F238E27FC236}">
                      <a16:creationId xmlns:a16="http://schemas.microsoft.com/office/drawing/2014/main" id="{A07161C6-C62E-CAF7-2095-AA7194DBC6C4}"/>
                    </a:ext>
                  </a:extLst>
                </p:cNvPr>
                <p:cNvSpPr/>
                <p:nvPr/>
              </p:nvSpPr>
              <p:spPr>
                <a:xfrm>
                  <a:off x="3685673" y="5045194"/>
                  <a:ext cx="275303" cy="275303"/>
                </a:xfrm>
                <a:prstGeom prst="foldedCorner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3" name="Rectangle: Rounded Corners 32">
                  <a:extLst>
                    <a:ext uri="{FF2B5EF4-FFF2-40B4-BE49-F238E27FC236}">
                      <a16:creationId xmlns:a16="http://schemas.microsoft.com/office/drawing/2014/main" id="{DC24A32C-4995-D8DF-82B4-A913B7EAB1CE}"/>
                    </a:ext>
                  </a:extLst>
                </p:cNvPr>
                <p:cNvSpPr/>
                <p:nvPr/>
              </p:nvSpPr>
              <p:spPr>
                <a:xfrm>
                  <a:off x="3490452" y="3429000"/>
                  <a:ext cx="1217249" cy="2052827"/>
                </a:xfrm>
                <a:prstGeom prst="roundRect">
                  <a:avLst/>
                </a:prstGeom>
                <a:noFill/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35" name="Rectangle: Folded Corner 34">
                  <a:extLst>
                    <a:ext uri="{FF2B5EF4-FFF2-40B4-BE49-F238E27FC236}">
                      <a16:creationId xmlns:a16="http://schemas.microsoft.com/office/drawing/2014/main" id="{33031784-1432-B3E3-CAD9-91FB430C4902}"/>
                    </a:ext>
                  </a:extLst>
                </p:cNvPr>
                <p:cNvSpPr/>
                <p:nvPr/>
              </p:nvSpPr>
              <p:spPr>
                <a:xfrm>
                  <a:off x="3676315" y="4295662"/>
                  <a:ext cx="275303" cy="275303"/>
                </a:xfrm>
                <a:prstGeom prst="foldedCorner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pic>
            <p:nvPicPr>
              <p:cNvPr id="63" name="Graphic 62" descr="Gears outline">
                <a:extLst>
                  <a:ext uri="{FF2B5EF4-FFF2-40B4-BE49-F238E27FC236}">
                    <a16:creationId xmlns:a16="http://schemas.microsoft.com/office/drawing/2014/main" id="{FA9E4072-9638-0A5C-CCFF-B17A23311D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1008283" y="1789991"/>
                <a:ext cx="493509" cy="493509"/>
              </a:xfrm>
              <a:prstGeom prst="rect">
                <a:avLst/>
              </a:prstGeom>
            </p:spPr>
          </p:pic>
        </p:grp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C6CD836-4877-D0D9-A924-09F863AC2D80}"/>
                </a:ext>
              </a:extLst>
            </p:cNvPr>
            <p:cNvGrpSpPr/>
            <p:nvPr/>
          </p:nvGrpSpPr>
          <p:grpSpPr>
            <a:xfrm>
              <a:off x="10284543" y="3760312"/>
              <a:ext cx="1217249" cy="2052827"/>
              <a:chOff x="10284543" y="3760312"/>
              <a:chExt cx="1217249" cy="2052827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0C3738E4-6FE9-5A49-BE15-CF37FB5B8252}"/>
                  </a:ext>
                </a:extLst>
              </p:cNvPr>
              <p:cNvGrpSpPr/>
              <p:nvPr/>
            </p:nvGrpSpPr>
            <p:grpSpPr>
              <a:xfrm>
                <a:off x="10284543" y="3760312"/>
                <a:ext cx="1217249" cy="2052827"/>
                <a:chOff x="3490452" y="3429000"/>
                <a:chExt cx="1217249" cy="2052827"/>
              </a:xfrm>
            </p:grpSpPr>
            <p:sp>
              <p:nvSpPr>
                <p:cNvPr id="41" name="Rectangle: Folded Corner 40">
                  <a:extLst>
                    <a:ext uri="{FF2B5EF4-FFF2-40B4-BE49-F238E27FC236}">
                      <a16:creationId xmlns:a16="http://schemas.microsoft.com/office/drawing/2014/main" id="{D2590EA3-F3CC-DE37-22C7-04109E6A250A}"/>
                    </a:ext>
                  </a:extLst>
                </p:cNvPr>
                <p:cNvSpPr/>
                <p:nvPr/>
              </p:nvSpPr>
              <p:spPr>
                <a:xfrm>
                  <a:off x="3685673" y="3547298"/>
                  <a:ext cx="275303" cy="275303"/>
                </a:xfrm>
                <a:prstGeom prst="foldedCorner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2" name="Rectangle: Folded Corner 41">
                  <a:extLst>
                    <a:ext uri="{FF2B5EF4-FFF2-40B4-BE49-F238E27FC236}">
                      <a16:creationId xmlns:a16="http://schemas.microsoft.com/office/drawing/2014/main" id="{7DF8FB1D-3AEB-D430-3F81-0CCF9AC96F1C}"/>
                    </a:ext>
                  </a:extLst>
                </p:cNvPr>
                <p:cNvSpPr/>
                <p:nvPr/>
              </p:nvSpPr>
              <p:spPr>
                <a:xfrm>
                  <a:off x="3685673" y="3921772"/>
                  <a:ext cx="275303" cy="275303"/>
                </a:xfrm>
                <a:prstGeom prst="foldedCorner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3" name="Rectangle: Folded Corner 42">
                  <a:extLst>
                    <a:ext uri="{FF2B5EF4-FFF2-40B4-BE49-F238E27FC236}">
                      <a16:creationId xmlns:a16="http://schemas.microsoft.com/office/drawing/2014/main" id="{054EC79C-E8EB-99D0-74F6-F1072DEDE74C}"/>
                    </a:ext>
                  </a:extLst>
                </p:cNvPr>
                <p:cNvSpPr/>
                <p:nvPr/>
              </p:nvSpPr>
              <p:spPr>
                <a:xfrm>
                  <a:off x="3685673" y="4670720"/>
                  <a:ext cx="275303" cy="275303"/>
                </a:xfrm>
                <a:prstGeom prst="foldedCorner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4" name="Rectangle: Folded Corner 43">
                  <a:extLst>
                    <a:ext uri="{FF2B5EF4-FFF2-40B4-BE49-F238E27FC236}">
                      <a16:creationId xmlns:a16="http://schemas.microsoft.com/office/drawing/2014/main" id="{9B6C442A-1249-A783-015B-5C2DCDB4D914}"/>
                    </a:ext>
                  </a:extLst>
                </p:cNvPr>
                <p:cNvSpPr/>
                <p:nvPr/>
              </p:nvSpPr>
              <p:spPr>
                <a:xfrm>
                  <a:off x="3685673" y="4296246"/>
                  <a:ext cx="275303" cy="275303"/>
                </a:xfrm>
                <a:prstGeom prst="foldedCorner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5" name="Rectangle: Folded Corner 44">
                  <a:extLst>
                    <a:ext uri="{FF2B5EF4-FFF2-40B4-BE49-F238E27FC236}">
                      <a16:creationId xmlns:a16="http://schemas.microsoft.com/office/drawing/2014/main" id="{55EAF713-AB3E-9797-6381-C0436B1EB4BD}"/>
                    </a:ext>
                  </a:extLst>
                </p:cNvPr>
                <p:cNvSpPr/>
                <p:nvPr/>
              </p:nvSpPr>
              <p:spPr>
                <a:xfrm>
                  <a:off x="3685673" y="5045194"/>
                  <a:ext cx="275303" cy="275303"/>
                </a:xfrm>
                <a:prstGeom prst="foldedCorner">
                  <a:avLst/>
                </a:prstGeom>
                <a:solidFill>
                  <a:srgbClr val="00B050"/>
                </a:solidFill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8BCEF471-DE3E-ADEC-5AAF-1A4FCDC0FA23}"/>
                    </a:ext>
                  </a:extLst>
                </p:cNvPr>
                <p:cNvSpPr/>
                <p:nvPr/>
              </p:nvSpPr>
              <p:spPr>
                <a:xfrm>
                  <a:off x="3490452" y="3429000"/>
                  <a:ext cx="1217249" cy="2052827"/>
                </a:xfrm>
                <a:prstGeom prst="roundRect">
                  <a:avLst/>
                </a:prstGeom>
                <a:noFill/>
                <a:ln w="9525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47" name="Rectangle: Folded Corner 46">
                  <a:extLst>
                    <a:ext uri="{FF2B5EF4-FFF2-40B4-BE49-F238E27FC236}">
                      <a16:creationId xmlns:a16="http://schemas.microsoft.com/office/drawing/2014/main" id="{D7320FA5-F5C1-EE58-D9E3-0CBD41026384}"/>
                    </a:ext>
                  </a:extLst>
                </p:cNvPr>
                <p:cNvSpPr/>
                <p:nvPr/>
              </p:nvSpPr>
              <p:spPr>
                <a:xfrm>
                  <a:off x="3676315" y="4295662"/>
                  <a:ext cx="275303" cy="275303"/>
                </a:xfrm>
                <a:prstGeom prst="foldedCorner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  <p:pic>
            <p:nvPicPr>
              <p:cNvPr id="65" name="Graphic 64" descr="Gears outline">
                <a:extLst>
                  <a:ext uri="{FF2B5EF4-FFF2-40B4-BE49-F238E27FC236}">
                    <a16:creationId xmlns:a16="http://schemas.microsoft.com/office/drawing/2014/main" id="{4F1192D4-B004-7F62-B48B-7D697BF991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11008282" y="4407804"/>
                <a:ext cx="493509" cy="49350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Correctness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Within kernel</a:t>
            </a:r>
          </a:p>
          <a:p>
            <a:pPr lvl="1"/>
            <a:r>
              <a:rPr lang="en-US" dirty="0"/>
              <a:t>Barrier</a:t>
            </a:r>
          </a:p>
          <a:p>
            <a:pPr lvl="1"/>
            <a:r>
              <a:rPr lang="en-US" dirty="0"/>
              <a:t>Collectives</a:t>
            </a:r>
          </a:p>
          <a:p>
            <a:pPr lvl="1"/>
            <a:r>
              <a:rPr lang="en-US" dirty="0"/>
              <a:t>Atomic operations</a:t>
            </a:r>
          </a:p>
          <a:p>
            <a:r>
              <a:rPr lang="en-US" dirty="0"/>
              <a:t>Between commands</a:t>
            </a:r>
          </a:p>
          <a:p>
            <a:pPr lvl="1"/>
            <a:r>
              <a:rPr lang="en-US" dirty="0"/>
              <a:t>Ordered queues</a:t>
            </a:r>
          </a:p>
          <a:p>
            <a:pPr lvl="1"/>
            <a:r>
              <a:rPr lang="en-US" dirty="0"/>
              <a:t>Events/dependencies</a:t>
            </a:r>
          </a:p>
          <a:p>
            <a:r>
              <a:rPr lang="en-US" dirty="0"/>
              <a:t>Between host and device</a:t>
            </a:r>
          </a:p>
          <a:p>
            <a:pPr lvl="1"/>
            <a:r>
              <a:rPr lang="en-US" dirty="0"/>
              <a:t>Waits/fences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6507892" y="3559277"/>
            <a:ext cx="3230884" cy="2241755"/>
            <a:chOff x="8395685" y="3401961"/>
            <a:chExt cx="3230884" cy="224175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8395685" y="3401961"/>
              <a:ext cx="197708" cy="2241755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924932" y="3878160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6705600" y="1301451"/>
            <a:ext cx="4576933" cy="1391000"/>
            <a:chOff x="1773044" y="3024454"/>
            <a:chExt cx="4576933" cy="139100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4159921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Establish happens-before</a:t>
              </a:r>
              <a:br>
                <a:rPr lang="en-US" sz="2800" dirty="0">
                  <a:sym typeface="Symbol" panose="05050102010706020507" pitchFamily="18" charset="2"/>
                </a:rPr>
              </a:br>
              <a:r>
                <a:rPr lang="en-US" sz="2800" dirty="0">
                  <a:sym typeface="Symbol" panose="05050102010706020507" pitchFamily="18" charset="2"/>
                </a:rPr>
                <a:t>at appropriate scope!!!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3826" y="3024454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Discover, don't assume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Query for</a:t>
            </a:r>
          </a:p>
          <a:p>
            <a:pPr lvl="1"/>
            <a:r>
              <a:rPr lang="en-US" dirty="0"/>
              <a:t>Available devices</a:t>
            </a:r>
          </a:p>
          <a:p>
            <a:pPr lvl="1"/>
            <a:r>
              <a:rPr lang="en-US" dirty="0"/>
              <a:t>Work-group limits</a:t>
            </a:r>
          </a:p>
          <a:p>
            <a:pPr lvl="1"/>
            <a:r>
              <a:rPr lang="en-US" dirty="0"/>
              <a:t>Execution subgroup sizes</a:t>
            </a:r>
          </a:p>
          <a:p>
            <a:pPr lvl="1"/>
            <a:r>
              <a:rPr lang="en-US" dirty="0"/>
              <a:t>Local scratchpad size</a:t>
            </a:r>
          </a:p>
          <a:p>
            <a:pPr lvl="1"/>
            <a:r>
              <a:rPr lang="en-US" dirty="0"/>
              <a:t>Global device memory size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FA56-E009-6CB8-6AF8-A1994D6E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827A8-40C3-53E0-F891-513A34964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Enough parallel work?</a:t>
            </a:r>
          </a:p>
          <a:p>
            <a:pPr lvl="1"/>
            <a:r>
              <a:rPr lang="en-US" dirty="0"/>
              <a:t>Many reasonably balanced work-groups</a:t>
            </a:r>
          </a:p>
          <a:p>
            <a:pPr lvl="1"/>
            <a:r>
              <a:rPr lang="en-US" dirty="0"/>
              <a:t>Balance number of work-groups versus resource consumption</a:t>
            </a:r>
          </a:p>
          <a:p>
            <a:r>
              <a:rPr lang="en-US" dirty="0"/>
              <a:t>How much data movement?</a:t>
            </a:r>
          </a:p>
          <a:p>
            <a:pPr lvl="1"/>
            <a:r>
              <a:rPr lang="en-US" dirty="0"/>
              <a:t>Reuse data</a:t>
            </a:r>
          </a:p>
          <a:p>
            <a:pPr lvl="1"/>
            <a:r>
              <a:rPr lang="en-US" dirty="0"/>
              <a:t>Avoid unnecessary host-device transfers</a:t>
            </a:r>
          </a:p>
          <a:p>
            <a:r>
              <a:rPr lang="en-US" dirty="0"/>
              <a:t>Memory access efficient?</a:t>
            </a:r>
          </a:p>
          <a:p>
            <a:pPr lvl="1"/>
            <a:r>
              <a:rPr lang="en-US" dirty="0"/>
              <a:t>Optimize data layout for access patterns by execution subgroups/work-groups</a:t>
            </a:r>
          </a:p>
          <a:p>
            <a:r>
              <a:rPr lang="en-US" dirty="0"/>
              <a:t>Execution serialized?</a:t>
            </a:r>
          </a:p>
          <a:p>
            <a:pPr lvl="1"/>
            <a:r>
              <a:rPr lang="en-US" dirty="0"/>
              <a:t>Minimize divergence in execution subgroups</a:t>
            </a:r>
          </a:p>
          <a:p>
            <a:pPr lvl="1"/>
            <a:r>
              <a:rPr lang="en-US" dirty="0"/>
              <a:t>Minimize contention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EDA03-7DD6-BA46-FB39-F3E23432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BB00FDE-C401-D1B4-6623-07D8F4A8A30E}"/>
              </a:ext>
            </a:extLst>
          </p:cNvPr>
          <p:cNvGrpSpPr/>
          <p:nvPr/>
        </p:nvGrpSpPr>
        <p:grpSpPr>
          <a:xfrm>
            <a:off x="8821927" y="1028190"/>
            <a:ext cx="2978949" cy="1288265"/>
            <a:chOff x="8107295" y="1981708"/>
            <a:chExt cx="2978949" cy="1288265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BDA35FA-4A32-08A1-E03F-F39566F7B50C}"/>
                </a:ext>
              </a:extLst>
            </p:cNvPr>
            <p:cNvSpPr txBox="1"/>
            <p:nvPr/>
          </p:nvSpPr>
          <p:spPr>
            <a:xfrm>
              <a:off x="8107295" y="2315866"/>
              <a:ext cx="2602957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GPU: optimized</a:t>
              </a:r>
              <a:br>
                <a:rPr lang="en-US" sz="2800" dirty="0"/>
              </a:br>
              <a:r>
                <a:rPr lang="en-US" sz="2800" dirty="0"/>
                <a:t>for throughput</a:t>
              </a:r>
              <a:endParaRPr lang="LID4096" sz="2800" dirty="0"/>
            </a:p>
          </p:txBody>
        </p:sp>
        <p:pic>
          <p:nvPicPr>
            <p:cNvPr id="8" name="Graphic 7" descr="Rocket with solid fill">
              <a:extLst>
                <a:ext uri="{FF2B5EF4-FFF2-40B4-BE49-F238E27FC236}">
                  <a16:creationId xmlns:a16="http://schemas.microsoft.com/office/drawing/2014/main" id="{6A28DAE7-FCBB-0310-DF20-EDED00D56F2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520093" y="1981708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3280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FC91A66-7587-72E5-DBA3-4AA7C8D1CC1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3228" b="3022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60CE22C-E437-4C5F-1A46-765C2A53C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NVIDIA's numbers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E2281A-C976-2C4E-CDC2-2F94DC9177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52CE21-650F-3999-8668-A31377F5F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27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8C4266-3A89-4844-D81C-66B29DC8E1C6}"/>
              </a:ext>
            </a:extLst>
          </p:cNvPr>
          <p:cNvSpPr txBox="1"/>
          <p:nvPr/>
        </p:nvSpPr>
        <p:spPr>
          <a:xfrm>
            <a:off x="9894576" y="6657945"/>
            <a:ext cx="2297424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LID4096" sz="700">
                <a:solidFill>
                  <a:srgbClr val="FFFFFF"/>
                </a:solidFill>
                <a:hlinkClick r:id="rId3" tooltip="https://www.zonafree2play.com/2019/03/polemico-estudio-de-nvidia-revela-que.htm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LID4096" sz="700">
                <a:solidFill>
                  <a:srgbClr val="FFFFFF"/>
                </a:solidFill>
              </a:rPr>
              <a:t> by Unknown Author is licensed under </a:t>
            </a:r>
            <a:r>
              <a:rPr lang="LID4096" sz="700">
                <a:solidFill>
                  <a:srgbClr val="FFFFFF"/>
                </a:solidFill>
                <a:hlinkClick r:id="rId4" tooltip="https://creativecommons.org/licenses/by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</a:t>
            </a:r>
            <a:endParaRPr lang="LID4096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82374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F6F0F-66D1-FA46-5FA4-75EBAA96F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A1529-69EC-55A0-F678-3FFE8A1AD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BDB9A-1F2F-6839-9FA4-FD308110C6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A07547-36C1-93E5-61C8-B0AA72BE7F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504679"/>
          </a:xfrm>
        </p:spPr>
        <p:txBody>
          <a:bodyPr>
            <a:normAutofit/>
          </a:bodyPr>
          <a:lstStyle/>
          <a:p>
            <a:r>
              <a:rPr lang="en-US" sz="2000" dirty="0"/>
              <a:t>Warp-group instructions (NVIDIA H100+)</a:t>
            </a:r>
          </a:p>
          <a:p>
            <a:pPr lvl="1"/>
            <a:r>
              <a:rPr lang="en-US" sz="1800" dirty="0"/>
              <a:t>4 warps participate in tensor instruction</a:t>
            </a:r>
          </a:p>
          <a:p>
            <a:pPr lvl="1"/>
            <a:r>
              <a:rPr lang="en-US" sz="1800" dirty="0"/>
              <a:t>Accommodate larger tensor cores &amp; matrix tiles</a:t>
            </a:r>
          </a:p>
          <a:p>
            <a:r>
              <a:rPr lang="en-US" sz="2000" dirty="0"/>
              <a:t>Tensor cores, e.g., for NVIDIA A100</a:t>
            </a:r>
            <a:endParaRPr lang="LID4096" sz="2000" dirty="0"/>
          </a:p>
          <a:p>
            <a:endParaRPr lang="LID4096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7AE3C0-B23C-2977-44C3-29D43CC02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9600193"/>
                  </p:ext>
                </p:extLst>
              </p:nvPr>
            </p:nvGraphicFramePr>
            <p:xfrm>
              <a:off x="6884638" y="3537762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9600193"/>
                  </p:ext>
                </p:extLst>
              </p:nvPr>
            </p:nvGraphicFramePr>
            <p:xfrm>
              <a:off x="6884638" y="3537762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2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361068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F54B5-DBAA-953A-7692-EEBD81E6A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09626-7CEA-967B-089B-A01C3B5D5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FAB9D5-6FEC-ECAC-AE1D-5AA61CFC6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link/GPU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links to each GPU</a:t>
            </a:r>
          </a:p>
          <a:p>
            <a:pPr lvl="2"/>
            <a:r>
              <a:rPr lang="en-US" dirty="0"/>
              <a:t>50 GB/s/link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GB/s between GPUs (100 GB/s each way)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/>
              <a:t>NVIDIA </a:t>
            </a:r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BC236-DD26-3E7E-ED00-68E1D4DCE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74215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363874" cy="4351338"/>
          </a:xfrm>
        </p:spPr>
        <p:txBody>
          <a:bodyPr>
            <a:normAutofit/>
          </a:bodyPr>
          <a:lstStyle/>
          <a:p>
            <a:r>
              <a:rPr lang="en-US" sz="2400" dirty="0"/>
              <a:t>Global GPU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2 TB/s</a:t>
            </a:r>
          </a:p>
          <a:p>
            <a:r>
              <a:rPr lang="en-US" sz="2400" dirty="0" err="1">
                <a:sym typeface="Symbol" panose="05050102010706020507" pitchFamily="18" charset="2"/>
              </a:rPr>
              <a:t>NVLink</a:t>
            </a:r>
            <a:r>
              <a:rPr lang="en-US" sz="2400" dirty="0">
                <a:sym typeface="Symbol" panose="05050102010706020507" pitchFamily="18" charset="2"/>
              </a:rPr>
              <a:t>   100 GB/s each way per GPU pair</a:t>
            </a:r>
          </a:p>
          <a:p>
            <a:r>
              <a:rPr lang="en-US" sz="2400" dirty="0"/>
              <a:t>PCIe </a:t>
            </a:r>
            <a:r>
              <a:rPr lang="en-US" sz="2400" dirty="0">
                <a:sym typeface="Symbol" panose="05050102010706020507" pitchFamily="18" charset="2"/>
              </a:rPr>
              <a:t> 32 GB/s each way</a:t>
            </a:r>
          </a:p>
          <a:p>
            <a:r>
              <a:rPr lang="en-US" sz="2400" dirty="0"/>
              <a:t>Host memory</a:t>
            </a:r>
            <a:br>
              <a:rPr lang="en-US" sz="2400" dirty="0"/>
            </a:br>
            <a:r>
              <a:rPr lang="en-US" sz="2400" dirty="0"/>
              <a:t>    </a:t>
            </a:r>
            <a:r>
              <a:rPr lang="en-US" sz="2400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sz="2400" dirty="0">
                <a:sym typeface="Symbol" panose="05050102010706020507" pitchFamily="18" charset="2"/>
              </a:rPr>
              <a:t>HDR </a:t>
            </a:r>
            <a:r>
              <a:rPr lang="en-US" sz="2400" dirty="0" err="1">
                <a:sym typeface="Symbol" panose="05050102010706020507" pitchFamily="18" charset="2"/>
              </a:rPr>
              <a:t>Infiniband</a:t>
            </a:r>
            <a:r>
              <a:rPr lang="en-US" sz="2400" dirty="0">
                <a:sym typeface="Symbol" panose="05050102010706020507" pitchFamily="18" charset="2"/>
              </a:rPr>
              <a:t>  25 GB/s each way per port</a:t>
            </a:r>
            <a:endParaRPr lang="LID4096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49207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97585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93425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816557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994746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31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KB,</a:t>
                      </a:r>
                    </a:p>
                    <a:p>
                      <a:r>
                        <a:rPr lang="en-US" dirty="0"/>
                        <a:t>part of 192 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Registers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60203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1748609"/>
              </p:ext>
            </p:extLst>
          </p:nvPr>
        </p:nvGraphicFramePr>
        <p:xfrm>
          <a:off x="511628" y="2032454"/>
          <a:ext cx="11168743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199195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764732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94239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169397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10326922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 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126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 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34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172028"/>
              </p:ext>
            </p:extLst>
          </p:nvPr>
        </p:nvGraphicFramePr>
        <p:xfrm>
          <a:off x="200722" y="1836776"/>
          <a:ext cx="119095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047153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3234916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448305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160550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</a:t>
                      </a:r>
                      <a:r>
                        <a:rPr lang="en-US" b="1" dirty="0"/>
                        <a:t>FP6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35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/</a:t>
            </a:r>
            <a:r>
              <a:rPr lang="en-US" dirty="0" err="1"/>
              <a:t>NVSwitch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92309018"/>
              </p:ext>
            </p:extLst>
          </p:nvPr>
        </p:nvGraphicFramePr>
        <p:xfrm>
          <a:off x="1491475" y="1937137"/>
          <a:ext cx="920905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br>
                        <a:rPr lang="en-US" dirty="0"/>
                      </a:br>
                      <a:r>
                        <a:rPr lang="en-US" dirty="0"/>
                        <a:t>each way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br>
                        <a:rPr lang="en-US" dirty="0"/>
                      </a:br>
                      <a:r>
                        <a:rPr lang="en-US" dirty="0"/>
                        <a:t>each way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to 40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</a:p>
          <a:p>
            <a:r>
              <a:rPr lang="en-US" dirty="0"/>
              <a:t>More instruction level parallelism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occupancy can decrease</a:t>
            </a:r>
          </a:p>
          <a:p>
            <a:r>
              <a:rPr lang="en-US" dirty="0"/>
              <a:t>Overlap memory transfer and computation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F0402-951C-D71C-B422-165CE2CF2B87}"/>
              </a:ext>
            </a:extLst>
          </p:cNvPr>
          <p:cNvSpPr txBox="1"/>
          <p:nvPr/>
        </p:nvSpPr>
        <p:spPr>
          <a:xfrm>
            <a:off x="4348976" y="4928839"/>
            <a:ext cx="206979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800" dirty="0"/>
              <a:t>Profile!</a:t>
            </a:r>
            <a:endParaRPr lang="LID4096" sz="4800" dirty="0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5336</TotalTime>
  <Words>1867</Words>
  <Application>Microsoft Office PowerPoint</Application>
  <PresentationFormat>Widescreen</PresentationFormat>
  <Paragraphs>592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Aptos</vt:lpstr>
      <vt:lpstr>Aptos Display</vt:lpstr>
      <vt:lpstr>Arial</vt:lpstr>
      <vt:lpstr>Calibri</vt:lpstr>
      <vt:lpstr>Cambria Math</vt:lpstr>
      <vt:lpstr>Symbol</vt:lpstr>
      <vt:lpstr>Office Theme</vt:lpstr>
      <vt:lpstr>GPU programming</vt:lpstr>
      <vt:lpstr>PowerPoint Presentation</vt:lpstr>
      <vt:lpstr>PowerPoint Presentation</vt:lpstr>
      <vt:lpstr>Typographical conventions</vt:lpstr>
      <vt:lpstr>What do GPUs look like?</vt:lpstr>
      <vt:lpstr>Host-device model</vt:lpstr>
      <vt:lpstr>Offload model</vt:lpstr>
      <vt:lpstr>Host-device model implications</vt:lpstr>
      <vt:lpstr>GPU hardware</vt:lpstr>
      <vt:lpstr>Terminology crosswalk</vt:lpstr>
      <vt:lpstr>Compute unit execution model</vt:lpstr>
      <vt:lpstr>Compute unit</vt:lpstr>
      <vt:lpstr>Matrix accelerators</vt:lpstr>
      <vt:lpstr>Multiple compute units</vt:lpstr>
      <vt:lpstr>Memory hierarchy</vt:lpstr>
      <vt:lpstr>Multiple GPUs/node, multiple nodes</vt:lpstr>
      <vt:lpstr>Bandwidth hierarchy</vt:lpstr>
      <vt:lpstr>Programming models</vt:lpstr>
      <vt:lpstr>How to express GPU work?</vt:lpstr>
      <vt:lpstr>Data placement</vt:lpstr>
      <vt:lpstr>Kernels &amp; index spaces</vt:lpstr>
      <vt:lpstr>Work-items &amp; cooperation</vt:lpstr>
      <vt:lpstr>Work execution</vt:lpstr>
      <vt:lpstr>Correctness</vt:lpstr>
      <vt:lpstr>Discover, don't assume</vt:lpstr>
      <vt:lpstr>Performance considerations</vt:lpstr>
      <vt:lpstr>NVIDIA's numbers</vt:lpstr>
      <vt:lpstr>NVIDIA Streaming Multiprocessor (SM)</vt:lpstr>
      <vt:lpstr>Multiple GPUs/node, multiple nodes</vt:lpstr>
      <vt:lpstr>Bandwidth hierarchy</vt:lpstr>
      <vt:lpstr>Evolution</vt:lpstr>
      <vt:lpstr>NVIDIA memory hierarchy</vt:lpstr>
      <vt:lpstr>NVIDIA architecture &amp; compute capability</vt:lpstr>
      <vt:lpstr>NVIDIA memory architecture</vt:lpstr>
      <vt:lpstr>NVIDIA SMs</vt:lpstr>
      <vt:lpstr>NVLink/NVSwitch &amp; PCIe</vt:lpstr>
      <vt:lpstr>Impact on 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70</cp:revision>
  <dcterms:created xsi:type="dcterms:W3CDTF">2025-01-17T10:10:41Z</dcterms:created>
  <dcterms:modified xsi:type="dcterms:W3CDTF">2026-08-10T12:43:17Z</dcterms:modified>
</cp:coreProperties>
</file>